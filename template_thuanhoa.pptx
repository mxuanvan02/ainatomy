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658368" cy="65836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BÁO CÁO SẢN PHẨM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5800" b="1">
                <a:solidFill>
                  <a:srgbClr val="18375B"/>
                </a:solidFill>
                <a:latin typeface="Arial"/>
              </a:defRPr>
            </a:pPr>
            <a:r>
              <a:t>AInatomy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999232"/>
            <a:ext cx="9784080" cy="4114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400" b="0">
                <a:solidFill>
                  <a:srgbClr val="2D3741"/>
                </a:solidFill>
                <a:latin typeface="Arial"/>
              </a:defRPr>
            </a:pPr>
            <a:r>
              <a:t>Phòng thí nghiệm AI offline cho học sinh phổ thông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" y="4"/>
            <a:ext cx="4" cy="3810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4160520"/>
            <a:ext cx="9966960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500" b="0">
                <a:solidFill>
                  <a:srgbClr val="646E78"/>
                </a:solidFill>
                <a:latin typeface="Arial"/>
              </a:defRPr>
            </a:pPr>
            <a:r>
              <a:t>Giải thưởng Tiên phong Ứng dụng AI trong Giáo dục Việt Nam 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26280"/>
            <a:ext cx="99669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500" b="0">
                <a:solidFill>
                  <a:srgbClr val="646E78"/>
                </a:solidFill>
                <a:latin typeface="Arial"/>
              </a:defRPr>
            </a:pPr>
            <a:r>
              <a:t>Bảng B — Trung học phổ thông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212080"/>
            <a:ext cx="9966960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800" b="1">
                <a:solidFill>
                  <a:srgbClr val="18375B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559552"/>
            <a:ext cx="99669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400" b="0">
                <a:solidFill>
                  <a:srgbClr val="646E78"/>
                </a:solidFill>
                <a:latin typeface="Arial"/>
              </a:defRPr>
            </a:pPr>
            <a:r>
              <a:t>Trường THPT Thuận Hoá — Đại học Sư Phạm, Đại học Huế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MỤC LỤC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Nội dung báo cáo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Một câu chuyện đi từ nhu cầu đến tác động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057400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15568" y="2139696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01  Đặt vấn đề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2715768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15568" y="2798063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02  Mục tiêu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374136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15568" y="3456432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03  Căn cứ và khung năng lực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" y="4032504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04  Giải pháp AInatomy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690872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15568" y="4773168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05  Tích hợp chương trình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2057400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01968" y="2139696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06  Kết quả và minh chứng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2715768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1968" y="2798063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07  Đổi mới sư phạm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3374136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1968" y="3456432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08  Khả năng nhân rộng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4032504"/>
            <a:ext cx="4754880" cy="438912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01968" y="4114800"/>
            <a:ext cx="4297680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1">
                <a:solidFill>
                  <a:srgbClr val="18375B"/>
                </a:solidFill>
                <a:latin typeface="Arial"/>
              </a:defRPr>
            </a:pPr>
            <a:r>
              <a:t>09  Kết luận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01 · ĐẶT VẤN ĐỀ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Vì sao cần AInatomy?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Ba yêu cầu gặp nhau trong một bài toán giáo dục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057400"/>
            <a:ext cx="3520440" cy="3063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057400"/>
            <a:ext cx="63500" cy="30632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220370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CHƯƠNG TRÌNH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2587752"/>
            <a:ext cx="3200400" cy="242316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22 yêu cầu cần đạt về AI ở lớp 10 cần được chuyển thành hoạt động học cụ thể.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2057400"/>
            <a:ext cx="3520440" cy="3063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2057400"/>
            <a:ext cx="63500" cy="306324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220370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ĐIỀU KIỆN THỰC TẾ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587752"/>
            <a:ext cx="3200400" cy="242316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Phòng máy cấu hình thấp, Internet không ổn định; công cụ phải dùng được khi mất mạng.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2057400"/>
            <a:ext cx="3520440" cy="30632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2057400"/>
            <a:ext cx="63500" cy="306324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20370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258B5D"/>
                </a:solidFill>
                <a:latin typeface="Arial"/>
              </a:defRPr>
            </a:pPr>
            <a:r>
              <a:t>KHOẢNG TRỐNG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587752"/>
            <a:ext cx="3200400" cy="242316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Học sinh dễ dừng ở việc hỏi AI và nhận đáp án, chưa quan sát được AI hoạt động ra sao.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32120"/>
            <a:ext cx="10607040" cy="4114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000" b="1">
                <a:solidFill>
                  <a:srgbClr val="18375B"/>
                </a:solidFill>
                <a:latin typeface="Arial"/>
              </a:defRPr>
            </a:pPr>
            <a:r>
              <a:t>Câu hỏi trung tâm: Làm thế nào để học sinh học AI bằng trải nghiệm, thay vì chỉ nghe giải thích?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02 · MỤC TIÊU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Mục tiêu của sản phẩm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Biến khái niệm AI thành hoạt động có thể quan sát, thử nghiệm và phản hồi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57400"/>
            <a:ext cx="2560320" cy="1234440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221992"/>
            <a:ext cx="2560320" cy="384048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800" b="1">
                <a:solidFill>
                  <a:srgbClr val="0066CC"/>
                </a:solidFill>
                <a:latin typeface="Arial"/>
              </a:defRPr>
            </a:pPr>
            <a:r>
              <a:t>22/22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715768"/>
            <a:ext cx="2340863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200" b="1">
                <a:solidFill>
                  <a:srgbClr val="18375B"/>
                </a:solidFill>
                <a:latin typeface="Arial"/>
              </a:defRPr>
            </a:pPr>
            <a:r>
              <a:t>YCCĐ lớp 10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2057400"/>
            <a:ext cx="2560320" cy="1234440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221992"/>
            <a:ext cx="2560320" cy="384048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800" b="1">
                <a:solidFill>
                  <a:srgbClr val="0066CC"/>
                </a:solidFill>
                <a:latin typeface="Arial"/>
              </a:defRPr>
            </a:pPr>
            <a:r>
              <a:t>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168" y="2715768"/>
            <a:ext cx="2340863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200" b="1">
                <a:solidFill>
                  <a:srgbClr val="18375B"/>
                </a:solidFill>
                <a:latin typeface="Arial"/>
              </a:defRPr>
            </a:pPr>
            <a:r>
              <a:t>bài SGK hỗ trợ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057400"/>
            <a:ext cx="2560320" cy="1234440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221992"/>
            <a:ext cx="2560320" cy="384048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800" b="1">
                <a:solidFill>
                  <a:srgbClr val="0066CC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715768"/>
            <a:ext cx="2340863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200" b="1">
                <a:solidFill>
                  <a:srgbClr val="18375B"/>
                </a:solidFill>
                <a:latin typeface="Arial"/>
              </a:defRPr>
            </a:pPr>
            <a:r>
              <a:t>tiết đề xuất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057400"/>
            <a:ext cx="2286000" cy="1234440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221992"/>
            <a:ext cx="2286000" cy="384048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800" b="1">
                <a:solidFill>
                  <a:srgbClr val="0066CC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7" y="2715768"/>
            <a:ext cx="2066543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200" b="1">
                <a:solidFill>
                  <a:srgbClr val="18375B"/>
                </a:solidFill>
                <a:latin typeface="Arial"/>
              </a:defRPr>
            </a:pPr>
            <a:r>
              <a:t>phân hệ học tập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703320"/>
            <a:ext cx="5212080" cy="1645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703320"/>
            <a:ext cx="63500" cy="1645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84962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MỤC TIÊU GIÁO DỤC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4233672"/>
            <a:ext cx="4892040" cy="10058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Học sinh nhận diện được dữ liệu, mô hình, lỗi, thiên kiến và trách nhiệm con người trong hệ AI.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703320"/>
            <a:ext cx="5212080" cy="1645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703320"/>
            <a:ext cx="63500" cy="164592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2512" y="384962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MỤC TIÊU VẬN HÀNH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233672"/>
            <a:ext cx="4892040" cy="10058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Giáo viên có một công cụ tiếng Việt, offline, không tài khoản và có minh chứng tiến bộ.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03 · CĂN CỨ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Căn cứ xây dựng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Bám chương trình, bám điều kiện triển khai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965960"/>
            <a:ext cx="530352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1965960"/>
            <a:ext cx="63500" cy="34747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112264"/>
            <a:ext cx="498348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QĐ 2422/QĐ-BGDĐT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496312"/>
            <a:ext cx="4983480" cy="2834639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700" b="0">
                <a:solidFill>
                  <a:srgbClr val="2D3741"/>
                </a:solidFill>
                <a:latin typeface="Arial"/>
              </a:defRPr>
            </a:pPr>
            <a:r>
              <a:t>Khung nội dung giáo dục AI cho học sinh phổ thông</a:t>
            </a:r>
            <a:br/>
            <a:br/>
            <a:r>
              <a:t>4 mạch nội dung</a:t>
            </a:r>
            <a:br/>
            <a:r>
              <a:t>13 chủ đề</a:t>
            </a:r>
            <a:br/>
            <a:r>
              <a:t>22 yêu cầu cần đạt lớp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965960"/>
            <a:ext cx="5212080" cy="34747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965960"/>
            <a:ext cx="63500" cy="347472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11226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CV 5588/BGDĐT-GDPT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496312"/>
            <a:ext cx="4892040" cy="2834639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700" b="0">
                <a:solidFill>
                  <a:srgbClr val="2D3741"/>
                </a:solidFill>
                <a:latin typeface="Arial"/>
              </a:defRPr>
            </a:pPr>
            <a:r>
              <a:t>Không yêu cầu tài khoản cá nhân</a:t>
            </a:r>
            <a:br/>
            <a:r>
              <a:t>Không phụ thuộc nhà cung cấp</a:t>
            </a:r>
            <a:br/>
            <a:r>
              <a:t>Không buộc mua dịch vụ</a:t>
            </a:r>
            <a:br/>
            <a:r>
              <a:t>Ưu tiên phần mềm mã nguồn mở, dùng được ngoại tuyến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04 · GIẢI PHÁP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AInatomy gồm những gì?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Năm không gian học tập, cùng hướng đến một năng lực: hiểu và kiểm chứng 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965960"/>
            <a:ext cx="352044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1965960"/>
            <a:ext cx="63500" cy="14173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211226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01 · KỊCH BẢN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2496312"/>
            <a:ext cx="3200400" cy="7772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Theo dõi hành trình của dữ liệu.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63500" cy="141732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211226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02 · ĐẤU TRƯỜNG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496312"/>
            <a:ext cx="3200400" cy="7772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Nhận diện và phân loại lỗi AI.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65960"/>
            <a:ext cx="352044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1965960"/>
            <a:ext cx="63500" cy="141732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11226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258B5D"/>
                </a:solidFill>
                <a:latin typeface="Arial"/>
              </a:defRPr>
            </a:pPr>
            <a:r>
              <a:t>03 · NHÀ MÁY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496312"/>
            <a:ext cx="3200400" cy="7772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Soi các khâu của một hệ AI.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14600" y="3703320"/>
            <a:ext cx="352044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14600" y="3703320"/>
            <a:ext cx="63500" cy="1417320"/>
          </a:xfrm>
          <a:prstGeom prst="rect">
            <a:avLst/>
          </a:prstGeom>
          <a:solidFill>
            <a:srgbClr val="874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679192" y="384962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874EAA"/>
                </a:solidFill>
                <a:latin typeface="Arial"/>
              </a:defRPr>
            </a:pPr>
            <a:r>
              <a:t>04 · XƯỞNG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9192" y="4233672"/>
            <a:ext cx="3200400" cy="7772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Thấy dữ liệu làm thay đổi mô hình.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703320"/>
            <a:ext cx="3520440" cy="14173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703320"/>
            <a:ext cx="63500" cy="1417320"/>
          </a:xfrm>
          <a:prstGeom prst="rect">
            <a:avLst/>
          </a:prstGeom>
          <a:solidFill>
            <a:srgbClr val="C864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2512" y="384962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C86432"/>
                </a:solidFill>
                <a:latin typeface="Arial"/>
              </a:defRPr>
            </a:pPr>
            <a:r>
              <a:t>05 · BẢN ĐỒ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233672"/>
            <a:ext cx="3200400" cy="7772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400" b="0">
                <a:solidFill>
                  <a:srgbClr val="2D3741"/>
                </a:solidFill>
                <a:latin typeface="Arial"/>
              </a:defRPr>
            </a:pPr>
            <a:r>
              <a:t>Theo dõi minh chứng học tập.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05 · TÍCH HỢP CHƯƠNG TRÌNH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Từ 28 bài học đến 12 tiết trải nghiệm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AInatomy là lớp hoạt động bổ trợ, không tách rời chương trình Tin học 10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920240"/>
            <a:ext cx="5303520" cy="3566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1920240"/>
            <a:ext cx="63500" cy="35661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2066544"/>
            <a:ext cx="498348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CÁC CHỦ ĐỀ ĐƯỢC KẾT NỐI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2450592"/>
            <a:ext cx="4983480" cy="29260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A · Máy tính và xã hội tri thức</a:t>
            </a:r>
            <a:br/>
            <a:r>
              <a:t>B · Mạng máy tính và Internet</a:t>
            </a:r>
            <a:br/>
            <a:r>
              <a:t>D · Đạo đức, pháp luật số</a:t>
            </a:r>
            <a:br/>
            <a:r>
              <a:t>E · Thiết kế đồ họa</a:t>
            </a:r>
            <a:br/>
            <a:r>
              <a:t>F · Giải quyết vấn đề</a:t>
            </a:r>
            <a:br/>
            <a:r>
              <a:t>G · Hướng nghiệp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1920240"/>
            <a:ext cx="5212080" cy="35661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17920" y="1920240"/>
            <a:ext cx="63500" cy="356616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06654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NHỊP TRIỂN KHAI 12 TIẾT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82512" y="2450592"/>
            <a:ext cx="4892040" cy="29260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01–03  Nhận diện AI và lỗi AI</a:t>
            </a:r>
            <a:br/>
            <a:r>
              <a:t>04–07  Dữ liệu, mô hình, thiên kiến</a:t>
            </a:r>
            <a:br/>
            <a:r>
              <a:t>08     Thành phần và trách nhiệm</a:t>
            </a:r>
            <a:br/>
            <a:r>
              <a:t>09–10  Ôn tập và kiểm tra</a:t>
            </a:r>
            <a:br/>
            <a:r>
              <a:t>11–12  Dự án và tổng kết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06 · KẾT QUẢ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Minh chứng hiện có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Tập trung vào những gì người học và giáo viên có thể nhìn thấy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2011680"/>
            <a:ext cx="2560320" cy="1280160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176272"/>
            <a:ext cx="2560320" cy="384048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800" b="1">
                <a:solidFill>
                  <a:srgbClr val="0066CC"/>
                </a:solidFill>
                <a:latin typeface="Arial"/>
              </a:defRPr>
            </a:pPr>
            <a:r>
              <a:t>97/97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670048"/>
            <a:ext cx="2340863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200" b="1">
                <a:solidFill>
                  <a:srgbClr val="18375B"/>
                </a:solidFill>
                <a:latin typeface="Arial"/>
              </a:defRPr>
            </a:pPr>
            <a:r>
              <a:t>tiêu chí nghiệm thu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520440" y="2011680"/>
            <a:ext cx="2560320" cy="1280160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2176272"/>
            <a:ext cx="2560320" cy="384048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800" b="1">
                <a:solidFill>
                  <a:srgbClr val="0066CC"/>
                </a:solidFill>
                <a:latin typeface="Arial"/>
              </a:defRPr>
            </a:pPr>
            <a:r>
              <a:t>22/22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30168" y="2670048"/>
            <a:ext cx="2340863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200" b="1">
                <a:solidFill>
                  <a:srgbClr val="18375B"/>
                </a:solidFill>
                <a:latin typeface="Arial"/>
              </a:defRPr>
            </a:pPr>
            <a:r>
              <a:t>YCCĐ được phủ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2011680"/>
            <a:ext cx="2560320" cy="1280160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176272"/>
            <a:ext cx="2560320" cy="384048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800" b="1">
                <a:solidFill>
                  <a:srgbClr val="0066CC"/>
                </a:solidFill>
                <a:latin typeface="Arial"/>
              </a:defRPr>
            </a:pPr>
            <a: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19088" y="2670048"/>
            <a:ext cx="2340863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200" b="1">
                <a:solidFill>
                  <a:srgbClr val="18375B"/>
                </a:solidFill>
                <a:latin typeface="Arial"/>
              </a:defRPr>
            </a:pPr>
            <a:r>
              <a:t>dữ liệu cục bộ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98280" y="2011680"/>
            <a:ext cx="2286000" cy="1280160"/>
          </a:xfrm>
          <a:prstGeom prst="roundRect">
            <a:avLst/>
          </a:prstGeom>
          <a:solidFill>
            <a:srgbClr val="F1F7FC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98280" y="2176272"/>
            <a:ext cx="2286000" cy="384048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800" b="1">
                <a:solidFill>
                  <a:srgbClr val="0066CC"/>
                </a:solidFill>
                <a:latin typeface="Arial"/>
              </a:defRPr>
            </a:pPr>
            <a: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7" y="2670048"/>
            <a:ext cx="2066543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200" b="1">
                <a:solidFill>
                  <a:srgbClr val="18375B"/>
                </a:solidFill>
                <a:latin typeface="Arial"/>
              </a:defRPr>
            </a:pPr>
            <a:r>
              <a:t>lỗi nội dung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3794760"/>
            <a:ext cx="5212080" cy="1645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794760"/>
            <a:ext cx="63500" cy="164592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6112" y="394106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MINH CHỨNG HỌC TẬP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" y="4325112"/>
            <a:ext cx="4892040" cy="10058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Học sinh phán đoán, giải thích và nhận phản hồi ngay trong hoạt động.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3794760"/>
            <a:ext cx="5212080" cy="164592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3794760"/>
            <a:ext cx="63500" cy="164592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82512" y="394106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MINH CHỨNG GIÁO VIÊN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82512" y="4325112"/>
            <a:ext cx="4892040" cy="10058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Báo cáo theo mã học sinh, có thể xuất để theo dõi và lưu trữ.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07 · ĐỔI MỚI SƯ PHẠM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Điểm khác biệt của cách tiếp cận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Không dạy AI như một hộp đen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1965960"/>
            <a:ext cx="3520440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1965960"/>
            <a:ext cx="63500" cy="32004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1" y="211226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BẮT LỖI AI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1" y="2496312"/>
            <a:ext cx="3200400" cy="2560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Học sinh không chỉ hỏi “đáp án là gì?” mà phải nhận ra “AI sai ở đâu và vì sao?”.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43400" y="1965960"/>
            <a:ext cx="3520440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43400" y="1965960"/>
            <a:ext cx="63500" cy="320040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07992" y="211226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MÔ PHỎNG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7992" y="2496312"/>
            <a:ext cx="3200400" cy="2560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Dữ liệu, mô hình và kết quả thay đổi trước mắt người học.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65960"/>
            <a:ext cx="3520440" cy="320040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1965960"/>
            <a:ext cx="63500" cy="320040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112264"/>
            <a:ext cx="320040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258B5D"/>
                </a:solidFill>
                <a:latin typeface="Arial"/>
              </a:defRPr>
            </a:pPr>
            <a:r>
              <a:t>MINH CHỨNG, KHÔNG XẾP HẠNG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496312"/>
            <a:ext cx="3200400" cy="2560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Theo dõi mức đáp ứng và điểm cần luyện; không biến giáo dục AI thành cuộc đua điểm số.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08 · KHẢ NĂNG NHÂN RỘNG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Có thể bắt đầu từ một phòng máy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" y="1600200"/>
            <a:ext cx="10972800" cy="25603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200" b="0">
                <a:solidFill>
                  <a:srgbClr val="646E78"/>
                </a:solidFill>
                <a:latin typeface="Arial"/>
              </a:defRPr>
            </a:pPr>
            <a:r>
              <a:t>Không cần thay đổi hạ tầng hiện có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1965960"/>
            <a:ext cx="338328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1965960"/>
            <a:ext cx="63500" cy="310896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2112264"/>
            <a:ext cx="30632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USB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6112" y="2496312"/>
            <a:ext cx="3063240" cy="2468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700" b="0">
                <a:solidFill>
                  <a:srgbClr val="2D3741"/>
                </a:solidFill>
                <a:latin typeface="Arial"/>
              </a:defRPr>
            </a:pPr>
            <a:r>
              <a:t>Chép thư mục và mở trực tiếp trên máy trường.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1965960"/>
            <a:ext cx="338328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9120" y="1965960"/>
            <a:ext cx="63500" cy="310896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2112264"/>
            <a:ext cx="30632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MẠNG NỘI BỘ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53712" y="2496312"/>
            <a:ext cx="3063240" cy="2468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700" b="0">
                <a:solidFill>
                  <a:srgbClr val="2D3741"/>
                </a:solidFill>
                <a:latin typeface="Arial"/>
              </a:defRPr>
            </a:pPr>
            <a:r>
              <a:t>Chia sẻ cho cả lớp qua mạng LAN.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1965960"/>
            <a:ext cx="3383280" cy="310896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46720" y="1965960"/>
            <a:ext cx="63500" cy="310896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11312" y="2112264"/>
            <a:ext cx="30632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258B5D"/>
                </a:solidFill>
                <a:latin typeface="Arial"/>
              </a:defRPr>
            </a:pPr>
            <a:r>
              <a:t>TRỰC TUYẾN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11312" y="2496312"/>
            <a:ext cx="3063240" cy="2468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700" b="0">
                <a:solidFill>
                  <a:srgbClr val="2D3741"/>
                </a:solidFill>
                <a:latin typeface="Arial"/>
              </a:defRPr>
            </a:pPr>
            <a:r>
              <a:t>Mở bản chạy thử khi có Internet.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532120"/>
            <a:ext cx="10515600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600" b="1">
                <a:solidFill>
                  <a:srgbClr val="18375B"/>
                </a:solidFill>
                <a:latin typeface="Arial"/>
              </a:defRPr>
            </a:pPr>
            <a:r>
              <a:t>Điểm chung: không cần tài khoản học sinh, không thu thập dữ liệu nhận dạng cá nhân.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09 · KẾT LUẬN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Đóng góp chính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965960"/>
            <a:ext cx="521208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965960"/>
            <a:ext cx="63500" cy="132588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11226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VỚI HỌC SINH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496312"/>
            <a:ext cx="4892040" cy="6858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Có trải nghiệm trực quan để hiểu dữ liệu, mô hình, lỗi và trách nhiệm khi dùng AI.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965960"/>
            <a:ext cx="521208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965960"/>
            <a:ext cx="63500" cy="132588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11226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VỚI GIÁO VIÊN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496312"/>
            <a:ext cx="4892040" cy="6858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Có công cụ tiếng Việt, offline, tích hợp chương trình và hỗ trợ theo dõi minh chứng.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3611880"/>
            <a:ext cx="521208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3611880"/>
            <a:ext cx="63500" cy="1325880"/>
          </a:xfrm>
          <a:prstGeom prst="rect">
            <a:avLst/>
          </a:prstGeom>
          <a:solidFill>
            <a:srgbClr val="258B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6112" y="375818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258B5D"/>
                </a:solidFill>
                <a:latin typeface="Arial"/>
              </a:defRPr>
            </a:pPr>
            <a:r>
              <a:t>VỚI NHÀ TRƯỜNG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" y="4142232"/>
            <a:ext cx="4892040" cy="6858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Có thể triển khai trên hạ tầng sẵn có, không tạo chi phí tài khoản và dịch vụ.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3611880"/>
            <a:ext cx="5212080" cy="132588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17920" y="3611880"/>
            <a:ext cx="63500" cy="1325880"/>
          </a:xfrm>
          <a:prstGeom prst="rect">
            <a:avLst/>
          </a:prstGeom>
          <a:solidFill>
            <a:srgbClr val="874E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2512" y="375818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874EAA"/>
                </a:solidFill>
                <a:latin typeface="Arial"/>
              </a:defRPr>
            </a:pPr>
            <a:r>
              <a:t>VỚI HỆ SINH THÁI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82512" y="4142232"/>
            <a:ext cx="4892040" cy="6858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Một hướng tiếp cận mở để dạy AI có trách nhiệm trong bối cảnh Việt Nam.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566928" cy="56692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  <a:r>
              <a:t>TÀI LIỆU THAM KHẢO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6473952"/>
            <a:ext cx="365760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00" b="0">
                <a:solidFill>
                  <a:srgbClr val="646E78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92840" y="6473952"/>
            <a:ext cx="411480" cy="18288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900" b="0">
                <a:solidFill>
                  <a:srgbClr val="646E78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143000"/>
            <a:ext cx="11155680" cy="438912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2700" b="1">
                <a:solidFill>
                  <a:srgbClr val="18375B"/>
                </a:solidFill>
                <a:latin typeface="Arial"/>
              </a:defRPr>
            </a:pPr>
            <a:r>
              <a:t>Nguồn chính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1965960"/>
            <a:ext cx="5212080" cy="329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1965960"/>
            <a:ext cx="63500" cy="329184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6112" y="211226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0066CC"/>
                </a:solidFill>
                <a:latin typeface="Arial"/>
              </a:defRPr>
            </a:pPr>
            <a:r>
              <a:t>VĂN BẢN CHÍNH SÁCH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6112" y="2496312"/>
            <a:ext cx="4892040" cy="265176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Bộ GD&amp;ĐT (2026). QĐ 2422/QĐ-BGDĐT.</a:t>
            </a:r>
            <a:br/>
            <a:br/>
            <a:r>
              <a:t>Bộ GD&amp;ĐT (2026). CV 5588/BGDĐT-GDPT.</a:t>
            </a:r>
            <a:br/>
            <a:br/>
            <a:r>
              <a:t>Chương trình Tin học 10 và tài liệu hướng dẫn thực hiện.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965960"/>
            <a:ext cx="5212080" cy="329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CFDC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1965960"/>
            <a:ext cx="63500" cy="3291840"/>
          </a:xfrm>
          <a:prstGeom prst="rect">
            <a:avLst/>
          </a:prstGeom>
          <a:solidFill>
            <a:srgbClr val="D399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82512" y="2112264"/>
            <a:ext cx="489204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500" b="1">
                <a:solidFill>
                  <a:srgbClr val="D3992A"/>
                </a:solidFill>
                <a:latin typeface="Arial"/>
              </a:defRPr>
            </a:pPr>
            <a:r>
              <a:t>KHUNG THAM CHIẾU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2512" y="2496312"/>
            <a:ext cx="4892040" cy="265176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600" b="0">
                <a:solidFill>
                  <a:srgbClr val="2D3741"/>
                </a:solidFill>
                <a:latin typeface="Arial"/>
              </a:defRPr>
            </a:pPr>
            <a:r>
              <a:t>UNESCO (2022). K-12 AI curricula.</a:t>
            </a:r>
            <a:br/>
            <a:br/>
            <a:r>
              <a:t>Các văn bản pháp luật liên quan đến AI và dữ liệu cá nhân.</a:t>
            </a:r>
            <a:br/>
            <a:br/>
            <a:r>
              <a:t>Tài liệu tích hợp AInatomy vào chương trình Tin học 10.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0800"/>
          </a:xfrm>
          <a:prstGeom prst="rect">
            <a:avLst/>
          </a:prstGeom>
          <a:solidFill>
            <a:srgbClr val="0066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dhsp_h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64592"/>
            <a:ext cx="658368" cy="658368"/>
          </a:xfrm>
          <a:prstGeom prst="rect">
            <a:avLst/>
          </a:prstGeom>
        </p:spPr>
      </p:pic>
      <p:pic>
        <p:nvPicPr>
          <p:cNvPr id="4" name="Picture 3" descr="logo_thpt_thuan_ho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64592"/>
            <a:ext cx="658368" cy="6583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783080" y="164592"/>
            <a:ext cx="356616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1100" b="1">
                <a:solidFill>
                  <a:srgbClr val="18375B"/>
                </a:solidFill>
                <a:latin typeface="Arial"/>
              </a:defRPr>
            </a:pPr>
            <a:r>
              <a:t>Trường THPT Thuận Hoá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83080" y="448056"/>
            <a:ext cx="3749039" cy="22860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l">
              <a:defRPr sz="950" b="0">
                <a:solidFill>
                  <a:srgbClr val="646E78"/>
                </a:solidFill>
                <a:latin typeface="Arial"/>
              </a:defRPr>
            </a:pPr>
            <a:r>
              <a:t>Trường Đại học Sư Phạm, Đại học Huế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246888"/>
            <a:ext cx="6217920" cy="310896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r">
              <a:defRPr sz="1500" b="1">
                <a:solidFill>
                  <a:srgbClr val="18375B"/>
                </a:solidFill>
                <a:latin typeface="Arial"/>
              </a:defRPr>
            </a:pPr>
          </a:p>
        </p:txBody>
      </p:sp>
      <p:sp>
        <p:nvSpPr>
          <p:cNvPr id="8" name="Rectangle 7"/>
          <p:cNvSpPr/>
          <p:nvPr/>
        </p:nvSpPr>
        <p:spPr>
          <a:xfrm>
            <a:off x="384048" y="932688"/>
            <a:ext cx="11430000" cy="12700"/>
          </a:xfrm>
          <a:prstGeom prst="rect">
            <a:avLst/>
          </a:prstGeom>
          <a:solidFill>
            <a:srgbClr val="CFDC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377440"/>
            <a:ext cx="10332720" cy="7315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5600" b="1">
                <a:solidFill>
                  <a:srgbClr val="18375B"/>
                </a:solidFill>
                <a:latin typeface="Arial"/>
              </a:defRPr>
            </a:pPr>
            <a:r>
              <a:t>Cảm ơn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0332720" cy="32004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2200" b="1">
                <a:solidFill>
                  <a:srgbClr val="18375B"/>
                </a:solidFill>
                <a:latin typeface="Arial"/>
              </a:defRPr>
            </a:pPr>
            <a:r>
              <a:t>GV: Mai Xuân Văn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114800"/>
            <a:ext cx="1033272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600" b="0">
                <a:solidFill>
                  <a:srgbClr val="646E78"/>
                </a:solidFill>
                <a:latin typeface="Arial"/>
              </a:defRPr>
            </a:pPr>
            <a:r>
              <a:t>Trường THPT Thuận Hoá — Trường Đại học Sư Phạm, Đại học Huế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754880"/>
            <a:ext cx="10332720" cy="274320"/>
          </a:xfrm>
          <a:prstGeom prst="rect">
            <a:avLst/>
          </a:prstGeom>
          <a:noFill/>
        </p:spPr>
        <p:txBody>
          <a:bodyPr wrap="square" lIns="54864" rIns="54864" tIns="36576" bIns="27432">
            <a:spAutoFit/>
          </a:bodyPr>
          <a:lstStyle/>
          <a:p>
            <a:pPr algn="ctr">
              <a:defRPr sz="1500" b="0">
                <a:solidFill>
                  <a:srgbClr val="0066CC"/>
                </a:solidFill>
                <a:latin typeface="Arial"/>
              </a:defRPr>
            </a:pPr>
            <a:r>
              <a:t>https://mxuanvan02.github.io/ainatomy/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