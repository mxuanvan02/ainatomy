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9.jpg"/><Relationship Id="rId6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10.png"/><Relationship Id="rId6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BÁO CÁO SẢN PHẨM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3" y="1197864"/>
            <a:ext cx="11000232" cy="427939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-trang-ch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2516" y="1234440"/>
            <a:ext cx="5982208" cy="4206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40080" y="5468112"/>
            <a:ext cx="10927080" cy="658368"/>
          </a:xfrm>
          <a:prstGeom prst="rect">
            <a:avLst/>
          </a:prstGeom>
          <a:solidFill>
            <a:srgbClr val="18375B"/>
          </a:solidFill>
          <a:ln w="10160">
            <a:solidFill>
              <a:srgbClr val="183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96128"/>
            <a:ext cx="1046988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Học sinh không chỉ hỏi AI — các em học cách quan sát, kiểm tra và bắt lỗi AI.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01 · BỐI CẢNH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Một nhu cầu rất cụ thể trong lớp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536192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Dạy AI không dừng ở việc cho học sinh dùng một công cụ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965960"/>
            <a:ext cx="35204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1965960"/>
            <a:ext cx="63500" cy="19659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2103120"/>
            <a:ext cx="3246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KHÓ NHÌN THẤY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2496312"/>
            <a:ext cx="3246120" cy="1325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Dữ liệu, mô hình, thiên kiến và lỗi AI thường nằm “bên trong” hộp đen.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63500" cy="196596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2103120"/>
            <a:ext cx="3246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KHÓ TRIỂN KHAI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496312"/>
            <a:ext cx="3246120" cy="1325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Phòng máy có thể yếu hoặc mất mạng; không thể đặt tài khoản/API làm điều kiện bắt buộc.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965960"/>
            <a:ext cx="35204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1965960"/>
            <a:ext cx="63500" cy="196596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103120"/>
            <a:ext cx="3246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KHÓ KIỂM CHỨNG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496312"/>
            <a:ext cx="3246120" cy="1325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Học sinh dễ nhận đáp án mà chưa hình thành thói quen hỏi lại và kiểm tra.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" y="4306824"/>
            <a:ext cx="1993392" cy="176479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2_men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2001" y="4343400"/>
            <a:ext cx="782156" cy="16916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3026664" y="4306824"/>
            <a:ext cx="3822191" cy="176479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6-tinh-hu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4816" y="4343400"/>
            <a:ext cx="2405888" cy="16916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7278624" y="4306824"/>
            <a:ext cx="3639312" cy="176479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08_man1_bang_dau_hieu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7201" y="4343400"/>
            <a:ext cx="782156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02 · GIẢI PHÁP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AInatomy biến “hộp đen” thành trải nghiệm có thể quan sát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057400"/>
            <a:ext cx="2057400" cy="9144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176272"/>
            <a:ext cx="4572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212848"/>
            <a:ext cx="12344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Tình huống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267712"/>
            <a:ext cx="5486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400" b="1">
                <a:solidFill>
                  <a:srgbClr val="D3992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1879" y="2057400"/>
            <a:ext cx="2057400" cy="9144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1607" y="2176272"/>
            <a:ext cx="4572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2212848"/>
            <a:ext cx="12344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Dự đoán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2267712"/>
            <a:ext cx="5486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400" b="1">
                <a:solidFill>
                  <a:srgbClr val="D3992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2057400" cy="9144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176272"/>
            <a:ext cx="4572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212848"/>
            <a:ext cx="12344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Thao tác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2267712"/>
            <a:ext cx="5486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400" b="1">
                <a:solidFill>
                  <a:srgbClr val="D3992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19" y="2057400"/>
            <a:ext cx="2057400" cy="9144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7" y="2176272"/>
            <a:ext cx="4572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799" y="2212848"/>
            <a:ext cx="123444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Phản hồi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" y="3666744"/>
            <a:ext cx="2313432" cy="203911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3_man1_doan1_doc_va_do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883" y="3703320"/>
            <a:ext cx="908992" cy="196596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529584" y="3666744"/>
            <a:ext cx="2313432" cy="203911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05_man1_doan1_viet_d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1803" y="3703320"/>
            <a:ext cx="908992" cy="196596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318503" y="3666744"/>
            <a:ext cx="2313432" cy="203911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06_man1_doan1_dap_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0723" y="3703320"/>
            <a:ext cx="908992" cy="196596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9107424" y="3666744"/>
            <a:ext cx="2313432" cy="203911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08_man1_bang_dau_hieu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9643" y="3703320"/>
            <a:ext cx="908992" cy="19659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700" b="1">
                <a:solidFill>
                  <a:srgbClr val="18375B"/>
                </a:solidFill>
                <a:latin typeface="Arial"/>
              </a:defRPr>
            </a:pPr>
            <a:r>
              <a:t>Một hoạt động hoàn chỉnh: học sinh phán đoán trước, thao tác, nhận phản hồi rồi tự rút ra kết luận.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03 · THAO TÁC THẬT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Một phiên học diễn ra như thế nào?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536192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Các trạng thái dưới đây là ảnh chụp thật của sản phẩm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" y="1792224"/>
            <a:ext cx="2404872" cy="368503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_man1_doan1_doc_va_do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655" y="1828800"/>
            <a:ext cx="1670009" cy="3611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557784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1 · Đọc tình huống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38144" y="1792224"/>
            <a:ext cx="2404872" cy="368503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5_man1_doan1_viet_d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5575" y="1828800"/>
            <a:ext cx="1670009" cy="3611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74720" y="557784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2 · Đưa ra phán đoán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1792224"/>
            <a:ext cx="2404872" cy="368503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6_man1_doan1_dap_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4495" y="1828800"/>
            <a:ext cx="1670009" cy="3611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3640" y="557784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3 · Nhận kết quả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15984" y="1792224"/>
            <a:ext cx="2404872" cy="368503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8_man1_bang_dau_hieu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3415" y="1828800"/>
            <a:ext cx="1670009" cy="3611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052559" y="557784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4 · Xem dấu hiệu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89320"/>
            <a:ext cx="1060704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700" b="1">
                <a:solidFill>
                  <a:srgbClr val="18375B"/>
                </a:solidFill>
                <a:latin typeface="Arial"/>
              </a:defRPr>
            </a:pPr>
            <a:r>
              <a:t>Giá trị sư phạm nằm ở khoảng thời gian trước khi xem đáp án.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04 · TÍNH NĂNG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Đấu trường bắt lỗi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536192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Học sinh phán xử đầu ra AI thay vì tin ngay vào câu trả lời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3" y="1792224"/>
            <a:ext cx="5833872" cy="4050791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6-tinh-huo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95" y="1828800"/>
            <a:ext cx="5657088" cy="397763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12280" y="1828800"/>
            <a:ext cx="466344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12280" y="1828800"/>
            <a:ext cx="63500" cy="1143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6872" y="1965960"/>
            <a:ext cx="4389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BƯỚC 1 · NHẬN DIỆN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2359152"/>
            <a:ext cx="4389120" cy="502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Đọc một câu trả lời có thể đúng hoặc có lỗi.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3182112"/>
            <a:ext cx="466344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2280" y="3182112"/>
            <a:ext cx="63500" cy="114300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3319272"/>
            <a:ext cx="4389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BƯỚC 2 · PHÁN ĐOÁN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6872" y="3712463"/>
            <a:ext cx="4389120" cy="502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Chọn có lỗi/không có lỗi và nêu lý 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12280" y="4535424"/>
            <a:ext cx="4663440" cy="12710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12280" y="4535424"/>
            <a:ext cx="63500" cy="1271016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4672584"/>
            <a:ext cx="438912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BƯỚC 3 · KIỂM TRA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5065776"/>
            <a:ext cx="4389120" cy="630936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Xem phản hồi, dấu hiệu và nhóm lỗi tương ứng.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05 · TÍNH NĂNG 2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Nhà máy AI: nhìn thấy các bước phía sau một kết quả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" y="1792224"/>
            <a:ext cx="5468112" cy="391363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-tram0-nhap-lie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852374"/>
            <a:ext cx="5394960" cy="3793331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81344" y="1792224"/>
            <a:ext cx="5468112" cy="391363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4-tram5-ung-du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852374"/>
            <a:ext cx="5394960" cy="3793331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94360" y="5806440"/>
            <a:ext cx="11018520" cy="41148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5276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600" b="1">
                <a:solidFill>
                  <a:srgbClr val="18375B"/>
                </a:solidFill>
                <a:latin typeface="Arial"/>
              </a:defRPr>
            </a:pPr>
            <a:r>
              <a:t>Học sinh đi từ dữ liệu đầu vào đến cách AI được dùng — không chỉ nhìn vào kết quả cuối.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06 · TÍNH NĂNG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Xưởng huấn luyện: dữ liệu thay đổi thì kết quả cũng thay đổi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92224"/>
            <a:ext cx="5559552" cy="350215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-trang-ch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79" y="1828800"/>
            <a:ext cx="4876800" cy="3429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537960" y="1828800"/>
            <a:ext cx="48463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828800"/>
            <a:ext cx="63500" cy="1143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2552" y="1965960"/>
            <a:ext cx="45720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DỮ LIỆU LỆCH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359152"/>
            <a:ext cx="4572000" cy="502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Học sinh quan sát mô hình học từ một bộ dữ liệu không cân bằng.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182112"/>
            <a:ext cx="48463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60" y="3182112"/>
            <a:ext cx="63500" cy="114300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3319272"/>
            <a:ext cx="45720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KẾT QUẢ KHÁC NHAU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3712463"/>
            <a:ext cx="4572000" cy="502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So sánh kết quả trên các nhóm dữ liệu khác nhau.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535424"/>
            <a:ext cx="484632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37960" y="4535424"/>
            <a:ext cx="63500" cy="73152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2552" y="4672584"/>
            <a:ext cx="45720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BÀI HỌC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02552" y="5065776"/>
            <a:ext cx="4572000" cy="914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AI không tự nhiên “khách quan”; dữ liệu và cách kiểm tra rất quan trọng.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715000"/>
            <a:ext cx="1069848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000" b="0">
                <a:solidFill>
                  <a:srgbClr val="646E78"/>
                </a:solidFill>
                <a:latin typeface="Arial"/>
              </a:defRPr>
            </a:pPr>
            <a:r>
              <a:t>Các tỉ lệ trong slide là kết quả của mô phỏng trong sản phẩm, không phải số liệu tác động lớp học.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07 · TÍCH HỢP CHƯƠNG TRÌNH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Từ hoạt động trong app đến bài học Tin học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874519"/>
            <a:ext cx="251460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39112"/>
            <a:ext cx="251460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1460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bài SGK được đối chiếu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1874519"/>
            <a:ext cx="251460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39112"/>
            <a:ext cx="251460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22/22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1460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YCCĐ lớp 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874519"/>
            <a:ext cx="251460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2039112"/>
            <a:ext cx="251460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514600"/>
            <a:ext cx="23317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tiết đề xuất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874519"/>
            <a:ext cx="242316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2039112"/>
            <a:ext cx="242316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514600"/>
            <a:ext cx="2240279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phân hệ học tập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" y="3621024"/>
            <a:ext cx="3364992" cy="213055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3-tram0-nhap-lie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3657600"/>
            <a:ext cx="2926080" cy="20574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398264" y="3621024"/>
            <a:ext cx="3364992" cy="213055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6-tinh-hu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657600"/>
            <a:ext cx="2926080" cy="20574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055864" y="3621024"/>
            <a:ext cx="3364992" cy="213055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17_man4_da_chon_va_viet_la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724" y="3657600"/>
            <a:ext cx="95127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08 · MINH CHỨNG CHO GIÁO VIÊN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Sản phẩm không chỉ cho học sinh thao tác — còn để lại minh chứng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" y="1792224"/>
            <a:ext cx="4096512" cy="400507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5_da_gui_te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8487" y="1828800"/>
            <a:ext cx="1817984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74920" y="1828800"/>
            <a:ext cx="27432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1828800"/>
            <a:ext cx="63500" cy="14173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1965960"/>
            <a:ext cx="246888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THEO DÕI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9512" y="2359152"/>
            <a:ext cx="2468880" cy="7772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Hoạt động được ghi theo mã ẩn danh.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28800"/>
            <a:ext cx="33832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828800"/>
            <a:ext cx="63500" cy="141732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1965960"/>
            <a:ext cx="310896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PHẢN HỒI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359152"/>
            <a:ext cx="3108960" cy="7772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Nhiệm vụ có nhãn đúng cố định được phản hồi ngay.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3520440"/>
            <a:ext cx="27432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3520440"/>
            <a:ext cx="63500" cy="141732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9512" y="3657600"/>
            <a:ext cx="246888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XUẤT TỆP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9512" y="4050791"/>
            <a:ext cx="2468880" cy="7772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Giáo viên có thể xuất dữ liệu làm minh chứng.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520440"/>
            <a:ext cx="33832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3520440"/>
            <a:ext cx="63500" cy="1417320"/>
          </a:xfrm>
          <a:prstGeom prst="rect">
            <a:avLst/>
          </a:prstGeom>
          <a:solidFill>
            <a:srgbClr val="874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3657600"/>
            <a:ext cx="310896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874EAA"/>
                </a:solidFill>
                <a:latin typeface="Arial"/>
              </a:defRPr>
            </a:pPr>
            <a:r>
              <a:t>BẢO VỆ DỮ LIỆU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4050791"/>
            <a:ext cx="3108960" cy="77724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Không yêu cầu tài khoản học sinh.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09 · KIỂM TRA SẢN PHẨM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Những gì đã được kiểm 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536192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Đây là kiểm thử sản phẩm, không phải số liệu tác động học tập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256032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176272"/>
            <a:ext cx="256032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97/97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51760"/>
            <a:ext cx="2377439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tiêu chí nghiệm thu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2011680"/>
            <a:ext cx="256032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176272"/>
            <a:ext cx="256032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22/22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51760"/>
            <a:ext cx="2377439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YCCĐ được phủ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011680"/>
            <a:ext cx="256032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176272"/>
            <a:ext cx="256032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51760"/>
            <a:ext cx="2377439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lỗi nội dung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011680"/>
            <a:ext cx="2286000" cy="1143000"/>
          </a:xfrm>
          <a:prstGeom prst="round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176272"/>
            <a:ext cx="2286000" cy="3657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2700" b="1">
                <a:solidFill>
                  <a:srgbClr val="0066CC"/>
                </a:solidFill>
                <a:latin typeface="Arial"/>
              </a:defRPr>
            </a:pPr>
            <a:r>
              <a:t>offline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2651760"/>
            <a:ext cx="21031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100" b="1">
                <a:solidFill>
                  <a:srgbClr val="18375B"/>
                </a:solidFill>
                <a:latin typeface="Arial"/>
              </a:defRPr>
            </a:pPr>
            <a:r>
              <a:t>chạy không cần mạng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" y="3758184"/>
            <a:ext cx="3822191" cy="190195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-trang-ch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1279" y="3794760"/>
            <a:ext cx="2600960" cy="18288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764024" y="3758184"/>
            <a:ext cx="2816352" cy="190195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6_man1_doan1_dap_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9412" y="3794760"/>
            <a:ext cx="845574" cy="18288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7781544" y="3758184"/>
            <a:ext cx="3547872" cy="190195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25_da_gui_te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2692" y="3794760"/>
            <a:ext cx="84557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10 · TRIỂN KHAI VÀ GIỚI HẠN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Bằng chứng hiện có và bước cần làm tiếp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874519"/>
            <a:ext cx="521208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874519"/>
            <a:ext cx="63500" cy="342900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011679"/>
            <a:ext cx="493776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ĐÃ CÓ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404872"/>
            <a:ext cx="4937760" cy="2788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Bản chạy thử công khai</a:t>
            </a:r>
            <a:br/>
            <a:r>
              <a:t>Bộ ảnh thao tác sản phẩm</a:t>
            </a:r>
            <a:br/>
            <a:r>
              <a:t>Video demo nháp</a:t>
            </a:r>
            <a:br/>
            <a:r>
              <a:t>Có thể chạy offline, USB hoặc mạng nội bộ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874519"/>
            <a:ext cx="521208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874519"/>
            <a:ext cx="63500" cy="342900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011679"/>
            <a:ext cx="493776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CẦN BỔ 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404872"/>
            <a:ext cx="4937760" cy="27889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Dữ liệu từ lớp học thật</a:t>
            </a:r>
            <a:br/>
            <a:r>
              <a:t>Phản hồi học sinh và giáo viên khác</a:t>
            </a:r>
            <a:br/>
            <a:r>
              <a:t>Đo tác động trước/sau</a:t>
            </a:r>
            <a:br/>
            <a:r>
              <a:t>Biên bản triển khai thực tế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715000"/>
            <a:ext cx="10424160" cy="29260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700" b="1">
                <a:solidFill>
                  <a:srgbClr val="18375B"/>
                </a:solidFill>
                <a:latin typeface="Arial"/>
              </a:defRPr>
            </a:pPr>
            <a:r>
              <a:t>Không dùng ảnh thao tác phần mềm để thay thế cho bằng chứng tác động lớp học.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11 · BỀN VỮNG VÀ NHÂN RỘNG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Có thể bắt đầu từ một phòng máy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48840"/>
            <a:ext cx="333756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148840"/>
            <a:ext cx="63500" cy="2103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86000"/>
            <a:ext cx="306324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CHÉP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679192"/>
            <a:ext cx="3063240" cy="1463039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Chép thư mục vào USB hoặc máy trường.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48840"/>
            <a:ext cx="333756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2148840"/>
            <a:ext cx="63500" cy="210312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286000"/>
            <a:ext cx="306324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MỞ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679192"/>
            <a:ext cx="3063240" cy="1463039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Mở sản phẩm bằng trình duyệt.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148840"/>
            <a:ext cx="3337560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148840"/>
            <a:ext cx="63500" cy="210312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2286000"/>
            <a:ext cx="306324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DẠY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679192"/>
            <a:ext cx="3063240" cy="1463039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Giáo viên tổ chức hoạt động theo bài học.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3" y="4672584"/>
            <a:ext cx="1901952" cy="139903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2_men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9439" y="4709160"/>
            <a:ext cx="613041" cy="132588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489704" y="4672584"/>
            <a:ext cx="1901952" cy="139903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3-tram0-nhap-lie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729162"/>
            <a:ext cx="1828800" cy="1285875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964424" y="4672584"/>
            <a:ext cx="1901952" cy="139903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25_da_gui_te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8879" y="4709160"/>
            <a:ext cx="613041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55448"/>
            <a:ext cx="530352" cy="530352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55448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4208" y="155448"/>
            <a:ext cx="4023360" cy="237744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11480"/>
            <a:ext cx="4114800" cy="20116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1400" b="1">
                <a:solidFill>
                  <a:srgbClr val="18375B"/>
                </a:solidFill>
                <a:latin typeface="Arial"/>
              </a:defRPr>
            </a:pPr>
            <a:r>
              <a:t>12 · KẾT LUẬN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11430000" cy="12700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155680" cy="384048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2600" b="1">
                <a:solidFill>
                  <a:srgbClr val="18375B"/>
                </a:solidFill>
                <a:latin typeface="Arial"/>
              </a:defRPr>
            </a:pPr>
            <a:r>
              <a:t>Một sản phẩm có thể mở ra một cách học AI khác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92224"/>
            <a:ext cx="5833872" cy="3639312"/>
          </a:xfrm>
          <a:prstGeom prst="rect">
            <a:avLst/>
          </a:prstGeom>
          <a:solidFill>
            <a:srgbClr val="F2F7FC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-trang-ch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03" y="1828800"/>
            <a:ext cx="5071872" cy="35661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812280" y="1828800"/>
            <a:ext cx="46177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12280" y="1828800"/>
            <a:ext cx="63500" cy="12344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6872" y="1965960"/>
            <a:ext cx="43434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0066CC"/>
                </a:solidFill>
                <a:latin typeface="Arial"/>
              </a:defRPr>
            </a:pPr>
            <a:r>
              <a:t>GIÁ TRỊ CỐT LÕI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6872" y="2359152"/>
            <a:ext cx="4343400" cy="5943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Dạy học sinh kiểm chứng AI bằng trải nghiệm trực tiếp.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3337560"/>
            <a:ext cx="461772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12280" y="3337560"/>
            <a:ext cx="63500" cy="123444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6872" y="3474720"/>
            <a:ext cx="43434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D3992A"/>
                </a:solidFill>
                <a:latin typeface="Arial"/>
              </a:defRPr>
            </a:pPr>
            <a:r>
              <a:t>MINH CHỨNG HIỆN CÓ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6872" y="3867911"/>
            <a:ext cx="4343400" cy="59436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Có thao tác thật, ảnh chụp thật và đầu ra có thể kiểm tra.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4846320"/>
            <a:ext cx="461772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12280" y="4846320"/>
            <a:ext cx="63500" cy="91440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4983480"/>
            <a:ext cx="4343400" cy="256032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1">
                <a:solidFill>
                  <a:srgbClr val="258B5D"/>
                </a:solidFill>
                <a:latin typeface="Arial"/>
              </a:defRPr>
            </a:pPr>
            <a:r>
              <a:t>BƯỚC TIẾP THEO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5376672"/>
            <a:ext cx="4343400" cy="27432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Triển khai lớp học và thu dữ liệu tác động thật.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989320"/>
            <a:ext cx="10789920" cy="228600"/>
          </a:xfrm>
          <a:prstGeom prst="rect">
            <a:avLst/>
          </a:prstGeom>
          <a:noFill/>
        </p:spPr>
        <p:txBody>
          <a:bodyPr wrap="square" lIns="54864" rIns="54864" tIns="36576">
            <a:spAutoFit/>
          </a:bodyPr>
          <a:lstStyle/>
          <a:p>
            <a:pPr algn="ctr">
              <a:defRPr sz="1200" b="0">
                <a:solidFill>
                  <a:srgbClr val="0066CC"/>
                </a:solidFill>
                <a:latin typeface="Arial"/>
              </a:defRPr>
            </a:pPr>
            <a:r>
              <a:t>https://mxuanvan02.github.io/ainatomy/  ·  GV: Mai Xuân Văn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