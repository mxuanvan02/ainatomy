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VIDEO 5 PHÚT — SLIDE 1/15 (20 giây)</a:t>
            </a:r>
          </a:p>
          <a:p/>
          <a:p>
            <a:r>
              <a:t>[Lời nói]</a:t>
            </a:r>
          </a:p>
          <a:p>
            <a:r>
              <a:t>"Kính chào Hội đồng. Tôi là Mai Xuân Văn, giáo viên Tin học Trường THPT Thuận Hoá, Đại học Sư Phạm Huế. Hôm nay tôi xin giới thiệu AInatomy — một phòng thí nghiệm AI offline giúp học sinh không chỉ hỏi AI, mà còn học cách quan sát, kiểm tra và bắt lỗi AI."</a:t>
            </a:r>
          </a:p>
          <a:p/>
          <a:p>
            <a:r>
              <a:t>[Animation]</a:t>
            </a:r>
          </a:p>
          <a:p>
            <a:r>
              <a:t>- Không có highlight ở slide này.</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 SLIDE 2/15 (15 giây)</a:t>
            </a:r>
          </a:p>
          <a:p/>
          <a:p>
            <a:r>
              <a:t>[Lời nói]</a:t>
            </a:r>
          </a:p>
          <a:p>
            <a:r>
              <a:t>"Bài trình bày gồm 5 phần: bối cảnh và vấn đề, giải pháp và công cụ AI, quá trình triển khai, kết quả và tác động, cuối cùng là tính bền vững và khả năng nhân rộng."</a:t>
            </a:r>
          </a:p>
          <a:p/>
          <a:p>
            <a:r>
              <a:t>[Animation]</a:t>
            </a:r>
          </a:p>
          <a:p>
            <a:r>
              <a:t>- Không có highlight.</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 SLIDE 3/15 (20 giây)</a:t>
            </a:r>
          </a:p>
          <a:p/>
          <a:p>
            <a:r>
              <a:t>[Lời nói]</a:t>
            </a:r>
          </a:p>
          <a:p>
            <a:r>
              <a:t>"Đây là giao diện chính của AInatomy. Sản phẩm hướng đến học sinh THPT, đặc biệt lớp 10, phủ 28 bài SGK và 22 yêu cầu cần đạt theo QĐ 2422. Điểm quan trọng: AInatomy chạy hoàn toàn offline, không cần tài khoản hay API."</a:t>
            </a:r>
          </a:p>
          <a:p/>
          <a:p>
            <a:r>
              <a:t>[Animation]</a:t>
            </a:r>
          </a:p>
          <a:p>
            <a:r>
              <a:t>- Click 1: Hiện highlight "Menu chính" — "Học sinh chọn hoạt động từ menu này."</a:t>
            </a:r>
          </a:p>
          <a:p>
            <a:r>
              <a:t>- Click 2: Hiện highlight "Khu vực hoạt động" — "Đây là nơi học sinh thao tác và quan sát."</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 SLIDE 4/15 (25 giây)</a:t>
            </a:r>
          </a:p>
          <a:p/>
          <a:p>
            <a:r>
              <a:t>[Lời nói]</a:t>
            </a:r>
          </a:p>
          <a:p>
            <a:r>
              <a:t>"Khi dạy AI, chúng tôi gặp ba khó khăn. Thứ nhất, AI là hộp đen — học sinh không thấy dữ liệu, mô hình hay lỗi. Thứ hai, phòng máy trường có thể yếu hoặc mất mạng, không thể yêu cầu tài khoản hay API. Thứ ba, học sinh dễ tin ngay đáp án AI mà không kiểm tra. AInatomy giải quyết cả ba vấn đề này."</a:t>
            </a:r>
          </a:p>
          <a:p/>
          <a:p>
            <a:r>
              <a:t>[Animation]</a:t>
            </a:r>
          </a:p>
          <a:p>
            <a:r>
              <a:t>- Click 1: Highlight "Vào hoạt động" — "Học sinh vào hoạt động dễ dàng, không cần đăng nhập."</a:t>
            </a:r>
          </a:p>
          <a:p>
            <a:r>
              <a:t>- Click 2: Highlight "Tình huống" — "Mỗi hoạt động bắt đầu bằng một tình huống cụ thể."</a:t>
            </a:r>
          </a:p>
          <a:p>
            <a:r>
              <a:t>- Click 3: Highlight "Dấu hiệu" — "Học sinh học cách nhận diện dấu hiệu để tự kiểm tra."</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 SLIDE 5/15 (25 giây)</a:t>
            </a:r>
          </a:p>
          <a:p/>
          <a:p>
            <a:r>
              <a:t>[Lời nói]</a:t>
            </a:r>
          </a:p>
          <a:p>
            <a:r>
              <a:t>"Giải pháp của chúng tôi là biến mỗi khái niệm AI thành một chuỗi 4 bước: tình huống, dự đoán, thao tác, phản hồi. Học sinh không nhận đáp án ngay — các em phải phán đoán trước, sau đó thao tác, nhận phản hồi và tự đối chiếu. Đây là cách học chủ động, không thụ động."</a:t>
            </a:r>
          </a:p>
          <a:p/>
          <a:p>
            <a:r>
              <a:t>[Animation]</a:t>
            </a:r>
          </a:p>
          <a:p>
            <a:r>
              <a:t>- Click 1: Highlight "Đọc" — "Bước 1: Học sinh đọc tình huống hoặc đầu ra AI."</a:t>
            </a:r>
          </a:p>
          <a:p>
            <a:r>
              <a:t>- Click 2: Highlight "Viết" — "Bước 2: Học sinh viết phán đoán và lý do."</a:t>
            </a:r>
          </a:p>
          <a:p>
            <a:r>
              <a:t>- Click 3: Highlight "Xem" — "Bước 3: Học sinh xem kết quả và phản hồi."</a:t>
            </a:r>
          </a:p>
          <a:p>
            <a:r>
              <a:t>- Click 4: Highlight "Đối chiếu" — "Bước 4: Học sinh đối chiếu với dấu hiệu để tự rút ra bài học."</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 SLIDE 6/15 (20 giây)</a:t>
            </a:r>
          </a:p>
          <a:p/>
          <a:p>
            <a:r>
              <a:t>[Lời nói]</a:t>
            </a:r>
          </a:p>
          <a:p>
            <a:r>
              <a:t>"Đây là một phiên học thật. Học sinh đọc tình huống, đưa ra phán đoán và viết lý do — đây là bước quan trọng nhất, buộc các em phải tư duy trước khi xem đáp án. Sau đó, các em nhận kết quả và xem các dấu hiệu để tự kiểm tra."</a:t>
            </a:r>
          </a:p>
          <a:p/>
          <a:p>
            <a:r>
              <a:t>[Animation]</a:t>
            </a:r>
          </a:p>
          <a:p>
            <a:r>
              <a:t>- Click 1: Highlight "Câu hỏi" — "Tình huống được đặt ra rõ ràng."</a:t>
            </a:r>
          </a:p>
          <a:p>
            <a:r>
              <a:t>- Click 2: Highlight "Lý do" — "Học sinh phải viết lý do trước khi xem đáp án."</a:t>
            </a:r>
          </a:p>
          <a:p>
            <a:r>
              <a:t>- Click 3: Highlight "Kết quả" — "Hệ thống phản hồi ngay lập tức."</a:t>
            </a:r>
          </a:p>
          <a:p>
            <a:r>
              <a:t>- Click 4: Highlight "Dấu hiệu" — "Học sinh học cách nhận diện dấu hiệu để tự kiểm tra."</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 SLIDE 7/15 (25 giây)</a:t>
            </a:r>
          </a:p>
          <a:p/>
          <a:p>
            <a:r>
              <a:t>[Lời nói]</a:t>
            </a:r>
          </a:p>
          <a:p>
            <a:r>
              <a:t>"Một trong những tính năng cốt lõi là Đấu trường bắt lỗi AI. Học sinh đọc một câu trả lời do AI tạo ra — có thể đúng hoặc có lỗi. Các em phải nhận diện, phán đoán có lỗi hay không, nêu lý do, sau đó xem phản hồi và học cách phân loại lỗi. Đây là cách dạy học sinh tư duy phản biện với AI."</a:t>
            </a:r>
          </a:p>
          <a:p/>
          <a:p>
            <a:r>
              <a:t>[Animation]</a:t>
            </a:r>
          </a:p>
          <a:p>
            <a:r>
              <a:t>- Click 1: Highlight "Đầu ra AI" — "Đây là đầu ra AI mà học sinh phải kiểm tra."</a:t>
            </a:r>
          </a:p>
          <a:p>
            <a:r>
              <a:t>- Click 2: Highlight "Bước 1" — "Bước 1: Nhận diện."</a:t>
            </a:r>
          </a:p>
          <a:p>
            <a:r>
              <a:t>- Click 3: Highlight "Bước 2" — "Bước 2: Phán đoán."</a:t>
            </a:r>
          </a:p>
          <a:p>
            <a:r>
              <a:t>- Click 4: Highlight "Bước 3" — "Bước 3: Kiểm tra và phân loại lỗi."</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 SLIDE 8/15 (20 giây)</a:t>
            </a:r>
          </a:p>
          <a:p/>
          <a:p>
            <a:r>
              <a:t>[Lời nói]</a:t>
            </a:r>
          </a:p>
          <a:p>
            <a:r>
              <a:t>"Tính năng thứ hai là Nhà máy AI. Học sinh không chỉ nhìn vào kết quả cuối — các em đi qua từng bước: từ nhập liệu, dán nhãn, huấn luyện, kiểm định, đến ứng dụng. Ở mỗi trạm, các em thấy vai trò và hậu quả khi bước đó bị hỏng."</a:t>
            </a:r>
          </a:p>
          <a:p/>
          <a:p>
            <a:r>
              <a:t>[Animation]</a:t>
            </a:r>
          </a:p>
          <a:p>
            <a:r>
              <a:t>- Click 1: Highlight "Trạm nhập liệu" — "Trạm 0: Học sinh thấy dữ liệu đầu vào."</a:t>
            </a:r>
          </a:p>
          <a:p>
            <a:r>
              <a:t>- Click 2: Highlight "Trạm ứng dụng" — "Trạm 5: Học sinh thấy cách AI được dùng trong thực tế."</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 SLIDE 9/15 (20 giây)</a:t>
            </a:r>
          </a:p>
          <a:p/>
          <a:p>
            <a:r>
              <a:t>[Lời nói]</a:t>
            </a:r>
          </a:p>
          <a:p>
            <a:r>
              <a:t>"Tính năng thứ ba là Xưởng huấn luyện. Học sinh quan sát mô hình học từ dữ liệu lệch — ví dụ 92% ảnh ban ngày, chỉ 8% ảnh ban đêm. Kết quả: mô hình đúng 100% trên ảnh ngày, nhưng chỉ 59% trên ảnh đêm. Bài học: AI không tự nhiên khách quan, dữ liệu và cách kiểm tra rất quan trọng."</a:t>
            </a:r>
          </a:p>
          <a:p/>
          <a:p>
            <a:r>
              <a:t>[Animation]</a:t>
            </a:r>
          </a:p>
          <a:p>
            <a:r>
              <a:t>- Click 1: Highlight "Mô phỏng" — "Đây là mô phỏng trong sản phẩm, không phải số liệu lớp học."</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 SLIDE 10/15 (20 giây)</a:t>
            </a:r>
          </a:p>
          <a:p/>
          <a:p>
            <a:r>
              <a:t>[Lời nói]</a:t>
            </a:r>
          </a:p>
          <a:p>
            <a:r>
              <a:t>"AInatomy tích hợp vào 28 bài SGK Tin học 10, phủ 22/22 yêu cầu cần đạt theo QĐ 2422, với phân phối 12 tiết đề xuất. Mỗi hoạt động trong app đều gắn với một bài học cụ thể: từ dữ liệu, đạo đức, đến kỹ năng viết prompt."</a:t>
            </a:r>
          </a:p>
          <a:p/>
          <a:p>
            <a:r>
              <a:t>[Animation]</a:t>
            </a:r>
          </a:p>
          <a:p>
            <a:r>
              <a:t>- Click 1: Highlight "Dữ liệu" — "Hoạt động về dữ liệu và mô hình."</a:t>
            </a:r>
          </a:p>
          <a:p>
            <a:r>
              <a:t>- Click 2: Highlight "Đạo đức" — "Hoạt động về đạo đức và kiểm chứng."</a:t>
            </a:r>
          </a:p>
          <a:p>
            <a:r>
              <a:t>- Click 3: Highlight "Prompt" — "Hoạt động về kỹ năng viết prompt và phản hồi."</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 SLIDE 11/15 (20 giây)</a:t>
            </a:r>
          </a:p>
          <a:p/>
          <a:p>
            <a:r>
              <a:t>[Lời nói]</a:t>
            </a:r>
          </a:p>
          <a:p>
            <a:r>
              <a:t>"Đối với giáo viên, AInatomy cung cấp minh chứng rõ ràng. Hoạt động được ghi theo mã ẩn danh, không thu thập dữ liệu cá nhân. Giáo viên có thể xuất dữ liệu làm minh chứng, và nhiều nhiệm vụ được phản hồi ngay nhờ nhãn đúng cố định."</a:t>
            </a:r>
          </a:p>
          <a:p/>
          <a:p>
            <a:r>
              <a:t>[Animation]</a:t>
            </a:r>
          </a:p>
          <a:p>
            <a:r>
              <a:t>- Click 1: Highlight "Xuất tệp" — "Giáo viên xuất dữ liệu làm minh chứng."</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 SLIDE 12/15 (20 giây)</a:t>
            </a:r>
          </a:p>
          <a:p/>
          <a:p>
            <a:r>
              <a:t>[Lời nói]</a:t>
            </a:r>
          </a:p>
          <a:p>
            <a:r>
              <a:t>"Về kiểm thử sản phẩm: 97/97 tiêu chí nghiệm thu đạt, 22/22 yêu cầu cần đạt được phủ, 0 lỗi nội dung, và sản phẩm chạy offline. Lưu ý: đây là kiểm thử sản phẩm, không phải số liệu tác động lớp học — phần đó cần triển khai thật để thu thập."</a:t>
            </a:r>
          </a:p>
          <a:p/>
          <a:p>
            <a:r>
              <a:t>[Animation]</a:t>
            </a:r>
          </a:p>
          <a:p>
            <a:r>
              <a:t>- Click 1: Highlight "Giao diện" — "Giao diện sản phẩm."</a:t>
            </a:r>
          </a:p>
          <a:p>
            <a:r>
              <a:t>- Click 2: Highlight "Phản hồi" — "Phản hồi trong hoạt động."</a:t>
            </a:r>
          </a:p>
          <a:p>
            <a:r>
              <a:t>- Click 3: Highlight "Minh chứng" — "Minh chứng đầu ra."</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 SLIDE 13/15 (20 giây)</a:t>
            </a:r>
          </a:p>
          <a:p/>
          <a:p>
            <a:r>
              <a:t>[Lời nói]</a:t>
            </a:r>
          </a:p>
          <a:p>
            <a:r>
              <a:t>"Về triển khai: chúng tôi đã có bản chạy thử công khai, bộ ảnh thao tác, video demo, và sản phẩm có thể chạy offline. Tuy nhiên, chúng tôi trung thực rằng chưa có dữ liệu từ lớp học thật, chưa có phản hồi học sinh, và chưa đo tác động trước/sau. Đây là bước tiếp theo cần thực hiện."</a:t>
            </a:r>
          </a:p>
          <a:p/>
          <a:p>
            <a:r>
              <a:t>[Animation]</a:t>
            </a:r>
          </a:p>
          <a:p>
            <a:r>
              <a:t>- Không có highlight ở slide này.</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 SLIDE 14/15 (20 giây)</a:t>
            </a:r>
          </a:p>
          <a:p/>
          <a:p>
            <a:r>
              <a:t>[Lời nói]</a:t>
            </a:r>
          </a:p>
          <a:p>
            <a:r>
              <a:t>"Về bền vững và nhân rộng: AInatomy rất đơn giản — chỉ cần chép thư mục vào USB, mở bằng trình duyệt, và giáo viên tổ chức hoạt động. Không cần tài khoản, không cần mạng, không cần cấu hình phức tạp. Đây là giải pháp zero-cost cho mọi trường."</a:t>
            </a:r>
          </a:p>
          <a:p/>
          <a:p>
            <a:r>
              <a:t>[Animation]</a:t>
            </a:r>
          </a:p>
          <a:p>
            <a:r>
              <a:t>- Click 1: Highlight "Menu" — "Bước 1: Chép và mở."</a:t>
            </a:r>
          </a:p>
          <a:p>
            <a:r>
              <a:t>- Click 2: Highlight "Trạm" — "Bước 2: Chọn hoạt động."</a:t>
            </a:r>
          </a:p>
          <a:p>
            <a:r>
              <a:t>- Click 3: Highlight "Xuất" — "Bước 3: Xuất minh chứng."</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 SLIDE 15/15 (25 giây)</a:t>
            </a:r>
          </a:p>
          <a:p/>
          <a:p>
            <a:r>
              <a:t>[Lời nói]</a:t>
            </a:r>
          </a:p>
          <a:p>
            <a:r>
              <a:t>"Kết luận: AInatomy mang lại một cách học AI khác — dạy học sinh kiểm chứng AI bằng trải nghiệm trực tiếp. Chúng tôi đã có thao tác thật, ảnh chụp thật, và đầu ra có thể kiểm tra. Bước tiếp theo là triển khai lớp học và thu dữ liệu tác động thật. Cảm ơn Hội đồng đã lắng nghe. Sản phẩm đang chạy tại địa chỉ trên màn hình."</a:t>
            </a:r>
          </a:p>
          <a:p/>
          <a:p>
            <a:r>
              <a:t>[Animation]</a:t>
            </a:r>
          </a:p>
          <a:p>
            <a:r>
              <a:t>- Click 1: Highlight "Trang chủ" — "Sản phẩm đang chạy và có thể trải nghiệm."</a:t>
            </a:r>
          </a:p>
          <a:p/>
          <a:p>
            <a:r>
              <a:t>[Kết thúc video — tổng thời lượng: 5 phút]</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jpg"/><Relationship Id="rId5" Type="http://schemas.openxmlformats.org/officeDocument/2006/relationships/image" Target="../media/image5.png"/><Relationship Id="rId6" Type="http://schemas.openxmlformats.org/officeDocument/2006/relationships/image" Target="../media/image6.jp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7.jpg"/><Relationship Id="rId5" Type="http://schemas.openxmlformats.org/officeDocument/2006/relationships/image" Target="../media/image8.jpg"/><Relationship Id="rId6" Type="http://schemas.openxmlformats.org/officeDocument/2006/relationships/image" Target="../media/image9.jpg"/><Relationship Id="rId7" Type="http://schemas.openxmlformats.org/officeDocument/2006/relationships/image" Target="../media/image6.jp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7.jpg"/><Relationship Id="rId5" Type="http://schemas.openxmlformats.org/officeDocument/2006/relationships/image" Target="../media/image8.jpg"/><Relationship Id="rId6" Type="http://schemas.openxmlformats.org/officeDocument/2006/relationships/image" Target="../media/image9.jpg"/><Relationship Id="rId7" Type="http://schemas.openxmlformats.org/officeDocument/2006/relationships/image" Target="../media/image6.jpg"/><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12.jp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3.jp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9.jpg"/><Relationship Id="rId6" Type="http://schemas.openxmlformats.org/officeDocument/2006/relationships/image" Target="../media/image13.jpg"/><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jpg"/><Relationship Id="rId5" Type="http://schemas.openxmlformats.org/officeDocument/2006/relationships/image" Target="../media/image10.png"/><Relationship Id="rId6" Type="http://schemas.openxmlformats.org/officeDocument/2006/relationships/image" Target="../media/image13.jpg"/><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8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dhsp_hue.png"/>
          <p:cNvPicPr>
            <a:picLocks noChangeAspect="1"/>
          </p:cNvPicPr>
          <p:nvPr/>
        </p:nvPicPr>
        <p:blipFill>
          <a:blip r:embed="rId2"/>
          <a:stretch>
            <a:fillRect/>
          </a:stretch>
        </p:blipFill>
        <p:spPr>
          <a:xfrm>
            <a:off x="384048" y="155448"/>
            <a:ext cx="530352" cy="530352"/>
          </a:xfrm>
          <a:prstGeom prst="rect">
            <a:avLst/>
          </a:prstGeom>
        </p:spPr>
      </p:pic>
      <p:pic>
        <p:nvPicPr>
          <p:cNvPr id="4" name="Picture 3" descr="logo_thpt_thuan_hoa.png"/>
          <p:cNvPicPr>
            <a:picLocks noChangeAspect="1"/>
          </p:cNvPicPr>
          <p:nvPr/>
        </p:nvPicPr>
        <p:blipFill>
          <a:blip r:embed="rId3"/>
          <a:stretch>
            <a:fillRect/>
          </a:stretch>
        </p:blipFill>
        <p:spPr>
          <a:xfrm>
            <a:off x="1024128" y="155448"/>
            <a:ext cx="530352" cy="530352"/>
          </a:xfrm>
          <a:prstGeom prst="rect">
            <a:avLst/>
          </a:prstGeom>
        </p:spPr>
      </p:pic>
      <p:sp>
        <p:nvSpPr>
          <p:cNvPr id="5" name="TextBox 4"/>
          <p:cNvSpPr txBox="1"/>
          <p:nvPr/>
        </p:nvSpPr>
        <p:spPr>
          <a:xfrm>
            <a:off x="1664208" y="155448"/>
            <a:ext cx="4023360" cy="237744"/>
          </a:xfrm>
          <a:prstGeom prst="rect">
            <a:avLst/>
          </a:prstGeom>
          <a:noFill/>
        </p:spPr>
        <p:txBody>
          <a:bodyPr wrap="square" lIns="54864" rIns="54864" tIns="36576">
            <a:spAutoFit/>
          </a:bodyPr>
          <a:lstStyle/>
          <a:p>
            <a:pPr algn="l">
              <a:defRPr sz="1100" b="1">
                <a:solidFill>
                  <a:srgbClr val="18375B"/>
                </a:solidFill>
                <a:latin typeface="Arial"/>
              </a:defRPr>
            </a:pPr>
            <a:r>
              <a:t>Trường THPT Thuận Hoá</a:t>
            </a:r>
          </a:p>
        </p:txBody>
      </p:sp>
      <p:sp>
        <p:nvSpPr>
          <p:cNvPr id="6" name="TextBox 5"/>
          <p:cNvSpPr txBox="1"/>
          <p:nvPr/>
        </p:nvSpPr>
        <p:spPr>
          <a:xfrm>
            <a:off x="1664208" y="411480"/>
            <a:ext cx="4114800" cy="201168"/>
          </a:xfrm>
          <a:prstGeom prst="rect">
            <a:avLst/>
          </a:prstGeom>
          <a:noFill/>
        </p:spPr>
        <p:txBody>
          <a:bodyPr wrap="square" lIns="54864" rIns="54864" tIns="36576">
            <a:spAutoFit/>
          </a:bodyPr>
          <a:lstStyle/>
          <a:p>
            <a:pPr algn="l">
              <a:defRPr sz="950" b="0">
                <a:solidFill>
                  <a:srgbClr val="646E78"/>
                </a:solidFill>
                <a:latin typeface="Arial"/>
              </a:defRPr>
            </a:pPr>
            <a:r>
              <a:t>Trường Đại học Sư Phạm, Đại học Huế</a:t>
            </a:r>
          </a:p>
        </p:txBody>
      </p:sp>
      <p:sp>
        <p:nvSpPr>
          <p:cNvPr id="7" name="TextBox 6"/>
          <p:cNvSpPr txBox="1"/>
          <p:nvPr/>
        </p:nvSpPr>
        <p:spPr>
          <a:xfrm>
            <a:off x="5486400" y="246888"/>
            <a:ext cx="6217920" cy="274320"/>
          </a:xfrm>
          <a:prstGeom prst="rect">
            <a:avLst/>
          </a:prstGeom>
          <a:noFill/>
        </p:spPr>
        <p:txBody>
          <a:bodyPr wrap="square" lIns="54864" rIns="54864" tIns="36576">
            <a:spAutoFit/>
          </a:bodyPr>
          <a:lstStyle/>
          <a:p>
            <a:pPr algn="r">
              <a:defRPr sz="1400" b="1">
                <a:solidFill>
                  <a:srgbClr val="18375B"/>
                </a:solidFill>
                <a:latin typeface="Arial"/>
              </a:defRPr>
            </a:pPr>
            <a:r>
              <a:t>BÁO CÁO SẢN PHẨM</a:t>
            </a:r>
          </a:p>
        </p:txBody>
      </p:sp>
      <p:sp>
        <p:nvSpPr>
          <p:cNvPr id="8" name="Rectangle 7"/>
          <p:cNvSpPr/>
          <p:nvPr/>
        </p:nvSpPr>
        <p:spPr>
          <a:xfrm>
            <a:off x="384048" y="914400"/>
            <a:ext cx="11430000" cy="12700"/>
          </a:xfrm>
          <a:prstGeom prst="rect">
            <a:avLst/>
          </a:prstGeom>
          <a:solidFill>
            <a:srgbClr val="D2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6473952"/>
            <a:ext cx="3657600" cy="182880"/>
          </a:xfrm>
          <a:prstGeom prst="rect">
            <a:avLst/>
          </a:prstGeom>
          <a:noFill/>
        </p:spPr>
        <p:txBody>
          <a:bodyPr wrap="square" lIns="54864" rIns="54864" tIns="36576">
            <a:spAutoFit/>
          </a:bodyPr>
          <a:lstStyle/>
          <a:p>
            <a:pPr algn="l">
              <a:defRPr sz="900" b="0">
                <a:solidFill>
                  <a:srgbClr val="646E78"/>
                </a:solidFill>
                <a:latin typeface="Arial"/>
              </a:defRPr>
            </a:pPr>
            <a:r>
              <a:t>GV: Mai Xuân Văn</a:t>
            </a:r>
          </a:p>
        </p:txBody>
      </p:sp>
      <p:sp>
        <p:nvSpPr>
          <p:cNvPr id="10" name="TextBox 9"/>
          <p:cNvSpPr txBox="1"/>
          <p:nvPr/>
        </p:nvSpPr>
        <p:spPr>
          <a:xfrm>
            <a:off x="11292840" y="6473952"/>
            <a:ext cx="411480" cy="182880"/>
          </a:xfrm>
          <a:prstGeom prst="rect">
            <a:avLst/>
          </a:prstGeom>
          <a:noFill/>
        </p:spPr>
        <p:txBody>
          <a:bodyPr wrap="square" lIns="54864" rIns="54864" tIns="36576">
            <a:spAutoFit/>
          </a:bodyPr>
          <a:lstStyle/>
          <a:p>
            <a:pPr algn="r">
              <a:defRPr sz="900" b="0">
                <a:solidFill>
                  <a:srgbClr val="646E78"/>
                </a:solidFill>
                <a:latin typeface="Arial"/>
              </a:defRPr>
            </a:pPr>
            <a:r>
              <a:t>1</a:t>
            </a:r>
          </a:p>
        </p:txBody>
      </p:sp>
      <p:sp>
        <p:nvSpPr>
          <p:cNvPr id="11" name="Rectangle 10"/>
          <p:cNvSpPr/>
          <p:nvPr/>
        </p:nvSpPr>
        <p:spPr>
          <a:xfrm>
            <a:off x="603503" y="1197864"/>
            <a:ext cx="11000232" cy="4279392"/>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1-trang-chu.png"/>
          <p:cNvPicPr>
            <a:picLocks noChangeAspect="1"/>
          </p:cNvPicPr>
          <p:nvPr/>
        </p:nvPicPr>
        <p:blipFill>
          <a:blip r:embed="rId4"/>
          <a:stretch>
            <a:fillRect/>
          </a:stretch>
        </p:blipFill>
        <p:spPr>
          <a:xfrm>
            <a:off x="3112516" y="1234440"/>
            <a:ext cx="5982208" cy="4206240"/>
          </a:xfrm>
          <a:prstGeom prst="rect">
            <a:avLst/>
          </a:prstGeom>
        </p:spPr>
      </p:pic>
      <p:sp>
        <p:nvSpPr>
          <p:cNvPr id="13" name="Rectangle 12"/>
          <p:cNvSpPr/>
          <p:nvPr/>
        </p:nvSpPr>
        <p:spPr>
          <a:xfrm>
            <a:off x="640080" y="5468112"/>
            <a:ext cx="10927080" cy="658368"/>
          </a:xfrm>
          <a:prstGeom prst="rect">
            <a:avLst/>
          </a:prstGeom>
          <a:solidFill>
            <a:srgbClr val="18375B"/>
          </a:solidFill>
          <a:ln w="10160">
            <a:solidFill>
              <a:srgbClr val="1837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5596128"/>
            <a:ext cx="10469880" cy="274320"/>
          </a:xfrm>
          <a:prstGeom prst="rect">
            <a:avLst/>
          </a:prstGeom>
          <a:noFill/>
        </p:spPr>
        <p:txBody>
          <a:bodyPr wrap="square" lIns="54864" rIns="54864" tIns="36576">
            <a:spAutoFit/>
          </a:bodyPr>
          <a:lstStyle/>
          <a:p>
            <a:pPr algn="ctr">
              <a:defRPr sz="2000" b="1">
                <a:solidFill>
                  <a:srgbClr val="FFFFFF"/>
                </a:solidFill>
                <a:latin typeface="Arial"/>
              </a:defRPr>
            </a:pPr>
            <a:r>
              <a:t>Học sinh không chỉ hỏi AI — các em học cách quan sát, kiểm tra và bắt lỗi 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8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dhsp_hue.png"/>
          <p:cNvPicPr>
            <a:picLocks noChangeAspect="1"/>
          </p:cNvPicPr>
          <p:nvPr/>
        </p:nvPicPr>
        <p:blipFill>
          <a:blip r:embed="rId2"/>
          <a:stretch>
            <a:fillRect/>
          </a:stretch>
        </p:blipFill>
        <p:spPr>
          <a:xfrm>
            <a:off x="384048" y="155448"/>
            <a:ext cx="530352" cy="530352"/>
          </a:xfrm>
          <a:prstGeom prst="rect">
            <a:avLst/>
          </a:prstGeom>
        </p:spPr>
      </p:pic>
      <p:pic>
        <p:nvPicPr>
          <p:cNvPr id="4" name="Picture 3" descr="logo_thpt_thuan_hoa.png"/>
          <p:cNvPicPr>
            <a:picLocks noChangeAspect="1"/>
          </p:cNvPicPr>
          <p:nvPr/>
        </p:nvPicPr>
        <p:blipFill>
          <a:blip r:embed="rId3"/>
          <a:stretch>
            <a:fillRect/>
          </a:stretch>
        </p:blipFill>
        <p:spPr>
          <a:xfrm>
            <a:off x="1024128" y="155448"/>
            <a:ext cx="530352" cy="530352"/>
          </a:xfrm>
          <a:prstGeom prst="rect">
            <a:avLst/>
          </a:prstGeom>
        </p:spPr>
      </p:pic>
      <p:sp>
        <p:nvSpPr>
          <p:cNvPr id="5" name="TextBox 4"/>
          <p:cNvSpPr txBox="1"/>
          <p:nvPr/>
        </p:nvSpPr>
        <p:spPr>
          <a:xfrm>
            <a:off x="1664208" y="155448"/>
            <a:ext cx="4023360" cy="237744"/>
          </a:xfrm>
          <a:prstGeom prst="rect">
            <a:avLst/>
          </a:prstGeom>
          <a:noFill/>
        </p:spPr>
        <p:txBody>
          <a:bodyPr wrap="square" lIns="54864" rIns="54864" tIns="36576">
            <a:spAutoFit/>
          </a:bodyPr>
          <a:lstStyle/>
          <a:p>
            <a:pPr algn="l">
              <a:defRPr sz="1100" b="1">
                <a:solidFill>
                  <a:srgbClr val="18375B"/>
                </a:solidFill>
                <a:latin typeface="Arial"/>
              </a:defRPr>
            </a:pPr>
            <a:r>
              <a:t>Trường THPT Thuận Hoá</a:t>
            </a:r>
          </a:p>
        </p:txBody>
      </p:sp>
      <p:sp>
        <p:nvSpPr>
          <p:cNvPr id="6" name="TextBox 5"/>
          <p:cNvSpPr txBox="1"/>
          <p:nvPr/>
        </p:nvSpPr>
        <p:spPr>
          <a:xfrm>
            <a:off x="1664208" y="411480"/>
            <a:ext cx="4114800" cy="201168"/>
          </a:xfrm>
          <a:prstGeom prst="rect">
            <a:avLst/>
          </a:prstGeom>
          <a:noFill/>
        </p:spPr>
        <p:txBody>
          <a:bodyPr wrap="square" lIns="54864" rIns="54864" tIns="36576">
            <a:spAutoFit/>
          </a:bodyPr>
          <a:lstStyle/>
          <a:p>
            <a:pPr algn="l">
              <a:defRPr sz="950" b="0">
                <a:solidFill>
                  <a:srgbClr val="646E78"/>
                </a:solidFill>
                <a:latin typeface="Arial"/>
              </a:defRPr>
            </a:pPr>
            <a:r>
              <a:t>Trường Đại học Sư Phạm, Đại học Huế</a:t>
            </a:r>
          </a:p>
        </p:txBody>
      </p:sp>
      <p:sp>
        <p:nvSpPr>
          <p:cNvPr id="7" name="TextBox 6"/>
          <p:cNvSpPr txBox="1"/>
          <p:nvPr/>
        </p:nvSpPr>
        <p:spPr>
          <a:xfrm>
            <a:off x="5486400" y="246888"/>
            <a:ext cx="6217920" cy="274320"/>
          </a:xfrm>
          <a:prstGeom prst="rect">
            <a:avLst/>
          </a:prstGeom>
          <a:noFill/>
        </p:spPr>
        <p:txBody>
          <a:bodyPr wrap="square" lIns="54864" rIns="54864" tIns="36576">
            <a:spAutoFit/>
          </a:bodyPr>
          <a:lstStyle/>
          <a:p>
            <a:pPr algn="r">
              <a:defRPr sz="1400" b="1">
                <a:solidFill>
                  <a:srgbClr val="18375B"/>
                </a:solidFill>
                <a:latin typeface="Arial"/>
              </a:defRPr>
            </a:pPr>
            <a:r>
              <a:t>MỤC LỤC</a:t>
            </a:r>
          </a:p>
        </p:txBody>
      </p:sp>
      <p:sp>
        <p:nvSpPr>
          <p:cNvPr id="8" name="Rectangle 7"/>
          <p:cNvSpPr/>
          <p:nvPr/>
        </p:nvSpPr>
        <p:spPr>
          <a:xfrm>
            <a:off x="384048" y="914400"/>
            <a:ext cx="11430000" cy="12700"/>
          </a:xfrm>
          <a:prstGeom prst="rect">
            <a:avLst/>
          </a:prstGeom>
          <a:solidFill>
            <a:srgbClr val="D2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6473952"/>
            <a:ext cx="3657600" cy="182880"/>
          </a:xfrm>
          <a:prstGeom prst="rect">
            <a:avLst/>
          </a:prstGeom>
          <a:noFill/>
        </p:spPr>
        <p:txBody>
          <a:bodyPr wrap="square" lIns="54864" rIns="54864" tIns="36576">
            <a:spAutoFit/>
          </a:bodyPr>
          <a:lstStyle/>
          <a:p>
            <a:pPr algn="l">
              <a:defRPr sz="900" b="0">
                <a:solidFill>
                  <a:srgbClr val="646E78"/>
                </a:solidFill>
                <a:latin typeface="Arial"/>
              </a:defRPr>
            </a:pPr>
            <a:r>
              <a:t>GV: Mai Xuân Văn</a:t>
            </a:r>
          </a:p>
        </p:txBody>
      </p:sp>
      <p:sp>
        <p:nvSpPr>
          <p:cNvPr id="10" name="TextBox 9"/>
          <p:cNvSpPr txBox="1"/>
          <p:nvPr/>
        </p:nvSpPr>
        <p:spPr>
          <a:xfrm>
            <a:off x="11292840" y="6473952"/>
            <a:ext cx="411480" cy="182880"/>
          </a:xfrm>
          <a:prstGeom prst="rect">
            <a:avLst/>
          </a:prstGeom>
          <a:noFill/>
        </p:spPr>
        <p:txBody>
          <a:bodyPr wrap="square" lIns="54864" rIns="54864" tIns="36576">
            <a:spAutoFit/>
          </a:bodyPr>
          <a:lstStyle/>
          <a:p>
            <a:pPr algn="r">
              <a:defRPr sz="900" b="0">
                <a:solidFill>
                  <a:srgbClr val="646E78"/>
                </a:solidFill>
                <a:latin typeface="Arial"/>
              </a:defRPr>
            </a:pPr>
            <a:r>
              <a:t>2</a:t>
            </a:r>
          </a:p>
        </p:txBody>
      </p:sp>
      <p:sp>
        <p:nvSpPr>
          <p:cNvPr id="11" name="TextBox 10"/>
          <p:cNvSpPr txBox="1"/>
          <p:nvPr/>
        </p:nvSpPr>
        <p:spPr>
          <a:xfrm>
            <a:off x="502920" y="1115568"/>
            <a:ext cx="11155680" cy="384048"/>
          </a:xfrm>
          <a:prstGeom prst="rect">
            <a:avLst/>
          </a:prstGeom>
          <a:noFill/>
        </p:spPr>
        <p:txBody>
          <a:bodyPr wrap="square" lIns="54864" rIns="54864" tIns="36576">
            <a:spAutoFit/>
          </a:bodyPr>
          <a:lstStyle/>
          <a:p>
            <a:pPr algn="l">
              <a:defRPr sz="2600" b="1">
                <a:solidFill>
                  <a:srgbClr val="18375B"/>
                </a:solidFill>
                <a:latin typeface="Arial"/>
              </a:defRPr>
            </a:pPr>
            <a:r>
              <a:t>Nội dung báo cáo</a:t>
            </a:r>
          </a:p>
        </p:txBody>
      </p:sp>
      <p:sp>
        <p:nvSpPr>
          <p:cNvPr id="12" name="TextBox 11"/>
          <p:cNvSpPr txBox="1"/>
          <p:nvPr/>
        </p:nvSpPr>
        <p:spPr>
          <a:xfrm>
            <a:off x="530352" y="1536192"/>
            <a:ext cx="10972800" cy="256032"/>
          </a:xfrm>
          <a:prstGeom prst="rect">
            <a:avLst/>
          </a:prstGeom>
          <a:noFill/>
        </p:spPr>
        <p:txBody>
          <a:bodyPr wrap="square" lIns="54864" rIns="54864" tIns="36576">
            <a:spAutoFit/>
          </a:bodyPr>
          <a:lstStyle/>
          <a:p>
            <a:pPr algn="l">
              <a:defRPr sz="1200" b="0">
                <a:solidFill>
                  <a:srgbClr val="646E78"/>
                </a:solidFill>
                <a:latin typeface="Arial"/>
              </a:defRPr>
            </a:pPr>
            <a:r>
              <a:t>5 phần chính theo thể lệ cuộc thi</a:t>
            </a:r>
          </a:p>
        </p:txBody>
      </p:sp>
      <p:sp>
        <p:nvSpPr>
          <p:cNvPr id="13" name="Rounded Rectangle 12"/>
          <p:cNvSpPr/>
          <p:nvPr/>
        </p:nvSpPr>
        <p:spPr>
          <a:xfrm>
            <a:off x="822960" y="2011680"/>
            <a:ext cx="10515600" cy="685800"/>
          </a:xfrm>
          <a:prstGeom prst="round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121408"/>
            <a:ext cx="548640" cy="457200"/>
          </a:xfrm>
          <a:prstGeom prst="rect">
            <a:avLst/>
          </a:prstGeom>
          <a:noFill/>
        </p:spPr>
        <p:txBody>
          <a:bodyPr wrap="square" lIns="54864" rIns="54864" tIns="36576">
            <a:spAutoFit/>
          </a:bodyPr>
          <a:lstStyle/>
          <a:p>
            <a:pPr algn="l">
              <a:defRPr sz="2400" b="1">
                <a:solidFill>
                  <a:srgbClr val="0066CC"/>
                </a:solidFill>
                <a:latin typeface="Arial"/>
              </a:defRPr>
            </a:pPr>
            <a:r>
              <a:t>01</a:t>
            </a:r>
          </a:p>
        </p:txBody>
      </p:sp>
      <p:sp>
        <p:nvSpPr>
          <p:cNvPr id="15" name="TextBox 14"/>
          <p:cNvSpPr txBox="1"/>
          <p:nvPr/>
        </p:nvSpPr>
        <p:spPr>
          <a:xfrm>
            <a:off x="1737360" y="2212848"/>
            <a:ext cx="9144000" cy="274320"/>
          </a:xfrm>
          <a:prstGeom prst="rect">
            <a:avLst/>
          </a:prstGeom>
          <a:noFill/>
        </p:spPr>
        <p:txBody>
          <a:bodyPr wrap="square" lIns="54864" rIns="54864" tIns="36576">
            <a:spAutoFit/>
          </a:bodyPr>
          <a:lstStyle/>
          <a:p>
            <a:pPr algn="l">
              <a:defRPr sz="2000" b="1">
                <a:solidFill>
                  <a:srgbClr val="18375B"/>
                </a:solidFill>
                <a:latin typeface="Arial"/>
              </a:defRPr>
            </a:pPr>
            <a:r>
              <a:t>Bối cảnh và vấn đề</a:t>
            </a:r>
          </a:p>
        </p:txBody>
      </p:sp>
      <p:sp>
        <p:nvSpPr>
          <p:cNvPr id="16" name="Rounded Rectangle 15"/>
          <p:cNvSpPr/>
          <p:nvPr/>
        </p:nvSpPr>
        <p:spPr>
          <a:xfrm>
            <a:off x="822960" y="2880360"/>
            <a:ext cx="10515600" cy="685800"/>
          </a:xfrm>
          <a:prstGeom prst="round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990088"/>
            <a:ext cx="548640" cy="457200"/>
          </a:xfrm>
          <a:prstGeom prst="rect">
            <a:avLst/>
          </a:prstGeom>
          <a:noFill/>
        </p:spPr>
        <p:txBody>
          <a:bodyPr wrap="square" lIns="54864" rIns="54864" tIns="36576">
            <a:spAutoFit/>
          </a:bodyPr>
          <a:lstStyle/>
          <a:p>
            <a:pPr algn="l">
              <a:defRPr sz="2400" b="1">
                <a:solidFill>
                  <a:srgbClr val="0066CC"/>
                </a:solidFill>
                <a:latin typeface="Arial"/>
              </a:defRPr>
            </a:pPr>
            <a:r>
              <a:t>02</a:t>
            </a:r>
          </a:p>
        </p:txBody>
      </p:sp>
      <p:sp>
        <p:nvSpPr>
          <p:cNvPr id="18" name="TextBox 17"/>
          <p:cNvSpPr txBox="1"/>
          <p:nvPr/>
        </p:nvSpPr>
        <p:spPr>
          <a:xfrm>
            <a:off x="1737360" y="3081528"/>
            <a:ext cx="9144000" cy="274320"/>
          </a:xfrm>
          <a:prstGeom prst="rect">
            <a:avLst/>
          </a:prstGeom>
          <a:noFill/>
        </p:spPr>
        <p:txBody>
          <a:bodyPr wrap="square" lIns="54864" rIns="54864" tIns="36576">
            <a:spAutoFit/>
          </a:bodyPr>
          <a:lstStyle/>
          <a:p>
            <a:pPr algn="l">
              <a:defRPr sz="2000" b="1">
                <a:solidFill>
                  <a:srgbClr val="18375B"/>
                </a:solidFill>
                <a:latin typeface="Arial"/>
              </a:defRPr>
            </a:pPr>
            <a:r>
              <a:t>Giải pháp và công cụ AI</a:t>
            </a:r>
          </a:p>
        </p:txBody>
      </p:sp>
      <p:sp>
        <p:nvSpPr>
          <p:cNvPr id="19" name="Rounded Rectangle 18"/>
          <p:cNvSpPr/>
          <p:nvPr/>
        </p:nvSpPr>
        <p:spPr>
          <a:xfrm>
            <a:off x="822960" y="3749039"/>
            <a:ext cx="10515600" cy="685800"/>
          </a:xfrm>
          <a:prstGeom prst="round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3858768"/>
            <a:ext cx="548640" cy="457200"/>
          </a:xfrm>
          <a:prstGeom prst="rect">
            <a:avLst/>
          </a:prstGeom>
          <a:noFill/>
        </p:spPr>
        <p:txBody>
          <a:bodyPr wrap="square" lIns="54864" rIns="54864" tIns="36576">
            <a:spAutoFit/>
          </a:bodyPr>
          <a:lstStyle/>
          <a:p>
            <a:pPr algn="l">
              <a:defRPr sz="2400" b="1">
                <a:solidFill>
                  <a:srgbClr val="0066CC"/>
                </a:solidFill>
                <a:latin typeface="Arial"/>
              </a:defRPr>
            </a:pPr>
            <a:r>
              <a:t>03</a:t>
            </a:r>
          </a:p>
        </p:txBody>
      </p:sp>
      <p:sp>
        <p:nvSpPr>
          <p:cNvPr id="21" name="TextBox 20"/>
          <p:cNvSpPr txBox="1"/>
          <p:nvPr/>
        </p:nvSpPr>
        <p:spPr>
          <a:xfrm>
            <a:off x="1737360" y="3950207"/>
            <a:ext cx="9144000" cy="274320"/>
          </a:xfrm>
          <a:prstGeom prst="rect">
            <a:avLst/>
          </a:prstGeom>
          <a:noFill/>
        </p:spPr>
        <p:txBody>
          <a:bodyPr wrap="square" lIns="54864" rIns="54864" tIns="36576">
            <a:spAutoFit/>
          </a:bodyPr>
          <a:lstStyle/>
          <a:p>
            <a:pPr algn="l">
              <a:defRPr sz="2000" b="1">
                <a:solidFill>
                  <a:srgbClr val="18375B"/>
                </a:solidFill>
                <a:latin typeface="Arial"/>
              </a:defRPr>
            </a:pPr>
            <a:r>
              <a:t>Quá trình triển khai</a:t>
            </a:r>
          </a:p>
        </p:txBody>
      </p:sp>
      <p:sp>
        <p:nvSpPr>
          <p:cNvPr id="22" name="Rounded Rectangle 21"/>
          <p:cNvSpPr/>
          <p:nvPr/>
        </p:nvSpPr>
        <p:spPr>
          <a:xfrm>
            <a:off x="822960" y="4617720"/>
            <a:ext cx="10515600" cy="685800"/>
          </a:xfrm>
          <a:prstGeom prst="round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4727448"/>
            <a:ext cx="548640" cy="457200"/>
          </a:xfrm>
          <a:prstGeom prst="rect">
            <a:avLst/>
          </a:prstGeom>
          <a:noFill/>
        </p:spPr>
        <p:txBody>
          <a:bodyPr wrap="square" lIns="54864" rIns="54864" tIns="36576">
            <a:spAutoFit/>
          </a:bodyPr>
          <a:lstStyle/>
          <a:p>
            <a:pPr algn="l">
              <a:defRPr sz="2400" b="1">
                <a:solidFill>
                  <a:srgbClr val="0066CC"/>
                </a:solidFill>
                <a:latin typeface="Arial"/>
              </a:defRPr>
            </a:pPr>
            <a:r>
              <a:t>04</a:t>
            </a:r>
          </a:p>
        </p:txBody>
      </p:sp>
      <p:sp>
        <p:nvSpPr>
          <p:cNvPr id="24" name="TextBox 23"/>
          <p:cNvSpPr txBox="1"/>
          <p:nvPr/>
        </p:nvSpPr>
        <p:spPr>
          <a:xfrm>
            <a:off x="1737360" y="4818888"/>
            <a:ext cx="9144000" cy="274320"/>
          </a:xfrm>
          <a:prstGeom prst="rect">
            <a:avLst/>
          </a:prstGeom>
          <a:noFill/>
        </p:spPr>
        <p:txBody>
          <a:bodyPr wrap="square" lIns="54864" rIns="54864" tIns="36576">
            <a:spAutoFit/>
          </a:bodyPr>
          <a:lstStyle/>
          <a:p>
            <a:pPr algn="l">
              <a:defRPr sz="2000" b="1">
                <a:solidFill>
                  <a:srgbClr val="18375B"/>
                </a:solidFill>
                <a:latin typeface="Arial"/>
              </a:defRPr>
            </a:pPr>
            <a:r>
              <a:t>Kết quả và tác động</a:t>
            </a:r>
          </a:p>
        </p:txBody>
      </p:sp>
      <p:sp>
        <p:nvSpPr>
          <p:cNvPr id="25" name="Rounded Rectangle 24"/>
          <p:cNvSpPr/>
          <p:nvPr/>
        </p:nvSpPr>
        <p:spPr>
          <a:xfrm>
            <a:off x="822960" y="5486400"/>
            <a:ext cx="10515600" cy="685800"/>
          </a:xfrm>
          <a:prstGeom prst="round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5596128"/>
            <a:ext cx="548640" cy="457200"/>
          </a:xfrm>
          <a:prstGeom prst="rect">
            <a:avLst/>
          </a:prstGeom>
          <a:noFill/>
        </p:spPr>
        <p:txBody>
          <a:bodyPr wrap="square" lIns="54864" rIns="54864" tIns="36576">
            <a:spAutoFit/>
          </a:bodyPr>
          <a:lstStyle/>
          <a:p>
            <a:pPr algn="l">
              <a:defRPr sz="2400" b="1">
                <a:solidFill>
                  <a:srgbClr val="0066CC"/>
                </a:solidFill>
                <a:latin typeface="Arial"/>
              </a:defRPr>
            </a:pPr>
            <a:r>
              <a:t>05</a:t>
            </a:r>
          </a:p>
        </p:txBody>
      </p:sp>
      <p:sp>
        <p:nvSpPr>
          <p:cNvPr id="27" name="TextBox 26"/>
          <p:cNvSpPr txBox="1"/>
          <p:nvPr/>
        </p:nvSpPr>
        <p:spPr>
          <a:xfrm>
            <a:off x="1737360" y="5687568"/>
            <a:ext cx="9144000" cy="274320"/>
          </a:xfrm>
          <a:prstGeom prst="rect">
            <a:avLst/>
          </a:prstGeom>
          <a:noFill/>
        </p:spPr>
        <p:txBody>
          <a:bodyPr wrap="square" lIns="54864" rIns="54864" tIns="36576">
            <a:spAutoFit/>
          </a:bodyPr>
          <a:lstStyle/>
          <a:p>
            <a:pPr algn="l">
              <a:defRPr sz="2000" b="1">
                <a:solidFill>
                  <a:srgbClr val="18375B"/>
                </a:solidFill>
                <a:latin typeface="Arial"/>
              </a:defRPr>
            </a:pPr>
            <a:r>
              <a:t>Bền vững và nhân rộng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8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dhsp_hue.png"/>
          <p:cNvPicPr>
            <a:picLocks noChangeAspect="1"/>
          </p:cNvPicPr>
          <p:nvPr/>
        </p:nvPicPr>
        <p:blipFill>
          <a:blip r:embed="rId2"/>
          <a:stretch>
            <a:fillRect/>
          </a:stretch>
        </p:blipFill>
        <p:spPr>
          <a:xfrm>
            <a:off x="384048" y="155448"/>
            <a:ext cx="530352" cy="530352"/>
          </a:xfrm>
          <a:prstGeom prst="rect">
            <a:avLst/>
          </a:prstGeom>
        </p:spPr>
      </p:pic>
      <p:pic>
        <p:nvPicPr>
          <p:cNvPr id="4" name="Picture 3" descr="logo_thpt_thuan_hoa.png"/>
          <p:cNvPicPr>
            <a:picLocks noChangeAspect="1"/>
          </p:cNvPicPr>
          <p:nvPr/>
        </p:nvPicPr>
        <p:blipFill>
          <a:blip r:embed="rId3"/>
          <a:stretch>
            <a:fillRect/>
          </a:stretch>
        </p:blipFill>
        <p:spPr>
          <a:xfrm>
            <a:off x="1024128" y="155448"/>
            <a:ext cx="530352" cy="530352"/>
          </a:xfrm>
          <a:prstGeom prst="rect">
            <a:avLst/>
          </a:prstGeom>
        </p:spPr>
      </p:pic>
      <p:sp>
        <p:nvSpPr>
          <p:cNvPr id="5" name="TextBox 4"/>
          <p:cNvSpPr txBox="1"/>
          <p:nvPr/>
        </p:nvSpPr>
        <p:spPr>
          <a:xfrm>
            <a:off x="1664208" y="155448"/>
            <a:ext cx="4023360" cy="237744"/>
          </a:xfrm>
          <a:prstGeom prst="rect">
            <a:avLst/>
          </a:prstGeom>
          <a:noFill/>
        </p:spPr>
        <p:txBody>
          <a:bodyPr wrap="square" lIns="54864" rIns="54864" tIns="36576">
            <a:spAutoFit/>
          </a:bodyPr>
          <a:lstStyle/>
          <a:p>
            <a:pPr algn="l">
              <a:defRPr sz="1100" b="1">
                <a:solidFill>
                  <a:srgbClr val="18375B"/>
                </a:solidFill>
                <a:latin typeface="Arial"/>
              </a:defRPr>
            </a:pPr>
            <a:r>
              <a:t>Trường THPT Thuận Hoá</a:t>
            </a:r>
          </a:p>
        </p:txBody>
      </p:sp>
      <p:sp>
        <p:nvSpPr>
          <p:cNvPr id="6" name="TextBox 5"/>
          <p:cNvSpPr txBox="1"/>
          <p:nvPr/>
        </p:nvSpPr>
        <p:spPr>
          <a:xfrm>
            <a:off x="1664208" y="411480"/>
            <a:ext cx="4114800" cy="201168"/>
          </a:xfrm>
          <a:prstGeom prst="rect">
            <a:avLst/>
          </a:prstGeom>
          <a:noFill/>
        </p:spPr>
        <p:txBody>
          <a:bodyPr wrap="square" lIns="54864" rIns="54864" tIns="36576">
            <a:spAutoFit/>
          </a:bodyPr>
          <a:lstStyle/>
          <a:p>
            <a:pPr algn="l">
              <a:defRPr sz="950" b="0">
                <a:solidFill>
                  <a:srgbClr val="646E78"/>
                </a:solidFill>
                <a:latin typeface="Arial"/>
              </a:defRPr>
            </a:pPr>
            <a:r>
              <a:t>Trường Đại học Sư Phạm, Đại học Huế</a:t>
            </a:r>
          </a:p>
        </p:txBody>
      </p:sp>
      <p:sp>
        <p:nvSpPr>
          <p:cNvPr id="7" name="TextBox 6"/>
          <p:cNvSpPr txBox="1"/>
          <p:nvPr/>
        </p:nvSpPr>
        <p:spPr>
          <a:xfrm>
            <a:off x="5486400" y="246888"/>
            <a:ext cx="6217920" cy="274320"/>
          </a:xfrm>
          <a:prstGeom prst="rect">
            <a:avLst/>
          </a:prstGeom>
          <a:noFill/>
        </p:spPr>
        <p:txBody>
          <a:bodyPr wrap="square" lIns="54864" rIns="54864" tIns="36576">
            <a:spAutoFit/>
          </a:bodyPr>
          <a:lstStyle/>
          <a:p>
            <a:pPr algn="r">
              <a:defRPr sz="1400" b="1">
                <a:solidFill>
                  <a:srgbClr val="18375B"/>
                </a:solidFill>
                <a:latin typeface="Arial"/>
              </a:defRPr>
            </a:pPr>
            <a:r>
              <a:t>GIỚI THIỆU</a:t>
            </a:r>
          </a:p>
        </p:txBody>
      </p:sp>
      <p:sp>
        <p:nvSpPr>
          <p:cNvPr id="8" name="Rectangle 7"/>
          <p:cNvSpPr/>
          <p:nvPr/>
        </p:nvSpPr>
        <p:spPr>
          <a:xfrm>
            <a:off x="384048" y="914400"/>
            <a:ext cx="11430000" cy="12700"/>
          </a:xfrm>
          <a:prstGeom prst="rect">
            <a:avLst/>
          </a:prstGeom>
          <a:solidFill>
            <a:srgbClr val="D2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6473952"/>
            <a:ext cx="3657600" cy="182880"/>
          </a:xfrm>
          <a:prstGeom prst="rect">
            <a:avLst/>
          </a:prstGeom>
          <a:noFill/>
        </p:spPr>
        <p:txBody>
          <a:bodyPr wrap="square" lIns="54864" rIns="54864" tIns="36576">
            <a:spAutoFit/>
          </a:bodyPr>
          <a:lstStyle/>
          <a:p>
            <a:pPr algn="l">
              <a:defRPr sz="900" b="0">
                <a:solidFill>
                  <a:srgbClr val="646E78"/>
                </a:solidFill>
                <a:latin typeface="Arial"/>
              </a:defRPr>
            </a:pPr>
            <a:r>
              <a:t>GV: Mai Xuân Văn</a:t>
            </a:r>
          </a:p>
        </p:txBody>
      </p:sp>
      <p:sp>
        <p:nvSpPr>
          <p:cNvPr id="10" name="TextBox 9"/>
          <p:cNvSpPr txBox="1"/>
          <p:nvPr/>
        </p:nvSpPr>
        <p:spPr>
          <a:xfrm>
            <a:off x="11292840" y="6473952"/>
            <a:ext cx="411480" cy="182880"/>
          </a:xfrm>
          <a:prstGeom prst="rect">
            <a:avLst/>
          </a:prstGeom>
          <a:noFill/>
        </p:spPr>
        <p:txBody>
          <a:bodyPr wrap="square" lIns="54864" rIns="54864" tIns="36576">
            <a:spAutoFit/>
          </a:bodyPr>
          <a:lstStyle/>
          <a:p>
            <a:pPr algn="r">
              <a:defRPr sz="900" b="0">
                <a:solidFill>
                  <a:srgbClr val="646E78"/>
                </a:solidFill>
                <a:latin typeface="Arial"/>
              </a:defRPr>
            </a:pPr>
            <a:r>
              <a:t>3</a:t>
            </a:r>
          </a:p>
        </p:txBody>
      </p:sp>
      <p:sp>
        <p:nvSpPr>
          <p:cNvPr id="11" name="TextBox 10"/>
          <p:cNvSpPr txBox="1"/>
          <p:nvPr/>
        </p:nvSpPr>
        <p:spPr>
          <a:xfrm>
            <a:off x="502920" y="1115568"/>
            <a:ext cx="11155680" cy="384048"/>
          </a:xfrm>
          <a:prstGeom prst="rect">
            <a:avLst/>
          </a:prstGeom>
          <a:noFill/>
        </p:spPr>
        <p:txBody>
          <a:bodyPr wrap="square" lIns="54864" rIns="54864" tIns="36576">
            <a:spAutoFit/>
          </a:bodyPr>
          <a:lstStyle/>
          <a:p>
            <a:pPr algn="l">
              <a:defRPr sz="2600" b="1">
                <a:solidFill>
                  <a:srgbClr val="18375B"/>
                </a:solidFill>
                <a:latin typeface="Arial"/>
              </a:defRPr>
            </a:pPr>
            <a:r>
              <a:t>AInatomy — Phòng thí nghiệm AI offline</a:t>
            </a:r>
          </a:p>
        </p:txBody>
      </p:sp>
      <p:sp>
        <p:nvSpPr>
          <p:cNvPr id="12" name="TextBox 11"/>
          <p:cNvSpPr txBox="1"/>
          <p:nvPr/>
        </p:nvSpPr>
        <p:spPr>
          <a:xfrm>
            <a:off x="530352" y="1536192"/>
            <a:ext cx="10972800" cy="256032"/>
          </a:xfrm>
          <a:prstGeom prst="rect">
            <a:avLst/>
          </a:prstGeom>
          <a:noFill/>
        </p:spPr>
        <p:txBody>
          <a:bodyPr wrap="square" lIns="54864" rIns="54864" tIns="36576">
            <a:spAutoFit/>
          </a:bodyPr>
          <a:lstStyle/>
          <a:p>
            <a:pPr algn="l">
              <a:defRPr sz="1200" b="0">
                <a:solidFill>
                  <a:srgbClr val="646E78"/>
                </a:solidFill>
                <a:latin typeface="Arial"/>
              </a:defRPr>
            </a:pPr>
            <a:r>
              <a:t>Sản phẩm đang chạy và có thể trải nghiệm</a:t>
            </a:r>
          </a:p>
        </p:txBody>
      </p:sp>
      <p:sp>
        <p:nvSpPr>
          <p:cNvPr id="13" name="Rectangle 12"/>
          <p:cNvSpPr/>
          <p:nvPr/>
        </p:nvSpPr>
        <p:spPr>
          <a:xfrm>
            <a:off x="603503" y="1792224"/>
            <a:ext cx="6473952" cy="4050791"/>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1-trang-chu.png"/>
          <p:cNvPicPr>
            <a:picLocks noChangeAspect="1"/>
          </p:cNvPicPr>
          <p:nvPr/>
        </p:nvPicPr>
        <p:blipFill>
          <a:blip r:embed="rId4"/>
          <a:stretch>
            <a:fillRect/>
          </a:stretch>
        </p:blipFill>
        <p:spPr>
          <a:xfrm>
            <a:off x="1011936" y="1828800"/>
            <a:ext cx="5657088" cy="3977639"/>
          </a:xfrm>
          <a:prstGeom prst="rect">
            <a:avLst/>
          </a:prstGeom>
        </p:spPr>
      </p:pic>
      <p:sp>
        <p:nvSpPr>
          <p:cNvPr id="15" name="Rounded Rectangle 14"/>
          <p:cNvSpPr/>
          <p:nvPr/>
        </p:nvSpPr>
        <p:spPr>
          <a:xfrm>
            <a:off x="7406640" y="1828800"/>
            <a:ext cx="3931920" cy="1143000"/>
          </a:xfrm>
          <a:prstGeom prst="roundRect">
            <a:avLst/>
          </a:prstGeom>
          <a:solidFill>
            <a:srgbClr val="FFFFFF"/>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06640" y="1828800"/>
            <a:ext cx="63500" cy="11430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71231" y="1965960"/>
            <a:ext cx="3657600" cy="256032"/>
          </a:xfrm>
          <a:prstGeom prst="rect">
            <a:avLst/>
          </a:prstGeom>
          <a:noFill/>
        </p:spPr>
        <p:txBody>
          <a:bodyPr wrap="square" lIns="54864" rIns="54864" tIns="36576">
            <a:spAutoFit/>
          </a:bodyPr>
          <a:lstStyle/>
          <a:p>
            <a:pPr algn="l">
              <a:defRPr sz="1400" b="1">
                <a:solidFill>
                  <a:srgbClr val="0066CC"/>
                </a:solidFill>
                <a:latin typeface="Arial"/>
              </a:defRPr>
            </a:pPr>
            <a:r>
              <a:t>ĐỐI TƯỢNG</a:t>
            </a:r>
          </a:p>
        </p:txBody>
      </p:sp>
      <p:sp>
        <p:nvSpPr>
          <p:cNvPr id="18" name="TextBox 17"/>
          <p:cNvSpPr txBox="1"/>
          <p:nvPr/>
        </p:nvSpPr>
        <p:spPr>
          <a:xfrm>
            <a:off x="7571231" y="2359152"/>
            <a:ext cx="3657600" cy="502920"/>
          </a:xfrm>
          <a:prstGeom prst="rect">
            <a:avLst/>
          </a:prstGeom>
          <a:noFill/>
        </p:spPr>
        <p:txBody>
          <a:bodyPr wrap="square" lIns="54864" rIns="54864" tIns="36576">
            <a:spAutoFit/>
          </a:bodyPr>
          <a:lstStyle/>
          <a:p>
            <a:pPr algn="l">
              <a:defRPr sz="1400" b="0">
                <a:solidFill>
                  <a:srgbClr val="2D3741"/>
                </a:solidFill>
                <a:latin typeface="Arial"/>
              </a:defRPr>
            </a:pPr>
            <a:r>
              <a:t>Học sinh THPT, đặc biệt lớp 10.</a:t>
            </a:r>
          </a:p>
        </p:txBody>
      </p:sp>
      <p:sp>
        <p:nvSpPr>
          <p:cNvPr id="19" name="Rounded Rectangle 18"/>
          <p:cNvSpPr/>
          <p:nvPr/>
        </p:nvSpPr>
        <p:spPr>
          <a:xfrm>
            <a:off x="7406640" y="3182112"/>
            <a:ext cx="3931920" cy="1143000"/>
          </a:xfrm>
          <a:prstGeom prst="roundRect">
            <a:avLst/>
          </a:prstGeom>
          <a:solidFill>
            <a:srgbClr val="FFFFFF"/>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06640" y="3182112"/>
            <a:ext cx="63500" cy="1143000"/>
          </a:xfrm>
          <a:prstGeom prst="rect">
            <a:avLst/>
          </a:prstGeom>
          <a:solidFill>
            <a:srgbClr val="D399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71231" y="3319272"/>
            <a:ext cx="3657600" cy="256032"/>
          </a:xfrm>
          <a:prstGeom prst="rect">
            <a:avLst/>
          </a:prstGeom>
          <a:noFill/>
        </p:spPr>
        <p:txBody>
          <a:bodyPr wrap="square" lIns="54864" rIns="54864" tIns="36576">
            <a:spAutoFit/>
          </a:bodyPr>
          <a:lstStyle/>
          <a:p>
            <a:pPr algn="l">
              <a:defRPr sz="1400" b="1">
                <a:solidFill>
                  <a:srgbClr val="D3992A"/>
                </a:solidFill>
                <a:latin typeface="Arial"/>
              </a:defRPr>
            </a:pPr>
            <a:r>
              <a:t>PHẠM VI</a:t>
            </a:r>
          </a:p>
        </p:txBody>
      </p:sp>
      <p:sp>
        <p:nvSpPr>
          <p:cNvPr id="22" name="TextBox 21"/>
          <p:cNvSpPr txBox="1"/>
          <p:nvPr/>
        </p:nvSpPr>
        <p:spPr>
          <a:xfrm>
            <a:off x="7571231" y="3712463"/>
            <a:ext cx="3657600" cy="502920"/>
          </a:xfrm>
          <a:prstGeom prst="rect">
            <a:avLst/>
          </a:prstGeom>
          <a:noFill/>
        </p:spPr>
        <p:txBody>
          <a:bodyPr wrap="square" lIns="54864" rIns="54864" tIns="36576">
            <a:spAutoFit/>
          </a:bodyPr>
          <a:lstStyle/>
          <a:p>
            <a:pPr algn="l">
              <a:defRPr sz="1400" b="0">
                <a:solidFill>
                  <a:srgbClr val="2D3741"/>
                </a:solidFill>
                <a:latin typeface="Arial"/>
              </a:defRPr>
            </a:pPr>
            <a:r>
              <a:t>28 bài SGK Tin học 10, 22/22 YCCĐ.</a:t>
            </a:r>
          </a:p>
        </p:txBody>
      </p:sp>
      <p:sp>
        <p:nvSpPr>
          <p:cNvPr id="23" name="Rounded Rectangle 22"/>
          <p:cNvSpPr/>
          <p:nvPr/>
        </p:nvSpPr>
        <p:spPr>
          <a:xfrm>
            <a:off x="7406640" y="4535424"/>
            <a:ext cx="3931920" cy="1271016"/>
          </a:xfrm>
          <a:prstGeom prst="roundRect">
            <a:avLst/>
          </a:prstGeom>
          <a:solidFill>
            <a:srgbClr val="FFFFFF"/>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406640" y="4535424"/>
            <a:ext cx="63500" cy="1271016"/>
          </a:xfrm>
          <a:prstGeom prst="rect">
            <a:avLst/>
          </a:prstGeom>
          <a:solidFill>
            <a:srgbClr val="258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1231" y="4672584"/>
            <a:ext cx="3657600" cy="256032"/>
          </a:xfrm>
          <a:prstGeom prst="rect">
            <a:avLst/>
          </a:prstGeom>
          <a:noFill/>
        </p:spPr>
        <p:txBody>
          <a:bodyPr wrap="square" lIns="54864" rIns="54864" tIns="36576">
            <a:spAutoFit/>
          </a:bodyPr>
          <a:lstStyle/>
          <a:p>
            <a:pPr algn="l">
              <a:defRPr sz="1400" b="1">
                <a:solidFill>
                  <a:srgbClr val="258B5D"/>
                </a:solidFill>
                <a:latin typeface="Arial"/>
              </a:defRPr>
            </a:pPr>
            <a:r>
              <a:t>VẬN HÀNH</a:t>
            </a:r>
          </a:p>
        </p:txBody>
      </p:sp>
      <p:sp>
        <p:nvSpPr>
          <p:cNvPr id="26" name="TextBox 25"/>
          <p:cNvSpPr txBox="1"/>
          <p:nvPr/>
        </p:nvSpPr>
        <p:spPr>
          <a:xfrm>
            <a:off x="7571231" y="5065776"/>
            <a:ext cx="3657600" cy="630936"/>
          </a:xfrm>
          <a:prstGeom prst="rect">
            <a:avLst/>
          </a:prstGeom>
          <a:noFill/>
        </p:spPr>
        <p:txBody>
          <a:bodyPr wrap="square" lIns="54864" rIns="54864" tIns="36576">
            <a:spAutoFit/>
          </a:bodyPr>
          <a:lstStyle/>
          <a:p>
            <a:pPr algn="l">
              <a:defRPr sz="1400" b="0">
                <a:solidFill>
                  <a:srgbClr val="2D3741"/>
                </a:solidFill>
                <a:latin typeface="Arial"/>
              </a:defRPr>
            </a:pPr>
            <a:r>
              <a:t>Offline, không tài khoản, không API.</a:t>
            </a:r>
          </a:p>
        </p:txBody>
      </p:sp>
      <p:sp>
        <p:nvSpPr>
          <p:cNvPr id="27" name="Rectangle 26"/>
          <p:cNvSpPr/>
          <p:nvPr/>
        </p:nvSpPr>
        <p:spPr>
          <a:xfrm>
            <a:off x="1371600" y="2560320"/>
            <a:ext cx="2286000" cy="1097280"/>
          </a:xfrm>
          <a:prstGeom prst="rect">
            <a:avLst/>
          </a:prstGeom>
          <a:noFill/>
          <a:ln w="508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3232"/>
                </a:solidFill>
                <a:latin typeface="Arial"/>
              </a:defRPr>
            </a:pPr>
            <a:r>
              <a:t>Menu chính</a:t>
            </a:r>
          </a:p>
        </p:txBody>
      </p:sp>
      <p:sp>
        <p:nvSpPr>
          <p:cNvPr id="28" name="Rectangle 27"/>
          <p:cNvSpPr/>
          <p:nvPr/>
        </p:nvSpPr>
        <p:spPr>
          <a:xfrm>
            <a:off x="4114800" y="3200400"/>
            <a:ext cx="2560320" cy="1371600"/>
          </a:xfrm>
          <a:prstGeom prst="rect">
            <a:avLst/>
          </a:prstGeom>
          <a:noFill/>
          <a:ln w="508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3232"/>
                </a:solidFill>
                <a:latin typeface="Arial"/>
              </a:defRPr>
            </a:pPr>
            <a:r>
              <a:t>Khu vực hoạt động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8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dhsp_hue.png"/>
          <p:cNvPicPr>
            <a:picLocks noChangeAspect="1"/>
          </p:cNvPicPr>
          <p:nvPr/>
        </p:nvPicPr>
        <p:blipFill>
          <a:blip r:embed="rId2"/>
          <a:stretch>
            <a:fillRect/>
          </a:stretch>
        </p:blipFill>
        <p:spPr>
          <a:xfrm>
            <a:off x="384048" y="155448"/>
            <a:ext cx="530352" cy="530352"/>
          </a:xfrm>
          <a:prstGeom prst="rect">
            <a:avLst/>
          </a:prstGeom>
        </p:spPr>
      </p:pic>
      <p:pic>
        <p:nvPicPr>
          <p:cNvPr id="4" name="Picture 3" descr="logo_thpt_thuan_hoa.png"/>
          <p:cNvPicPr>
            <a:picLocks noChangeAspect="1"/>
          </p:cNvPicPr>
          <p:nvPr/>
        </p:nvPicPr>
        <p:blipFill>
          <a:blip r:embed="rId3"/>
          <a:stretch>
            <a:fillRect/>
          </a:stretch>
        </p:blipFill>
        <p:spPr>
          <a:xfrm>
            <a:off x="1024128" y="155448"/>
            <a:ext cx="530352" cy="530352"/>
          </a:xfrm>
          <a:prstGeom prst="rect">
            <a:avLst/>
          </a:prstGeom>
        </p:spPr>
      </p:pic>
      <p:sp>
        <p:nvSpPr>
          <p:cNvPr id="5" name="TextBox 4"/>
          <p:cNvSpPr txBox="1"/>
          <p:nvPr/>
        </p:nvSpPr>
        <p:spPr>
          <a:xfrm>
            <a:off x="1664208" y="155448"/>
            <a:ext cx="4023360" cy="237744"/>
          </a:xfrm>
          <a:prstGeom prst="rect">
            <a:avLst/>
          </a:prstGeom>
          <a:noFill/>
        </p:spPr>
        <p:txBody>
          <a:bodyPr wrap="square" lIns="54864" rIns="54864" tIns="36576">
            <a:spAutoFit/>
          </a:bodyPr>
          <a:lstStyle/>
          <a:p>
            <a:pPr algn="l">
              <a:defRPr sz="1100" b="1">
                <a:solidFill>
                  <a:srgbClr val="18375B"/>
                </a:solidFill>
                <a:latin typeface="Arial"/>
              </a:defRPr>
            </a:pPr>
            <a:r>
              <a:t>Trường THPT Thuận Hoá</a:t>
            </a:r>
          </a:p>
        </p:txBody>
      </p:sp>
      <p:sp>
        <p:nvSpPr>
          <p:cNvPr id="6" name="TextBox 5"/>
          <p:cNvSpPr txBox="1"/>
          <p:nvPr/>
        </p:nvSpPr>
        <p:spPr>
          <a:xfrm>
            <a:off x="1664208" y="411480"/>
            <a:ext cx="4114800" cy="201168"/>
          </a:xfrm>
          <a:prstGeom prst="rect">
            <a:avLst/>
          </a:prstGeom>
          <a:noFill/>
        </p:spPr>
        <p:txBody>
          <a:bodyPr wrap="square" lIns="54864" rIns="54864" tIns="36576">
            <a:spAutoFit/>
          </a:bodyPr>
          <a:lstStyle/>
          <a:p>
            <a:pPr algn="l">
              <a:defRPr sz="950" b="0">
                <a:solidFill>
                  <a:srgbClr val="646E78"/>
                </a:solidFill>
                <a:latin typeface="Arial"/>
              </a:defRPr>
            </a:pPr>
            <a:r>
              <a:t>Trường Đại học Sư Phạm, Đại học Huế</a:t>
            </a:r>
          </a:p>
        </p:txBody>
      </p:sp>
      <p:sp>
        <p:nvSpPr>
          <p:cNvPr id="7" name="TextBox 6"/>
          <p:cNvSpPr txBox="1"/>
          <p:nvPr/>
        </p:nvSpPr>
        <p:spPr>
          <a:xfrm>
            <a:off x="5486400" y="246888"/>
            <a:ext cx="6217920" cy="274320"/>
          </a:xfrm>
          <a:prstGeom prst="rect">
            <a:avLst/>
          </a:prstGeom>
          <a:noFill/>
        </p:spPr>
        <p:txBody>
          <a:bodyPr wrap="square" lIns="54864" rIns="54864" tIns="36576">
            <a:spAutoFit/>
          </a:bodyPr>
          <a:lstStyle/>
          <a:p>
            <a:pPr algn="r">
              <a:defRPr sz="1400" b="1">
                <a:solidFill>
                  <a:srgbClr val="18375B"/>
                </a:solidFill>
                <a:latin typeface="Arial"/>
              </a:defRPr>
            </a:pPr>
            <a:r>
              <a:t>01 · BỐI CẢNH</a:t>
            </a:r>
          </a:p>
        </p:txBody>
      </p:sp>
      <p:sp>
        <p:nvSpPr>
          <p:cNvPr id="8" name="Rectangle 7"/>
          <p:cNvSpPr/>
          <p:nvPr/>
        </p:nvSpPr>
        <p:spPr>
          <a:xfrm>
            <a:off x="384048" y="914400"/>
            <a:ext cx="11430000" cy="12700"/>
          </a:xfrm>
          <a:prstGeom prst="rect">
            <a:avLst/>
          </a:prstGeom>
          <a:solidFill>
            <a:srgbClr val="D2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6473952"/>
            <a:ext cx="3657600" cy="182880"/>
          </a:xfrm>
          <a:prstGeom prst="rect">
            <a:avLst/>
          </a:prstGeom>
          <a:noFill/>
        </p:spPr>
        <p:txBody>
          <a:bodyPr wrap="square" lIns="54864" rIns="54864" tIns="36576">
            <a:spAutoFit/>
          </a:bodyPr>
          <a:lstStyle/>
          <a:p>
            <a:pPr algn="l">
              <a:defRPr sz="900" b="0">
                <a:solidFill>
                  <a:srgbClr val="646E78"/>
                </a:solidFill>
                <a:latin typeface="Arial"/>
              </a:defRPr>
            </a:pPr>
            <a:r>
              <a:t>GV: Mai Xuân Văn</a:t>
            </a:r>
          </a:p>
        </p:txBody>
      </p:sp>
      <p:sp>
        <p:nvSpPr>
          <p:cNvPr id="10" name="TextBox 9"/>
          <p:cNvSpPr txBox="1"/>
          <p:nvPr/>
        </p:nvSpPr>
        <p:spPr>
          <a:xfrm>
            <a:off x="11292840" y="6473952"/>
            <a:ext cx="411480" cy="182880"/>
          </a:xfrm>
          <a:prstGeom prst="rect">
            <a:avLst/>
          </a:prstGeom>
          <a:noFill/>
        </p:spPr>
        <p:txBody>
          <a:bodyPr wrap="square" lIns="54864" rIns="54864" tIns="36576">
            <a:spAutoFit/>
          </a:bodyPr>
          <a:lstStyle/>
          <a:p>
            <a:pPr algn="r">
              <a:defRPr sz="900" b="0">
                <a:solidFill>
                  <a:srgbClr val="646E78"/>
                </a:solidFill>
                <a:latin typeface="Arial"/>
              </a:defRPr>
            </a:pPr>
            <a:r>
              <a:t>4</a:t>
            </a:r>
          </a:p>
        </p:txBody>
      </p:sp>
      <p:sp>
        <p:nvSpPr>
          <p:cNvPr id="11" name="TextBox 10"/>
          <p:cNvSpPr txBox="1"/>
          <p:nvPr/>
        </p:nvSpPr>
        <p:spPr>
          <a:xfrm>
            <a:off x="502920" y="1115568"/>
            <a:ext cx="11155680" cy="384048"/>
          </a:xfrm>
          <a:prstGeom prst="rect">
            <a:avLst/>
          </a:prstGeom>
          <a:noFill/>
        </p:spPr>
        <p:txBody>
          <a:bodyPr wrap="square" lIns="54864" rIns="54864" tIns="36576">
            <a:spAutoFit/>
          </a:bodyPr>
          <a:lstStyle/>
          <a:p>
            <a:pPr algn="l">
              <a:defRPr sz="2600" b="1">
                <a:solidFill>
                  <a:srgbClr val="18375B"/>
                </a:solidFill>
                <a:latin typeface="Arial"/>
              </a:defRPr>
            </a:pPr>
            <a:r>
              <a:t>Ba khó khăn rất cụ thể trong lớp học</a:t>
            </a:r>
          </a:p>
        </p:txBody>
      </p:sp>
      <p:sp>
        <p:nvSpPr>
          <p:cNvPr id="12" name="TextBox 11"/>
          <p:cNvSpPr txBox="1"/>
          <p:nvPr/>
        </p:nvSpPr>
        <p:spPr>
          <a:xfrm>
            <a:off x="530352" y="1536192"/>
            <a:ext cx="10972800" cy="256032"/>
          </a:xfrm>
          <a:prstGeom prst="rect">
            <a:avLst/>
          </a:prstGeom>
          <a:noFill/>
        </p:spPr>
        <p:txBody>
          <a:bodyPr wrap="square" lIns="54864" rIns="54864" tIns="36576">
            <a:spAutoFit/>
          </a:bodyPr>
          <a:lstStyle/>
          <a:p>
            <a:pPr algn="l">
              <a:defRPr sz="1200" b="0">
                <a:solidFill>
                  <a:srgbClr val="646E78"/>
                </a:solidFill>
                <a:latin typeface="Arial"/>
              </a:defRPr>
            </a:pPr>
            <a:r>
              <a:t>Dạy AI không dừng ở việc cho học sinh dùng một công cụ</a:t>
            </a:r>
          </a:p>
        </p:txBody>
      </p:sp>
      <p:sp>
        <p:nvSpPr>
          <p:cNvPr id="13" name="Rounded Rectangle 12"/>
          <p:cNvSpPr/>
          <p:nvPr/>
        </p:nvSpPr>
        <p:spPr>
          <a:xfrm>
            <a:off x="640080" y="1965960"/>
            <a:ext cx="3520440" cy="1965960"/>
          </a:xfrm>
          <a:prstGeom prst="roundRect">
            <a:avLst/>
          </a:prstGeom>
          <a:solidFill>
            <a:srgbClr val="FFFFFF"/>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65960"/>
            <a:ext cx="63500" cy="196596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1" y="2103120"/>
            <a:ext cx="3246120" cy="256032"/>
          </a:xfrm>
          <a:prstGeom prst="rect">
            <a:avLst/>
          </a:prstGeom>
          <a:noFill/>
        </p:spPr>
        <p:txBody>
          <a:bodyPr wrap="square" lIns="54864" rIns="54864" tIns="36576">
            <a:spAutoFit/>
          </a:bodyPr>
          <a:lstStyle/>
          <a:p>
            <a:pPr algn="l">
              <a:defRPr sz="1400" b="1">
                <a:solidFill>
                  <a:srgbClr val="0066CC"/>
                </a:solidFill>
                <a:latin typeface="Arial"/>
              </a:defRPr>
            </a:pPr>
            <a:r>
              <a:t>KHÓ NHÌN THẤY</a:t>
            </a:r>
          </a:p>
        </p:txBody>
      </p:sp>
      <p:sp>
        <p:nvSpPr>
          <p:cNvPr id="16" name="TextBox 15"/>
          <p:cNvSpPr txBox="1"/>
          <p:nvPr/>
        </p:nvSpPr>
        <p:spPr>
          <a:xfrm>
            <a:off x="804671" y="2496312"/>
            <a:ext cx="3246120" cy="1325880"/>
          </a:xfrm>
          <a:prstGeom prst="rect">
            <a:avLst/>
          </a:prstGeom>
          <a:noFill/>
        </p:spPr>
        <p:txBody>
          <a:bodyPr wrap="square" lIns="54864" rIns="54864" tIns="36576">
            <a:spAutoFit/>
          </a:bodyPr>
          <a:lstStyle/>
          <a:p>
            <a:pPr algn="l">
              <a:defRPr sz="1400" b="0">
                <a:solidFill>
                  <a:srgbClr val="2D3741"/>
                </a:solidFill>
                <a:latin typeface="Arial"/>
              </a:defRPr>
            </a:pPr>
            <a:r>
              <a:t>Dữ liệu, mô hình, thiên kiến và lỗi AI thường nằm "bên trong" hộp đen.</a:t>
            </a:r>
          </a:p>
        </p:txBody>
      </p:sp>
      <p:sp>
        <p:nvSpPr>
          <p:cNvPr id="17" name="Rounded Rectangle 16"/>
          <p:cNvSpPr/>
          <p:nvPr/>
        </p:nvSpPr>
        <p:spPr>
          <a:xfrm>
            <a:off x="4343400" y="1965960"/>
            <a:ext cx="3520440" cy="1965960"/>
          </a:xfrm>
          <a:prstGeom prst="roundRect">
            <a:avLst/>
          </a:prstGeom>
          <a:solidFill>
            <a:srgbClr val="FFFFFF"/>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43400" y="1965960"/>
            <a:ext cx="63500" cy="1965960"/>
          </a:xfrm>
          <a:prstGeom prst="rect">
            <a:avLst/>
          </a:prstGeom>
          <a:solidFill>
            <a:srgbClr val="D399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07992" y="2103120"/>
            <a:ext cx="3246120" cy="256032"/>
          </a:xfrm>
          <a:prstGeom prst="rect">
            <a:avLst/>
          </a:prstGeom>
          <a:noFill/>
        </p:spPr>
        <p:txBody>
          <a:bodyPr wrap="square" lIns="54864" rIns="54864" tIns="36576">
            <a:spAutoFit/>
          </a:bodyPr>
          <a:lstStyle/>
          <a:p>
            <a:pPr algn="l">
              <a:defRPr sz="1400" b="1">
                <a:solidFill>
                  <a:srgbClr val="D3992A"/>
                </a:solidFill>
                <a:latin typeface="Arial"/>
              </a:defRPr>
            </a:pPr>
            <a:r>
              <a:t>KHÓ TRIỂN KHAI</a:t>
            </a:r>
          </a:p>
        </p:txBody>
      </p:sp>
      <p:sp>
        <p:nvSpPr>
          <p:cNvPr id="20" name="TextBox 19"/>
          <p:cNvSpPr txBox="1"/>
          <p:nvPr/>
        </p:nvSpPr>
        <p:spPr>
          <a:xfrm>
            <a:off x="4507992" y="2496312"/>
            <a:ext cx="3246120" cy="1325880"/>
          </a:xfrm>
          <a:prstGeom prst="rect">
            <a:avLst/>
          </a:prstGeom>
          <a:noFill/>
        </p:spPr>
        <p:txBody>
          <a:bodyPr wrap="square" lIns="54864" rIns="54864" tIns="36576">
            <a:spAutoFit/>
          </a:bodyPr>
          <a:lstStyle/>
          <a:p>
            <a:pPr algn="l">
              <a:defRPr sz="1400" b="0">
                <a:solidFill>
                  <a:srgbClr val="2D3741"/>
                </a:solidFill>
                <a:latin typeface="Arial"/>
              </a:defRPr>
            </a:pPr>
            <a:r>
              <a:t>Phòng máy có thể yếu hoặc mất mạng; không thể đặt tài khoản/API làm điều kiện bắt buộc.</a:t>
            </a:r>
          </a:p>
        </p:txBody>
      </p:sp>
      <p:sp>
        <p:nvSpPr>
          <p:cNvPr id="21" name="Rounded Rectangle 20"/>
          <p:cNvSpPr/>
          <p:nvPr/>
        </p:nvSpPr>
        <p:spPr>
          <a:xfrm>
            <a:off x="8046720" y="1965960"/>
            <a:ext cx="3520440" cy="1965960"/>
          </a:xfrm>
          <a:prstGeom prst="roundRect">
            <a:avLst/>
          </a:prstGeom>
          <a:solidFill>
            <a:srgbClr val="FFFFFF"/>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46720" y="1965960"/>
            <a:ext cx="63500" cy="1965960"/>
          </a:xfrm>
          <a:prstGeom prst="rect">
            <a:avLst/>
          </a:prstGeom>
          <a:solidFill>
            <a:srgbClr val="258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11312" y="2103120"/>
            <a:ext cx="3246120" cy="256032"/>
          </a:xfrm>
          <a:prstGeom prst="rect">
            <a:avLst/>
          </a:prstGeom>
          <a:noFill/>
        </p:spPr>
        <p:txBody>
          <a:bodyPr wrap="square" lIns="54864" rIns="54864" tIns="36576">
            <a:spAutoFit/>
          </a:bodyPr>
          <a:lstStyle/>
          <a:p>
            <a:pPr algn="l">
              <a:defRPr sz="1400" b="1">
                <a:solidFill>
                  <a:srgbClr val="258B5D"/>
                </a:solidFill>
                <a:latin typeface="Arial"/>
              </a:defRPr>
            </a:pPr>
            <a:r>
              <a:t>KHÓ KIỂM CHỨNG</a:t>
            </a:r>
          </a:p>
        </p:txBody>
      </p:sp>
      <p:sp>
        <p:nvSpPr>
          <p:cNvPr id="24" name="TextBox 23"/>
          <p:cNvSpPr txBox="1"/>
          <p:nvPr/>
        </p:nvSpPr>
        <p:spPr>
          <a:xfrm>
            <a:off x="8211312" y="2496312"/>
            <a:ext cx="3246120" cy="1325880"/>
          </a:xfrm>
          <a:prstGeom prst="rect">
            <a:avLst/>
          </a:prstGeom>
          <a:noFill/>
        </p:spPr>
        <p:txBody>
          <a:bodyPr wrap="square" lIns="54864" rIns="54864" tIns="36576">
            <a:spAutoFit/>
          </a:bodyPr>
          <a:lstStyle/>
          <a:p>
            <a:pPr algn="l">
              <a:defRPr sz="1400" b="0">
                <a:solidFill>
                  <a:srgbClr val="2D3741"/>
                </a:solidFill>
                <a:latin typeface="Arial"/>
              </a:defRPr>
            </a:pPr>
            <a:r>
              <a:t>Học sinh dễ nhận đáp án mà chưa hình thành thói quen hỏi lại và kiểm tra.</a:t>
            </a:r>
          </a:p>
        </p:txBody>
      </p:sp>
      <p:sp>
        <p:nvSpPr>
          <p:cNvPr id="25" name="Rectangle 24"/>
          <p:cNvSpPr/>
          <p:nvPr/>
        </p:nvSpPr>
        <p:spPr>
          <a:xfrm>
            <a:off x="786384" y="4306824"/>
            <a:ext cx="1993392" cy="1764792"/>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02_menu.jpg"/>
          <p:cNvPicPr>
            <a:picLocks noChangeAspect="1"/>
          </p:cNvPicPr>
          <p:nvPr/>
        </p:nvPicPr>
        <p:blipFill>
          <a:blip r:embed="rId4"/>
          <a:stretch>
            <a:fillRect/>
          </a:stretch>
        </p:blipFill>
        <p:spPr>
          <a:xfrm>
            <a:off x="1392001" y="4343400"/>
            <a:ext cx="782156" cy="1691640"/>
          </a:xfrm>
          <a:prstGeom prst="rect">
            <a:avLst/>
          </a:prstGeom>
        </p:spPr>
      </p:pic>
      <p:sp>
        <p:nvSpPr>
          <p:cNvPr id="27" name="Rectangle 26"/>
          <p:cNvSpPr/>
          <p:nvPr/>
        </p:nvSpPr>
        <p:spPr>
          <a:xfrm>
            <a:off x="3026664" y="4306824"/>
            <a:ext cx="3822191" cy="1764792"/>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6-tinh-huong.png"/>
          <p:cNvPicPr>
            <a:picLocks noChangeAspect="1"/>
          </p:cNvPicPr>
          <p:nvPr/>
        </p:nvPicPr>
        <p:blipFill>
          <a:blip r:embed="rId5"/>
          <a:stretch>
            <a:fillRect/>
          </a:stretch>
        </p:blipFill>
        <p:spPr>
          <a:xfrm>
            <a:off x="3734816" y="4343400"/>
            <a:ext cx="2405888" cy="1691640"/>
          </a:xfrm>
          <a:prstGeom prst="rect">
            <a:avLst/>
          </a:prstGeom>
        </p:spPr>
      </p:pic>
      <p:sp>
        <p:nvSpPr>
          <p:cNvPr id="29" name="Rectangle 28"/>
          <p:cNvSpPr/>
          <p:nvPr/>
        </p:nvSpPr>
        <p:spPr>
          <a:xfrm>
            <a:off x="7278624" y="4306824"/>
            <a:ext cx="3639312" cy="1764792"/>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08_man1_bang_dau_hieu.jpg"/>
          <p:cNvPicPr>
            <a:picLocks noChangeAspect="1"/>
          </p:cNvPicPr>
          <p:nvPr/>
        </p:nvPicPr>
        <p:blipFill>
          <a:blip r:embed="rId6"/>
          <a:stretch>
            <a:fillRect/>
          </a:stretch>
        </p:blipFill>
        <p:spPr>
          <a:xfrm>
            <a:off x="8707201" y="4343400"/>
            <a:ext cx="782156" cy="1691640"/>
          </a:xfrm>
          <a:prstGeom prst="rect">
            <a:avLst/>
          </a:prstGeom>
        </p:spPr>
      </p:pic>
      <p:sp>
        <p:nvSpPr>
          <p:cNvPr id="31" name="Rectangle 30"/>
          <p:cNvSpPr/>
          <p:nvPr/>
        </p:nvSpPr>
        <p:spPr>
          <a:xfrm>
            <a:off x="1188720" y="4754880"/>
            <a:ext cx="1188720" cy="731520"/>
          </a:xfrm>
          <a:prstGeom prst="rect">
            <a:avLst/>
          </a:prstGeom>
          <a:noFill/>
          <a:ln w="508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3232"/>
                </a:solidFill>
                <a:latin typeface="Arial"/>
              </a:defRPr>
            </a:pPr>
            <a:r>
              <a:t>Vào hoạt động</a:t>
            </a:r>
          </a:p>
        </p:txBody>
      </p:sp>
      <p:sp>
        <p:nvSpPr>
          <p:cNvPr id="32" name="Rectangle 31"/>
          <p:cNvSpPr/>
          <p:nvPr/>
        </p:nvSpPr>
        <p:spPr>
          <a:xfrm>
            <a:off x="4114800" y="4846320"/>
            <a:ext cx="2011680" cy="914400"/>
          </a:xfrm>
          <a:prstGeom prst="rect">
            <a:avLst/>
          </a:prstGeom>
          <a:noFill/>
          <a:ln w="508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3232"/>
                </a:solidFill>
                <a:latin typeface="Arial"/>
              </a:defRPr>
            </a:pPr>
            <a:r>
              <a:t>Tình huống</a:t>
            </a:r>
          </a:p>
        </p:txBody>
      </p:sp>
      <p:sp>
        <p:nvSpPr>
          <p:cNvPr id="33" name="Rectangle 32"/>
          <p:cNvSpPr/>
          <p:nvPr/>
        </p:nvSpPr>
        <p:spPr>
          <a:xfrm>
            <a:off x="8229600" y="4937760"/>
            <a:ext cx="1828800" cy="822960"/>
          </a:xfrm>
          <a:prstGeom prst="rect">
            <a:avLst/>
          </a:prstGeom>
          <a:noFill/>
          <a:ln w="508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3232"/>
                </a:solidFill>
                <a:latin typeface="Arial"/>
              </a:defRPr>
            </a:pPr>
            <a:r>
              <a:t>Dấu hiệu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8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dhsp_hue.png"/>
          <p:cNvPicPr>
            <a:picLocks noChangeAspect="1"/>
          </p:cNvPicPr>
          <p:nvPr/>
        </p:nvPicPr>
        <p:blipFill>
          <a:blip r:embed="rId2"/>
          <a:stretch>
            <a:fillRect/>
          </a:stretch>
        </p:blipFill>
        <p:spPr>
          <a:xfrm>
            <a:off x="384048" y="155448"/>
            <a:ext cx="530352" cy="530352"/>
          </a:xfrm>
          <a:prstGeom prst="rect">
            <a:avLst/>
          </a:prstGeom>
        </p:spPr>
      </p:pic>
      <p:pic>
        <p:nvPicPr>
          <p:cNvPr id="4" name="Picture 3" descr="logo_thpt_thuan_hoa.png"/>
          <p:cNvPicPr>
            <a:picLocks noChangeAspect="1"/>
          </p:cNvPicPr>
          <p:nvPr/>
        </p:nvPicPr>
        <p:blipFill>
          <a:blip r:embed="rId3"/>
          <a:stretch>
            <a:fillRect/>
          </a:stretch>
        </p:blipFill>
        <p:spPr>
          <a:xfrm>
            <a:off x="1024128" y="155448"/>
            <a:ext cx="530352" cy="530352"/>
          </a:xfrm>
          <a:prstGeom prst="rect">
            <a:avLst/>
          </a:prstGeom>
        </p:spPr>
      </p:pic>
      <p:sp>
        <p:nvSpPr>
          <p:cNvPr id="5" name="TextBox 4"/>
          <p:cNvSpPr txBox="1"/>
          <p:nvPr/>
        </p:nvSpPr>
        <p:spPr>
          <a:xfrm>
            <a:off x="1664208" y="155448"/>
            <a:ext cx="4023360" cy="237744"/>
          </a:xfrm>
          <a:prstGeom prst="rect">
            <a:avLst/>
          </a:prstGeom>
          <a:noFill/>
        </p:spPr>
        <p:txBody>
          <a:bodyPr wrap="square" lIns="54864" rIns="54864" tIns="36576">
            <a:spAutoFit/>
          </a:bodyPr>
          <a:lstStyle/>
          <a:p>
            <a:pPr algn="l">
              <a:defRPr sz="1100" b="1">
                <a:solidFill>
                  <a:srgbClr val="18375B"/>
                </a:solidFill>
                <a:latin typeface="Arial"/>
              </a:defRPr>
            </a:pPr>
            <a:r>
              <a:t>Trường THPT Thuận Hoá</a:t>
            </a:r>
          </a:p>
        </p:txBody>
      </p:sp>
      <p:sp>
        <p:nvSpPr>
          <p:cNvPr id="6" name="TextBox 5"/>
          <p:cNvSpPr txBox="1"/>
          <p:nvPr/>
        </p:nvSpPr>
        <p:spPr>
          <a:xfrm>
            <a:off x="1664208" y="411480"/>
            <a:ext cx="4114800" cy="201168"/>
          </a:xfrm>
          <a:prstGeom prst="rect">
            <a:avLst/>
          </a:prstGeom>
          <a:noFill/>
        </p:spPr>
        <p:txBody>
          <a:bodyPr wrap="square" lIns="54864" rIns="54864" tIns="36576">
            <a:spAutoFit/>
          </a:bodyPr>
          <a:lstStyle/>
          <a:p>
            <a:pPr algn="l">
              <a:defRPr sz="950" b="0">
                <a:solidFill>
                  <a:srgbClr val="646E78"/>
                </a:solidFill>
                <a:latin typeface="Arial"/>
              </a:defRPr>
            </a:pPr>
            <a:r>
              <a:t>Trường Đại học Sư Phạm, Đại học Huế</a:t>
            </a:r>
          </a:p>
        </p:txBody>
      </p:sp>
      <p:sp>
        <p:nvSpPr>
          <p:cNvPr id="7" name="TextBox 6"/>
          <p:cNvSpPr txBox="1"/>
          <p:nvPr/>
        </p:nvSpPr>
        <p:spPr>
          <a:xfrm>
            <a:off x="5486400" y="246888"/>
            <a:ext cx="6217920" cy="274320"/>
          </a:xfrm>
          <a:prstGeom prst="rect">
            <a:avLst/>
          </a:prstGeom>
          <a:noFill/>
        </p:spPr>
        <p:txBody>
          <a:bodyPr wrap="square" lIns="54864" rIns="54864" tIns="36576">
            <a:spAutoFit/>
          </a:bodyPr>
          <a:lstStyle/>
          <a:p>
            <a:pPr algn="r">
              <a:defRPr sz="1400" b="1">
                <a:solidFill>
                  <a:srgbClr val="18375B"/>
                </a:solidFill>
                <a:latin typeface="Arial"/>
              </a:defRPr>
            </a:pPr>
            <a:r>
              <a:t>02 · GIẢI PHÁP</a:t>
            </a:r>
          </a:p>
        </p:txBody>
      </p:sp>
      <p:sp>
        <p:nvSpPr>
          <p:cNvPr id="8" name="Rectangle 7"/>
          <p:cNvSpPr/>
          <p:nvPr/>
        </p:nvSpPr>
        <p:spPr>
          <a:xfrm>
            <a:off x="384048" y="914400"/>
            <a:ext cx="11430000" cy="12700"/>
          </a:xfrm>
          <a:prstGeom prst="rect">
            <a:avLst/>
          </a:prstGeom>
          <a:solidFill>
            <a:srgbClr val="D2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6473952"/>
            <a:ext cx="3657600" cy="182880"/>
          </a:xfrm>
          <a:prstGeom prst="rect">
            <a:avLst/>
          </a:prstGeom>
          <a:noFill/>
        </p:spPr>
        <p:txBody>
          <a:bodyPr wrap="square" lIns="54864" rIns="54864" tIns="36576">
            <a:spAutoFit/>
          </a:bodyPr>
          <a:lstStyle/>
          <a:p>
            <a:pPr algn="l">
              <a:defRPr sz="900" b="0">
                <a:solidFill>
                  <a:srgbClr val="646E78"/>
                </a:solidFill>
                <a:latin typeface="Arial"/>
              </a:defRPr>
            </a:pPr>
            <a:r>
              <a:t>GV: Mai Xuân Văn</a:t>
            </a:r>
          </a:p>
        </p:txBody>
      </p:sp>
      <p:sp>
        <p:nvSpPr>
          <p:cNvPr id="10" name="TextBox 9"/>
          <p:cNvSpPr txBox="1"/>
          <p:nvPr/>
        </p:nvSpPr>
        <p:spPr>
          <a:xfrm>
            <a:off x="11292840" y="6473952"/>
            <a:ext cx="411480" cy="182880"/>
          </a:xfrm>
          <a:prstGeom prst="rect">
            <a:avLst/>
          </a:prstGeom>
          <a:noFill/>
        </p:spPr>
        <p:txBody>
          <a:bodyPr wrap="square" lIns="54864" rIns="54864" tIns="36576">
            <a:spAutoFit/>
          </a:bodyPr>
          <a:lstStyle/>
          <a:p>
            <a:pPr algn="r">
              <a:defRPr sz="900" b="0">
                <a:solidFill>
                  <a:srgbClr val="646E78"/>
                </a:solidFill>
                <a:latin typeface="Arial"/>
              </a:defRPr>
            </a:pPr>
            <a:r>
              <a:t>5</a:t>
            </a:r>
          </a:p>
        </p:txBody>
      </p:sp>
      <p:sp>
        <p:nvSpPr>
          <p:cNvPr id="11" name="TextBox 10"/>
          <p:cNvSpPr txBox="1"/>
          <p:nvPr/>
        </p:nvSpPr>
        <p:spPr>
          <a:xfrm>
            <a:off x="502920" y="1115568"/>
            <a:ext cx="11155680" cy="384048"/>
          </a:xfrm>
          <a:prstGeom prst="rect">
            <a:avLst/>
          </a:prstGeom>
          <a:noFill/>
        </p:spPr>
        <p:txBody>
          <a:bodyPr wrap="square" lIns="54864" rIns="54864" tIns="36576">
            <a:spAutoFit/>
          </a:bodyPr>
          <a:lstStyle/>
          <a:p>
            <a:pPr algn="l">
              <a:defRPr sz="2600" b="1">
                <a:solidFill>
                  <a:srgbClr val="18375B"/>
                </a:solidFill>
                <a:latin typeface="Arial"/>
              </a:defRPr>
            </a:pPr>
            <a:r>
              <a:t>AInatomy biến "hộp đen" thành trải nghiệm có thể quan sát</a:t>
            </a:r>
          </a:p>
        </p:txBody>
      </p:sp>
      <p:sp>
        <p:nvSpPr>
          <p:cNvPr id="12" name="Rounded Rectangle 11"/>
          <p:cNvSpPr/>
          <p:nvPr/>
        </p:nvSpPr>
        <p:spPr>
          <a:xfrm>
            <a:off x="822960" y="2057400"/>
            <a:ext cx="2057400" cy="914400"/>
          </a:xfrm>
          <a:prstGeom prst="round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176272"/>
            <a:ext cx="457200" cy="274320"/>
          </a:xfrm>
          <a:prstGeom prst="rect">
            <a:avLst/>
          </a:prstGeom>
          <a:noFill/>
        </p:spPr>
        <p:txBody>
          <a:bodyPr wrap="square" lIns="54864" rIns="54864" tIns="36576">
            <a:spAutoFit/>
          </a:bodyPr>
          <a:lstStyle/>
          <a:p>
            <a:pPr algn="l">
              <a:defRPr sz="2200" b="1">
                <a:solidFill>
                  <a:srgbClr val="0066CC"/>
                </a:solidFill>
                <a:latin typeface="Arial"/>
              </a:defRPr>
            </a:pPr>
            <a:r>
              <a:t>01</a:t>
            </a:r>
          </a:p>
        </p:txBody>
      </p:sp>
      <p:sp>
        <p:nvSpPr>
          <p:cNvPr id="14" name="TextBox 13"/>
          <p:cNvSpPr txBox="1"/>
          <p:nvPr/>
        </p:nvSpPr>
        <p:spPr>
          <a:xfrm>
            <a:off x="1463040" y="2212848"/>
            <a:ext cx="1234440" cy="228600"/>
          </a:xfrm>
          <a:prstGeom prst="rect">
            <a:avLst/>
          </a:prstGeom>
          <a:noFill/>
        </p:spPr>
        <p:txBody>
          <a:bodyPr wrap="square" lIns="54864" rIns="54864" tIns="36576">
            <a:spAutoFit/>
          </a:bodyPr>
          <a:lstStyle/>
          <a:p>
            <a:pPr algn="l">
              <a:defRPr sz="1600" b="1">
                <a:solidFill>
                  <a:srgbClr val="18375B"/>
                </a:solidFill>
                <a:latin typeface="Arial"/>
              </a:defRPr>
            </a:pPr>
            <a:r>
              <a:t>Tình huống</a:t>
            </a:r>
          </a:p>
        </p:txBody>
      </p:sp>
      <p:sp>
        <p:nvSpPr>
          <p:cNvPr id="15" name="TextBox 14"/>
          <p:cNvSpPr txBox="1"/>
          <p:nvPr/>
        </p:nvSpPr>
        <p:spPr>
          <a:xfrm>
            <a:off x="2999232" y="2267712"/>
            <a:ext cx="548640" cy="228600"/>
          </a:xfrm>
          <a:prstGeom prst="rect">
            <a:avLst/>
          </a:prstGeom>
          <a:noFill/>
        </p:spPr>
        <p:txBody>
          <a:bodyPr wrap="square" lIns="54864" rIns="54864" tIns="36576">
            <a:spAutoFit/>
          </a:bodyPr>
          <a:lstStyle/>
          <a:p>
            <a:pPr algn="ctr">
              <a:defRPr sz="2400" b="1">
                <a:solidFill>
                  <a:srgbClr val="D3992A"/>
                </a:solidFill>
                <a:latin typeface="Arial"/>
              </a:defRPr>
            </a:pPr>
            <a:r>
              <a:t>→</a:t>
            </a:r>
          </a:p>
        </p:txBody>
      </p:sp>
      <p:sp>
        <p:nvSpPr>
          <p:cNvPr id="16" name="Rounded Rectangle 15"/>
          <p:cNvSpPr/>
          <p:nvPr/>
        </p:nvSpPr>
        <p:spPr>
          <a:xfrm>
            <a:off x="3611879" y="2057400"/>
            <a:ext cx="2057400" cy="914400"/>
          </a:xfrm>
          <a:prstGeom prst="round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21607" y="2176272"/>
            <a:ext cx="457200" cy="274320"/>
          </a:xfrm>
          <a:prstGeom prst="rect">
            <a:avLst/>
          </a:prstGeom>
          <a:noFill/>
        </p:spPr>
        <p:txBody>
          <a:bodyPr wrap="square" lIns="54864" rIns="54864" tIns="36576">
            <a:spAutoFit/>
          </a:bodyPr>
          <a:lstStyle/>
          <a:p>
            <a:pPr algn="l">
              <a:defRPr sz="2200" b="1">
                <a:solidFill>
                  <a:srgbClr val="0066CC"/>
                </a:solidFill>
                <a:latin typeface="Arial"/>
              </a:defRPr>
            </a:pPr>
            <a:r>
              <a:t>02</a:t>
            </a:r>
          </a:p>
        </p:txBody>
      </p:sp>
      <p:sp>
        <p:nvSpPr>
          <p:cNvPr id="18" name="TextBox 17"/>
          <p:cNvSpPr txBox="1"/>
          <p:nvPr/>
        </p:nvSpPr>
        <p:spPr>
          <a:xfrm>
            <a:off x="4251959" y="2212848"/>
            <a:ext cx="1234440" cy="228600"/>
          </a:xfrm>
          <a:prstGeom prst="rect">
            <a:avLst/>
          </a:prstGeom>
          <a:noFill/>
        </p:spPr>
        <p:txBody>
          <a:bodyPr wrap="square" lIns="54864" rIns="54864" tIns="36576">
            <a:spAutoFit/>
          </a:bodyPr>
          <a:lstStyle/>
          <a:p>
            <a:pPr algn="l">
              <a:defRPr sz="1600" b="1">
                <a:solidFill>
                  <a:srgbClr val="18375B"/>
                </a:solidFill>
                <a:latin typeface="Arial"/>
              </a:defRPr>
            </a:pPr>
            <a:r>
              <a:t>Dự đoán</a:t>
            </a:r>
          </a:p>
        </p:txBody>
      </p:sp>
      <p:sp>
        <p:nvSpPr>
          <p:cNvPr id="19" name="TextBox 18"/>
          <p:cNvSpPr txBox="1"/>
          <p:nvPr/>
        </p:nvSpPr>
        <p:spPr>
          <a:xfrm>
            <a:off x="5788152" y="2267712"/>
            <a:ext cx="548640" cy="228600"/>
          </a:xfrm>
          <a:prstGeom prst="rect">
            <a:avLst/>
          </a:prstGeom>
          <a:noFill/>
        </p:spPr>
        <p:txBody>
          <a:bodyPr wrap="square" lIns="54864" rIns="54864" tIns="36576">
            <a:spAutoFit/>
          </a:bodyPr>
          <a:lstStyle/>
          <a:p>
            <a:pPr algn="ctr">
              <a:defRPr sz="2400" b="1">
                <a:solidFill>
                  <a:srgbClr val="D3992A"/>
                </a:solidFill>
                <a:latin typeface="Arial"/>
              </a:defRPr>
            </a:pPr>
            <a:r>
              <a:t>→</a:t>
            </a:r>
          </a:p>
        </p:txBody>
      </p:sp>
      <p:sp>
        <p:nvSpPr>
          <p:cNvPr id="20" name="Rounded Rectangle 19"/>
          <p:cNvSpPr/>
          <p:nvPr/>
        </p:nvSpPr>
        <p:spPr>
          <a:xfrm>
            <a:off x="6400800" y="2057400"/>
            <a:ext cx="2057400" cy="914400"/>
          </a:xfrm>
          <a:prstGeom prst="round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10528" y="2176272"/>
            <a:ext cx="457200" cy="274320"/>
          </a:xfrm>
          <a:prstGeom prst="rect">
            <a:avLst/>
          </a:prstGeom>
          <a:noFill/>
        </p:spPr>
        <p:txBody>
          <a:bodyPr wrap="square" lIns="54864" rIns="54864" tIns="36576">
            <a:spAutoFit/>
          </a:bodyPr>
          <a:lstStyle/>
          <a:p>
            <a:pPr algn="l">
              <a:defRPr sz="2200" b="1">
                <a:solidFill>
                  <a:srgbClr val="0066CC"/>
                </a:solidFill>
                <a:latin typeface="Arial"/>
              </a:defRPr>
            </a:pPr>
            <a:r>
              <a:t>03</a:t>
            </a:r>
          </a:p>
        </p:txBody>
      </p:sp>
      <p:sp>
        <p:nvSpPr>
          <p:cNvPr id="22" name="TextBox 21"/>
          <p:cNvSpPr txBox="1"/>
          <p:nvPr/>
        </p:nvSpPr>
        <p:spPr>
          <a:xfrm>
            <a:off x="7040880" y="2212848"/>
            <a:ext cx="1234440" cy="228600"/>
          </a:xfrm>
          <a:prstGeom prst="rect">
            <a:avLst/>
          </a:prstGeom>
          <a:noFill/>
        </p:spPr>
        <p:txBody>
          <a:bodyPr wrap="square" lIns="54864" rIns="54864" tIns="36576">
            <a:spAutoFit/>
          </a:bodyPr>
          <a:lstStyle/>
          <a:p>
            <a:pPr algn="l">
              <a:defRPr sz="1600" b="1">
                <a:solidFill>
                  <a:srgbClr val="18375B"/>
                </a:solidFill>
                <a:latin typeface="Arial"/>
              </a:defRPr>
            </a:pPr>
            <a:r>
              <a:t>Thao tác</a:t>
            </a:r>
          </a:p>
        </p:txBody>
      </p:sp>
      <p:sp>
        <p:nvSpPr>
          <p:cNvPr id="23" name="TextBox 22"/>
          <p:cNvSpPr txBox="1"/>
          <p:nvPr/>
        </p:nvSpPr>
        <p:spPr>
          <a:xfrm>
            <a:off x="8577072" y="2267712"/>
            <a:ext cx="548640" cy="228600"/>
          </a:xfrm>
          <a:prstGeom prst="rect">
            <a:avLst/>
          </a:prstGeom>
          <a:noFill/>
        </p:spPr>
        <p:txBody>
          <a:bodyPr wrap="square" lIns="54864" rIns="54864" tIns="36576">
            <a:spAutoFit/>
          </a:bodyPr>
          <a:lstStyle/>
          <a:p>
            <a:pPr algn="ctr">
              <a:defRPr sz="2400" b="1">
                <a:solidFill>
                  <a:srgbClr val="D3992A"/>
                </a:solidFill>
                <a:latin typeface="Arial"/>
              </a:defRPr>
            </a:pPr>
            <a:r>
              <a:t>→</a:t>
            </a:r>
          </a:p>
        </p:txBody>
      </p:sp>
      <p:sp>
        <p:nvSpPr>
          <p:cNvPr id="24" name="Rounded Rectangle 23"/>
          <p:cNvSpPr/>
          <p:nvPr/>
        </p:nvSpPr>
        <p:spPr>
          <a:xfrm>
            <a:off x="9189719" y="2057400"/>
            <a:ext cx="2057400" cy="914400"/>
          </a:xfrm>
          <a:prstGeom prst="round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99447" y="2176272"/>
            <a:ext cx="457200" cy="274320"/>
          </a:xfrm>
          <a:prstGeom prst="rect">
            <a:avLst/>
          </a:prstGeom>
          <a:noFill/>
        </p:spPr>
        <p:txBody>
          <a:bodyPr wrap="square" lIns="54864" rIns="54864" tIns="36576">
            <a:spAutoFit/>
          </a:bodyPr>
          <a:lstStyle/>
          <a:p>
            <a:pPr algn="l">
              <a:defRPr sz="2200" b="1">
                <a:solidFill>
                  <a:srgbClr val="0066CC"/>
                </a:solidFill>
                <a:latin typeface="Arial"/>
              </a:defRPr>
            </a:pPr>
            <a:r>
              <a:t>04</a:t>
            </a:r>
          </a:p>
        </p:txBody>
      </p:sp>
      <p:sp>
        <p:nvSpPr>
          <p:cNvPr id="26" name="TextBox 25"/>
          <p:cNvSpPr txBox="1"/>
          <p:nvPr/>
        </p:nvSpPr>
        <p:spPr>
          <a:xfrm>
            <a:off x="9829799" y="2212848"/>
            <a:ext cx="1234440" cy="228600"/>
          </a:xfrm>
          <a:prstGeom prst="rect">
            <a:avLst/>
          </a:prstGeom>
          <a:noFill/>
        </p:spPr>
        <p:txBody>
          <a:bodyPr wrap="square" lIns="54864" rIns="54864" tIns="36576">
            <a:spAutoFit/>
          </a:bodyPr>
          <a:lstStyle/>
          <a:p>
            <a:pPr algn="l">
              <a:defRPr sz="1600" b="1">
                <a:solidFill>
                  <a:srgbClr val="18375B"/>
                </a:solidFill>
                <a:latin typeface="Arial"/>
              </a:defRPr>
            </a:pPr>
            <a:r>
              <a:t>Phản hồi</a:t>
            </a:r>
          </a:p>
        </p:txBody>
      </p:sp>
      <p:sp>
        <p:nvSpPr>
          <p:cNvPr id="27" name="Rectangle 26"/>
          <p:cNvSpPr/>
          <p:nvPr/>
        </p:nvSpPr>
        <p:spPr>
          <a:xfrm>
            <a:off x="740664" y="3666744"/>
            <a:ext cx="2313432" cy="2039112"/>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03_man1_doan1_doc_va_doan.jpg"/>
          <p:cNvPicPr>
            <a:picLocks noChangeAspect="1"/>
          </p:cNvPicPr>
          <p:nvPr/>
        </p:nvPicPr>
        <p:blipFill>
          <a:blip r:embed="rId4"/>
          <a:stretch>
            <a:fillRect/>
          </a:stretch>
        </p:blipFill>
        <p:spPr>
          <a:xfrm>
            <a:off x="1442883" y="3703320"/>
            <a:ext cx="908992" cy="1965960"/>
          </a:xfrm>
          <a:prstGeom prst="rect">
            <a:avLst/>
          </a:prstGeom>
        </p:spPr>
      </p:pic>
      <p:sp>
        <p:nvSpPr>
          <p:cNvPr id="29" name="Rectangle 28"/>
          <p:cNvSpPr/>
          <p:nvPr/>
        </p:nvSpPr>
        <p:spPr>
          <a:xfrm>
            <a:off x="3529584" y="3666744"/>
            <a:ext cx="2313432" cy="2039112"/>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05_man1_doan1_viet_du.jpg"/>
          <p:cNvPicPr>
            <a:picLocks noChangeAspect="1"/>
          </p:cNvPicPr>
          <p:nvPr/>
        </p:nvPicPr>
        <p:blipFill>
          <a:blip r:embed="rId5"/>
          <a:stretch>
            <a:fillRect/>
          </a:stretch>
        </p:blipFill>
        <p:spPr>
          <a:xfrm>
            <a:off x="4231803" y="3703320"/>
            <a:ext cx="908992" cy="1965960"/>
          </a:xfrm>
          <a:prstGeom prst="rect">
            <a:avLst/>
          </a:prstGeom>
        </p:spPr>
      </p:pic>
      <p:sp>
        <p:nvSpPr>
          <p:cNvPr id="31" name="Rectangle 30"/>
          <p:cNvSpPr/>
          <p:nvPr/>
        </p:nvSpPr>
        <p:spPr>
          <a:xfrm>
            <a:off x="6318503" y="3666744"/>
            <a:ext cx="2313432" cy="2039112"/>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06_man1_doan1_dap_an.jpg"/>
          <p:cNvPicPr>
            <a:picLocks noChangeAspect="1"/>
          </p:cNvPicPr>
          <p:nvPr/>
        </p:nvPicPr>
        <p:blipFill>
          <a:blip r:embed="rId6"/>
          <a:stretch>
            <a:fillRect/>
          </a:stretch>
        </p:blipFill>
        <p:spPr>
          <a:xfrm>
            <a:off x="7020723" y="3703320"/>
            <a:ext cx="908992" cy="1965960"/>
          </a:xfrm>
          <a:prstGeom prst="rect">
            <a:avLst/>
          </a:prstGeom>
        </p:spPr>
      </p:pic>
      <p:sp>
        <p:nvSpPr>
          <p:cNvPr id="33" name="Rectangle 32"/>
          <p:cNvSpPr/>
          <p:nvPr/>
        </p:nvSpPr>
        <p:spPr>
          <a:xfrm>
            <a:off x="9107424" y="3666744"/>
            <a:ext cx="2313432" cy="2039112"/>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08_man1_bang_dau_hieu.jpg"/>
          <p:cNvPicPr>
            <a:picLocks noChangeAspect="1"/>
          </p:cNvPicPr>
          <p:nvPr/>
        </p:nvPicPr>
        <p:blipFill>
          <a:blip r:embed="rId7"/>
          <a:stretch>
            <a:fillRect/>
          </a:stretch>
        </p:blipFill>
        <p:spPr>
          <a:xfrm>
            <a:off x="9809643" y="3703320"/>
            <a:ext cx="908992" cy="1965960"/>
          </a:xfrm>
          <a:prstGeom prst="rect">
            <a:avLst/>
          </a:prstGeom>
        </p:spPr>
      </p:pic>
      <p:sp>
        <p:nvSpPr>
          <p:cNvPr id="35" name="TextBox 34"/>
          <p:cNvSpPr txBox="1"/>
          <p:nvPr/>
        </p:nvSpPr>
        <p:spPr>
          <a:xfrm>
            <a:off x="777240" y="5806440"/>
            <a:ext cx="10607040" cy="274320"/>
          </a:xfrm>
          <a:prstGeom prst="rect">
            <a:avLst/>
          </a:prstGeom>
          <a:noFill/>
        </p:spPr>
        <p:txBody>
          <a:bodyPr wrap="square" lIns="54864" rIns="54864" tIns="36576">
            <a:spAutoFit/>
          </a:bodyPr>
          <a:lstStyle/>
          <a:p>
            <a:pPr algn="ctr">
              <a:defRPr sz="1700" b="1">
                <a:solidFill>
                  <a:srgbClr val="18375B"/>
                </a:solidFill>
                <a:latin typeface="Arial"/>
              </a:defRPr>
            </a:pPr>
            <a:r>
              <a:t>Một hoạt động hoàn chỉnh: học sinh phán đoán trước, thao tác, nhận phản hồi rồi tự rút ra kết luận.</a:t>
            </a:r>
          </a:p>
        </p:txBody>
      </p:sp>
      <p:sp>
        <p:nvSpPr>
          <p:cNvPr id="36" name="Rectangle 35"/>
          <p:cNvSpPr/>
          <p:nvPr/>
        </p:nvSpPr>
        <p:spPr>
          <a:xfrm>
            <a:off x="1005840" y="4114800"/>
            <a:ext cx="1645920" cy="1097280"/>
          </a:xfrm>
          <a:prstGeom prst="rect">
            <a:avLst/>
          </a:prstGeom>
          <a:noFill/>
          <a:ln w="508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3232"/>
                </a:solidFill>
                <a:latin typeface="Arial"/>
              </a:defRPr>
            </a:pPr>
            <a:r>
              <a:t>Đọc</a:t>
            </a:r>
          </a:p>
        </p:txBody>
      </p:sp>
      <p:sp>
        <p:nvSpPr>
          <p:cNvPr id="37" name="Rectangle 36"/>
          <p:cNvSpPr/>
          <p:nvPr/>
        </p:nvSpPr>
        <p:spPr>
          <a:xfrm>
            <a:off x="3794760" y="4114800"/>
            <a:ext cx="1645920" cy="1097280"/>
          </a:xfrm>
          <a:prstGeom prst="rect">
            <a:avLst/>
          </a:prstGeom>
          <a:noFill/>
          <a:ln w="508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3232"/>
                </a:solidFill>
                <a:latin typeface="Arial"/>
              </a:defRPr>
            </a:pPr>
            <a:r>
              <a:t>Viết</a:t>
            </a:r>
          </a:p>
        </p:txBody>
      </p:sp>
      <p:sp>
        <p:nvSpPr>
          <p:cNvPr id="38" name="Rectangle 37"/>
          <p:cNvSpPr/>
          <p:nvPr/>
        </p:nvSpPr>
        <p:spPr>
          <a:xfrm>
            <a:off x="6583680" y="4114800"/>
            <a:ext cx="1645920" cy="1097280"/>
          </a:xfrm>
          <a:prstGeom prst="rect">
            <a:avLst/>
          </a:prstGeom>
          <a:noFill/>
          <a:ln w="508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3232"/>
                </a:solidFill>
                <a:latin typeface="Arial"/>
              </a:defRPr>
            </a:pPr>
            <a:r>
              <a:t>Xem</a:t>
            </a:r>
          </a:p>
        </p:txBody>
      </p:sp>
      <p:sp>
        <p:nvSpPr>
          <p:cNvPr id="39" name="Rectangle 38"/>
          <p:cNvSpPr/>
          <p:nvPr/>
        </p:nvSpPr>
        <p:spPr>
          <a:xfrm>
            <a:off x="9372600" y="4114800"/>
            <a:ext cx="1645920" cy="1097280"/>
          </a:xfrm>
          <a:prstGeom prst="rect">
            <a:avLst/>
          </a:prstGeom>
          <a:noFill/>
          <a:ln w="508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3232"/>
                </a:solidFill>
                <a:latin typeface="Arial"/>
              </a:defRPr>
            </a:pPr>
            <a:r>
              <a:t>Đối chiếu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8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dhsp_hue.png"/>
          <p:cNvPicPr>
            <a:picLocks noChangeAspect="1"/>
          </p:cNvPicPr>
          <p:nvPr/>
        </p:nvPicPr>
        <p:blipFill>
          <a:blip r:embed="rId2"/>
          <a:stretch>
            <a:fillRect/>
          </a:stretch>
        </p:blipFill>
        <p:spPr>
          <a:xfrm>
            <a:off x="384048" y="155448"/>
            <a:ext cx="530352" cy="530352"/>
          </a:xfrm>
          <a:prstGeom prst="rect">
            <a:avLst/>
          </a:prstGeom>
        </p:spPr>
      </p:pic>
      <p:pic>
        <p:nvPicPr>
          <p:cNvPr id="4" name="Picture 3" descr="logo_thpt_thuan_hoa.png"/>
          <p:cNvPicPr>
            <a:picLocks noChangeAspect="1"/>
          </p:cNvPicPr>
          <p:nvPr/>
        </p:nvPicPr>
        <p:blipFill>
          <a:blip r:embed="rId3"/>
          <a:stretch>
            <a:fillRect/>
          </a:stretch>
        </p:blipFill>
        <p:spPr>
          <a:xfrm>
            <a:off x="1024128" y="155448"/>
            <a:ext cx="530352" cy="530352"/>
          </a:xfrm>
          <a:prstGeom prst="rect">
            <a:avLst/>
          </a:prstGeom>
        </p:spPr>
      </p:pic>
      <p:sp>
        <p:nvSpPr>
          <p:cNvPr id="5" name="TextBox 4"/>
          <p:cNvSpPr txBox="1"/>
          <p:nvPr/>
        </p:nvSpPr>
        <p:spPr>
          <a:xfrm>
            <a:off x="1664208" y="155448"/>
            <a:ext cx="4023360" cy="237744"/>
          </a:xfrm>
          <a:prstGeom prst="rect">
            <a:avLst/>
          </a:prstGeom>
          <a:noFill/>
        </p:spPr>
        <p:txBody>
          <a:bodyPr wrap="square" lIns="54864" rIns="54864" tIns="36576">
            <a:spAutoFit/>
          </a:bodyPr>
          <a:lstStyle/>
          <a:p>
            <a:pPr algn="l">
              <a:defRPr sz="1100" b="1">
                <a:solidFill>
                  <a:srgbClr val="18375B"/>
                </a:solidFill>
                <a:latin typeface="Arial"/>
              </a:defRPr>
            </a:pPr>
            <a:r>
              <a:t>Trường THPT Thuận Hoá</a:t>
            </a:r>
          </a:p>
        </p:txBody>
      </p:sp>
      <p:sp>
        <p:nvSpPr>
          <p:cNvPr id="6" name="TextBox 5"/>
          <p:cNvSpPr txBox="1"/>
          <p:nvPr/>
        </p:nvSpPr>
        <p:spPr>
          <a:xfrm>
            <a:off x="1664208" y="411480"/>
            <a:ext cx="4114800" cy="201168"/>
          </a:xfrm>
          <a:prstGeom prst="rect">
            <a:avLst/>
          </a:prstGeom>
          <a:noFill/>
        </p:spPr>
        <p:txBody>
          <a:bodyPr wrap="square" lIns="54864" rIns="54864" tIns="36576">
            <a:spAutoFit/>
          </a:bodyPr>
          <a:lstStyle/>
          <a:p>
            <a:pPr algn="l">
              <a:defRPr sz="950" b="0">
                <a:solidFill>
                  <a:srgbClr val="646E78"/>
                </a:solidFill>
                <a:latin typeface="Arial"/>
              </a:defRPr>
            </a:pPr>
            <a:r>
              <a:t>Trường Đại học Sư Phạm, Đại học Huế</a:t>
            </a:r>
          </a:p>
        </p:txBody>
      </p:sp>
      <p:sp>
        <p:nvSpPr>
          <p:cNvPr id="7" name="TextBox 6"/>
          <p:cNvSpPr txBox="1"/>
          <p:nvPr/>
        </p:nvSpPr>
        <p:spPr>
          <a:xfrm>
            <a:off x="5486400" y="246888"/>
            <a:ext cx="6217920" cy="274320"/>
          </a:xfrm>
          <a:prstGeom prst="rect">
            <a:avLst/>
          </a:prstGeom>
          <a:noFill/>
        </p:spPr>
        <p:txBody>
          <a:bodyPr wrap="square" lIns="54864" rIns="54864" tIns="36576">
            <a:spAutoFit/>
          </a:bodyPr>
          <a:lstStyle/>
          <a:p>
            <a:pPr algn="r">
              <a:defRPr sz="1400" b="1">
                <a:solidFill>
                  <a:srgbClr val="18375B"/>
                </a:solidFill>
                <a:latin typeface="Arial"/>
              </a:defRPr>
            </a:pPr>
            <a:r>
              <a:t>03 · TRIỂN KHAI</a:t>
            </a:r>
          </a:p>
        </p:txBody>
      </p:sp>
      <p:sp>
        <p:nvSpPr>
          <p:cNvPr id="8" name="Rectangle 7"/>
          <p:cNvSpPr/>
          <p:nvPr/>
        </p:nvSpPr>
        <p:spPr>
          <a:xfrm>
            <a:off x="384048" y="914400"/>
            <a:ext cx="11430000" cy="12700"/>
          </a:xfrm>
          <a:prstGeom prst="rect">
            <a:avLst/>
          </a:prstGeom>
          <a:solidFill>
            <a:srgbClr val="D2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6473952"/>
            <a:ext cx="3657600" cy="182880"/>
          </a:xfrm>
          <a:prstGeom prst="rect">
            <a:avLst/>
          </a:prstGeom>
          <a:noFill/>
        </p:spPr>
        <p:txBody>
          <a:bodyPr wrap="square" lIns="54864" rIns="54864" tIns="36576">
            <a:spAutoFit/>
          </a:bodyPr>
          <a:lstStyle/>
          <a:p>
            <a:pPr algn="l">
              <a:defRPr sz="900" b="0">
                <a:solidFill>
                  <a:srgbClr val="646E78"/>
                </a:solidFill>
                <a:latin typeface="Arial"/>
              </a:defRPr>
            </a:pPr>
            <a:r>
              <a:t>GV: Mai Xuân Văn</a:t>
            </a:r>
          </a:p>
        </p:txBody>
      </p:sp>
      <p:sp>
        <p:nvSpPr>
          <p:cNvPr id="10" name="TextBox 9"/>
          <p:cNvSpPr txBox="1"/>
          <p:nvPr/>
        </p:nvSpPr>
        <p:spPr>
          <a:xfrm>
            <a:off x="11292840" y="6473952"/>
            <a:ext cx="411480" cy="182880"/>
          </a:xfrm>
          <a:prstGeom prst="rect">
            <a:avLst/>
          </a:prstGeom>
          <a:noFill/>
        </p:spPr>
        <p:txBody>
          <a:bodyPr wrap="square" lIns="54864" rIns="54864" tIns="36576">
            <a:spAutoFit/>
          </a:bodyPr>
          <a:lstStyle/>
          <a:p>
            <a:pPr algn="r">
              <a:defRPr sz="900" b="0">
                <a:solidFill>
                  <a:srgbClr val="646E78"/>
                </a:solidFill>
                <a:latin typeface="Arial"/>
              </a:defRPr>
            </a:pPr>
            <a:r>
              <a:t>6</a:t>
            </a:r>
          </a:p>
        </p:txBody>
      </p:sp>
      <p:sp>
        <p:nvSpPr>
          <p:cNvPr id="11" name="TextBox 10"/>
          <p:cNvSpPr txBox="1"/>
          <p:nvPr/>
        </p:nvSpPr>
        <p:spPr>
          <a:xfrm>
            <a:off x="502920" y="1115568"/>
            <a:ext cx="11155680" cy="384048"/>
          </a:xfrm>
          <a:prstGeom prst="rect">
            <a:avLst/>
          </a:prstGeom>
          <a:noFill/>
        </p:spPr>
        <p:txBody>
          <a:bodyPr wrap="square" lIns="54864" rIns="54864" tIns="36576">
            <a:spAutoFit/>
          </a:bodyPr>
          <a:lstStyle/>
          <a:p>
            <a:pPr algn="l">
              <a:defRPr sz="2600" b="1">
                <a:solidFill>
                  <a:srgbClr val="18375B"/>
                </a:solidFill>
                <a:latin typeface="Arial"/>
              </a:defRPr>
            </a:pPr>
            <a:r>
              <a:t>Một phiên học diễn ra như thế nào?</a:t>
            </a:r>
          </a:p>
        </p:txBody>
      </p:sp>
      <p:sp>
        <p:nvSpPr>
          <p:cNvPr id="12" name="TextBox 11"/>
          <p:cNvSpPr txBox="1"/>
          <p:nvPr/>
        </p:nvSpPr>
        <p:spPr>
          <a:xfrm>
            <a:off x="530352" y="1536192"/>
            <a:ext cx="10972800" cy="256032"/>
          </a:xfrm>
          <a:prstGeom prst="rect">
            <a:avLst/>
          </a:prstGeom>
          <a:noFill/>
        </p:spPr>
        <p:txBody>
          <a:bodyPr wrap="square" lIns="54864" rIns="54864" tIns="36576">
            <a:spAutoFit/>
          </a:bodyPr>
          <a:lstStyle/>
          <a:p>
            <a:pPr algn="l">
              <a:defRPr sz="1200" b="0">
                <a:solidFill>
                  <a:srgbClr val="646E78"/>
                </a:solidFill>
                <a:latin typeface="Arial"/>
              </a:defRPr>
            </a:pPr>
            <a:r>
              <a:t>Các trạng thái dưới đây là ảnh chụp thật của sản phẩm</a:t>
            </a:r>
          </a:p>
        </p:txBody>
      </p:sp>
      <p:sp>
        <p:nvSpPr>
          <p:cNvPr id="13" name="Rectangle 12"/>
          <p:cNvSpPr/>
          <p:nvPr/>
        </p:nvSpPr>
        <p:spPr>
          <a:xfrm>
            <a:off x="649224" y="1792224"/>
            <a:ext cx="2404872" cy="3685032"/>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03_man1_doan1_doc_va_doan.jpg"/>
          <p:cNvPicPr>
            <a:picLocks noChangeAspect="1"/>
          </p:cNvPicPr>
          <p:nvPr/>
        </p:nvPicPr>
        <p:blipFill>
          <a:blip r:embed="rId4"/>
          <a:stretch>
            <a:fillRect/>
          </a:stretch>
        </p:blipFill>
        <p:spPr>
          <a:xfrm>
            <a:off x="1016655" y="1828800"/>
            <a:ext cx="1670009" cy="3611880"/>
          </a:xfrm>
          <a:prstGeom prst="rect">
            <a:avLst/>
          </a:prstGeom>
        </p:spPr>
      </p:pic>
      <p:sp>
        <p:nvSpPr>
          <p:cNvPr id="15" name="TextBox 14"/>
          <p:cNvSpPr txBox="1"/>
          <p:nvPr/>
        </p:nvSpPr>
        <p:spPr>
          <a:xfrm>
            <a:off x="685800" y="5577840"/>
            <a:ext cx="2331720" cy="228600"/>
          </a:xfrm>
          <a:prstGeom prst="rect">
            <a:avLst/>
          </a:prstGeom>
          <a:noFill/>
        </p:spPr>
        <p:txBody>
          <a:bodyPr wrap="square" lIns="54864" rIns="54864" tIns="36576">
            <a:spAutoFit/>
          </a:bodyPr>
          <a:lstStyle/>
          <a:p>
            <a:pPr algn="ctr">
              <a:defRPr sz="1000" b="0">
                <a:solidFill>
                  <a:srgbClr val="646E78"/>
                </a:solidFill>
                <a:latin typeface="Arial"/>
              </a:defRPr>
            </a:pPr>
            <a:r>
              <a:t>1 · Đọc tình huống</a:t>
            </a:r>
          </a:p>
        </p:txBody>
      </p:sp>
      <p:sp>
        <p:nvSpPr>
          <p:cNvPr id="16" name="Rectangle 15"/>
          <p:cNvSpPr/>
          <p:nvPr/>
        </p:nvSpPr>
        <p:spPr>
          <a:xfrm>
            <a:off x="3438144" y="1792224"/>
            <a:ext cx="2404872" cy="3685032"/>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05_man1_doan1_viet_du.jpg"/>
          <p:cNvPicPr>
            <a:picLocks noChangeAspect="1"/>
          </p:cNvPicPr>
          <p:nvPr/>
        </p:nvPicPr>
        <p:blipFill>
          <a:blip r:embed="rId5"/>
          <a:stretch>
            <a:fillRect/>
          </a:stretch>
        </p:blipFill>
        <p:spPr>
          <a:xfrm>
            <a:off x="3805575" y="1828800"/>
            <a:ext cx="1670009" cy="3611880"/>
          </a:xfrm>
          <a:prstGeom prst="rect">
            <a:avLst/>
          </a:prstGeom>
        </p:spPr>
      </p:pic>
      <p:sp>
        <p:nvSpPr>
          <p:cNvPr id="18" name="TextBox 17"/>
          <p:cNvSpPr txBox="1"/>
          <p:nvPr/>
        </p:nvSpPr>
        <p:spPr>
          <a:xfrm>
            <a:off x="3474720" y="5577840"/>
            <a:ext cx="2331720" cy="228600"/>
          </a:xfrm>
          <a:prstGeom prst="rect">
            <a:avLst/>
          </a:prstGeom>
          <a:noFill/>
        </p:spPr>
        <p:txBody>
          <a:bodyPr wrap="square" lIns="54864" rIns="54864" tIns="36576">
            <a:spAutoFit/>
          </a:bodyPr>
          <a:lstStyle/>
          <a:p>
            <a:pPr algn="ctr">
              <a:defRPr sz="1000" b="0">
                <a:solidFill>
                  <a:srgbClr val="646E78"/>
                </a:solidFill>
                <a:latin typeface="Arial"/>
              </a:defRPr>
            </a:pPr>
            <a:r>
              <a:t>2 · Đưa ra phán đoán</a:t>
            </a:r>
          </a:p>
        </p:txBody>
      </p:sp>
      <p:sp>
        <p:nvSpPr>
          <p:cNvPr id="19" name="Rectangle 18"/>
          <p:cNvSpPr/>
          <p:nvPr/>
        </p:nvSpPr>
        <p:spPr>
          <a:xfrm>
            <a:off x="6227064" y="1792224"/>
            <a:ext cx="2404872" cy="3685032"/>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06_man1_doan1_dap_an.jpg"/>
          <p:cNvPicPr>
            <a:picLocks noChangeAspect="1"/>
          </p:cNvPicPr>
          <p:nvPr/>
        </p:nvPicPr>
        <p:blipFill>
          <a:blip r:embed="rId6"/>
          <a:stretch>
            <a:fillRect/>
          </a:stretch>
        </p:blipFill>
        <p:spPr>
          <a:xfrm>
            <a:off x="6594495" y="1828800"/>
            <a:ext cx="1670009" cy="3611880"/>
          </a:xfrm>
          <a:prstGeom prst="rect">
            <a:avLst/>
          </a:prstGeom>
        </p:spPr>
      </p:pic>
      <p:sp>
        <p:nvSpPr>
          <p:cNvPr id="21" name="TextBox 20"/>
          <p:cNvSpPr txBox="1"/>
          <p:nvPr/>
        </p:nvSpPr>
        <p:spPr>
          <a:xfrm>
            <a:off x="6263640" y="5577840"/>
            <a:ext cx="2331720" cy="228600"/>
          </a:xfrm>
          <a:prstGeom prst="rect">
            <a:avLst/>
          </a:prstGeom>
          <a:noFill/>
        </p:spPr>
        <p:txBody>
          <a:bodyPr wrap="square" lIns="54864" rIns="54864" tIns="36576">
            <a:spAutoFit/>
          </a:bodyPr>
          <a:lstStyle/>
          <a:p>
            <a:pPr algn="ctr">
              <a:defRPr sz="1000" b="0">
                <a:solidFill>
                  <a:srgbClr val="646E78"/>
                </a:solidFill>
                <a:latin typeface="Arial"/>
              </a:defRPr>
            </a:pPr>
            <a:r>
              <a:t>3 · Nhận kết quả</a:t>
            </a:r>
          </a:p>
        </p:txBody>
      </p:sp>
      <p:sp>
        <p:nvSpPr>
          <p:cNvPr id="22" name="Rectangle 21"/>
          <p:cNvSpPr/>
          <p:nvPr/>
        </p:nvSpPr>
        <p:spPr>
          <a:xfrm>
            <a:off x="9015984" y="1792224"/>
            <a:ext cx="2404872" cy="3685032"/>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08_man1_bang_dau_hieu.jpg"/>
          <p:cNvPicPr>
            <a:picLocks noChangeAspect="1"/>
          </p:cNvPicPr>
          <p:nvPr/>
        </p:nvPicPr>
        <p:blipFill>
          <a:blip r:embed="rId7"/>
          <a:stretch>
            <a:fillRect/>
          </a:stretch>
        </p:blipFill>
        <p:spPr>
          <a:xfrm>
            <a:off x="9383415" y="1828800"/>
            <a:ext cx="1670009" cy="3611880"/>
          </a:xfrm>
          <a:prstGeom prst="rect">
            <a:avLst/>
          </a:prstGeom>
        </p:spPr>
      </p:pic>
      <p:sp>
        <p:nvSpPr>
          <p:cNvPr id="24" name="TextBox 23"/>
          <p:cNvSpPr txBox="1"/>
          <p:nvPr/>
        </p:nvSpPr>
        <p:spPr>
          <a:xfrm>
            <a:off x="9052559" y="5577840"/>
            <a:ext cx="2331720" cy="228600"/>
          </a:xfrm>
          <a:prstGeom prst="rect">
            <a:avLst/>
          </a:prstGeom>
          <a:noFill/>
        </p:spPr>
        <p:txBody>
          <a:bodyPr wrap="square" lIns="54864" rIns="54864" tIns="36576">
            <a:spAutoFit/>
          </a:bodyPr>
          <a:lstStyle/>
          <a:p>
            <a:pPr algn="ctr">
              <a:defRPr sz="1000" b="0">
                <a:solidFill>
                  <a:srgbClr val="646E78"/>
                </a:solidFill>
                <a:latin typeface="Arial"/>
              </a:defRPr>
            </a:pPr>
            <a:r>
              <a:t>4 · Xem dấu hiệu</a:t>
            </a:r>
          </a:p>
        </p:txBody>
      </p:sp>
      <p:sp>
        <p:nvSpPr>
          <p:cNvPr id="25" name="TextBox 24"/>
          <p:cNvSpPr txBox="1"/>
          <p:nvPr/>
        </p:nvSpPr>
        <p:spPr>
          <a:xfrm>
            <a:off x="777240" y="5989320"/>
            <a:ext cx="10607040" cy="256032"/>
          </a:xfrm>
          <a:prstGeom prst="rect">
            <a:avLst/>
          </a:prstGeom>
          <a:noFill/>
        </p:spPr>
        <p:txBody>
          <a:bodyPr wrap="square" lIns="54864" rIns="54864" tIns="36576">
            <a:spAutoFit/>
          </a:bodyPr>
          <a:lstStyle/>
          <a:p>
            <a:pPr algn="ctr">
              <a:defRPr sz="1700" b="1">
                <a:solidFill>
                  <a:srgbClr val="18375B"/>
                </a:solidFill>
                <a:latin typeface="Arial"/>
              </a:defRPr>
            </a:pPr>
            <a:r>
              <a:t>Giá trị sư phạm nằm ở khoảng thời gian trước khi xem đáp án.</a:t>
            </a:r>
          </a:p>
        </p:txBody>
      </p:sp>
      <p:sp>
        <p:nvSpPr>
          <p:cNvPr id="26" name="Rectangle 25"/>
          <p:cNvSpPr/>
          <p:nvPr/>
        </p:nvSpPr>
        <p:spPr>
          <a:xfrm>
            <a:off x="914400" y="2286000"/>
            <a:ext cx="1828800" cy="731520"/>
          </a:xfrm>
          <a:prstGeom prst="rect">
            <a:avLst/>
          </a:prstGeom>
          <a:noFill/>
          <a:ln w="508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3232"/>
                </a:solidFill>
                <a:latin typeface="Arial"/>
              </a:defRPr>
            </a:pPr>
            <a:r>
              <a:t>Câu hỏi</a:t>
            </a:r>
          </a:p>
        </p:txBody>
      </p:sp>
      <p:sp>
        <p:nvSpPr>
          <p:cNvPr id="27" name="Rectangle 26"/>
          <p:cNvSpPr/>
          <p:nvPr/>
        </p:nvSpPr>
        <p:spPr>
          <a:xfrm>
            <a:off x="3703320" y="3200400"/>
            <a:ext cx="1828800" cy="1097280"/>
          </a:xfrm>
          <a:prstGeom prst="rect">
            <a:avLst/>
          </a:prstGeom>
          <a:noFill/>
          <a:ln w="508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3232"/>
                </a:solidFill>
                <a:latin typeface="Arial"/>
              </a:defRPr>
            </a:pPr>
            <a:r>
              <a:t>Lý do</a:t>
            </a:r>
          </a:p>
        </p:txBody>
      </p:sp>
      <p:sp>
        <p:nvSpPr>
          <p:cNvPr id="28" name="Rectangle 27"/>
          <p:cNvSpPr/>
          <p:nvPr/>
        </p:nvSpPr>
        <p:spPr>
          <a:xfrm>
            <a:off x="6492240" y="2743200"/>
            <a:ext cx="1828800" cy="914400"/>
          </a:xfrm>
          <a:prstGeom prst="rect">
            <a:avLst/>
          </a:prstGeom>
          <a:noFill/>
          <a:ln w="508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3232"/>
                </a:solidFill>
                <a:latin typeface="Arial"/>
              </a:defRPr>
            </a:pPr>
            <a:r>
              <a:t>Kết quả</a:t>
            </a:r>
          </a:p>
        </p:txBody>
      </p:sp>
      <p:sp>
        <p:nvSpPr>
          <p:cNvPr id="29" name="Rectangle 28"/>
          <p:cNvSpPr/>
          <p:nvPr/>
        </p:nvSpPr>
        <p:spPr>
          <a:xfrm>
            <a:off x="9281160" y="2926080"/>
            <a:ext cx="1828800" cy="1371600"/>
          </a:xfrm>
          <a:prstGeom prst="rect">
            <a:avLst/>
          </a:prstGeom>
          <a:noFill/>
          <a:ln w="508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3232"/>
                </a:solidFill>
                <a:latin typeface="Arial"/>
              </a:defRPr>
            </a:pPr>
            <a:r>
              <a:t>Dấu hiệu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8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dhsp_hue.png"/>
          <p:cNvPicPr>
            <a:picLocks noChangeAspect="1"/>
          </p:cNvPicPr>
          <p:nvPr/>
        </p:nvPicPr>
        <p:blipFill>
          <a:blip r:embed="rId2"/>
          <a:stretch>
            <a:fillRect/>
          </a:stretch>
        </p:blipFill>
        <p:spPr>
          <a:xfrm>
            <a:off x="384048" y="155448"/>
            <a:ext cx="530352" cy="530352"/>
          </a:xfrm>
          <a:prstGeom prst="rect">
            <a:avLst/>
          </a:prstGeom>
        </p:spPr>
      </p:pic>
      <p:pic>
        <p:nvPicPr>
          <p:cNvPr id="4" name="Picture 3" descr="logo_thpt_thuan_hoa.png"/>
          <p:cNvPicPr>
            <a:picLocks noChangeAspect="1"/>
          </p:cNvPicPr>
          <p:nvPr/>
        </p:nvPicPr>
        <p:blipFill>
          <a:blip r:embed="rId3"/>
          <a:stretch>
            <a:fillRect/>
          </a:stretch>
        </p:blipFill>
        <p:spPr>
          <a:xfrm>
            <a:off x="1024128" y="155448"/>
            <a:ext cx="530352" cy="530352"/>
          </a:xfrm>
          <a:prstGeom prst="rect">
            <a:avLst/>
          </a:prstGeom>
        </p:spPr>
      </p:pic>
      <p:sp>
        <p:nvSpPr>
          <p:cNvPr id="5" name="TextBox 4"/>
          <p:cNvSpPr txBox="1"/>
          <p:nvPr/>
        </p:nvSpPr>
        <p:spPr>
          <a:xfrm>
            <a:off x="1664208" y="155448"/>
            <a:ext cx="4023360" cy="237744"/>
          </a:xfrm>
          <a:prstGeom prst="rect">
            <a:avLst/>
          </a:prstGeom>
          <a:noFill/>
        </p:spPr>
        <p:txBody>
          <a:bodyPr wrap="square" lIns="54864" rIns="54864" tIns="36576">
            <a:spAutoFit/>
          </a:bodyPr>
          <a:lstStyle/>
          <a:p>
            <a:pPr algn="l">
              <a:defRPr sz="1100" b="1">
                <a:solidFill>
                  <a:srgbClr val="18375B"/>
                </a:solidFill>
                <a:latin typeface="Arial"/>
              </a:defRPr>
            </a:pPr>
            <a:r>
              <a:t>Trường THPT Thuận Hoá</a:t>
            </a:r>
          </a:p>
        </p:txBody>
      </p:sp>
      <p:sp>
        <p:nvSpPr>
          <p:cNvPr id="6" name="TextBox 5"/>
          <p:cNvSpPr txBox="1"/>
          <p:nvPr/>
        </p:nvSpPr>
        <p:spPr>
          <a:xfrm>
            <a:off x="1664208" y="411480"/>
            <a:ext cx="4114800" cy="201168"/>
          </a:xfrm>
          <a:prstGeom prst="rect">
            <a:avLst/>
          </a:prstGeom>
          <a:noFill/>
        </p:spPr>
        <p:txBody>
          <a:bodyPr wrap="square" lIns="54864" rIns="54864" tIns="36576">
            <a:spAutoFit/>
          </a:bodyPr>
          <a:lstStyle/>
          <a:p>
            <a:pPr algn="l">
              <a:defRPr sz="950" b="0">
                <a:solidFill>
                  <a:srgbClr val="646E78"/>
                </a:solidFill>
                <a:latin typeface="Arial"/>
              </a:defRPr>
            </a:pPr>
            <a:r>
              <a:t>Trường Đại học Sư Phạm, Đại học Huế</a:t>
            </a:r>
          </a:p>
        </p:txBody>
      </p:sp>
      <p:sp>
        <p:nvSpPr>
          <p:cNvPr id="7" name="TextBox 6"/>
          <p:cNvSpPr txBox="1"/>
          <p:nvPr/>
        </p:nvSpPr>
        <p:spPr>
          <a:xfrm>
            <a:off x="5486400" y="246888"/>
            <a:ext cx="6217920" cy="274320"/>
          </a:xfrm>
          <a:prstGeom prst="rect">
            <a:avLst/>
          </a:prstGeom>
          <a:noFill/>
        </p:spPr>
        <p:txBody>
          <a:bodyPr wrap="square" lIns="54864" rIns="54864" tIns="36576">
            <a:spAutoFit/>
          </a:bodyPr>
          <a:lstStyle/>
          <a:p>
            <a:pPr algn="r">
              <a:defRPr sz="1400" b="1">
                <a:solidFill>
                  <a:srgbClr val="18375B"/>
                </a:solidFill>
                <a:latin typeface="Arial"/>
              </a:defRPr>
            </a:pPr>
            <a:r>
              <a:t>04 · TÍNH NĂNG 1</a:t>
            </a:r>
          </a:p>
        </p:txBody>
      </p:sp>
      <p:sp>
        <p:nvSpPr>
          <p:cNvPr id="8" name="Rectangle 7"/>
          <p:cNvSpPr/>
          <p:nvPr/>
        </p:nvSpPr>
        <p:spPr>
          <a:xfrm>
            <a:off x="384048" y="914400"/>
            <a:ext cx="11430000" cy="12700"/>
          </a:xfrm>
          <a:prstGeom prst="rect">
            <a:avLst/>
          </a:prstGeom>
          <a:solidFill>
            <a:srgbClr val="D2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6473952"/>
            <a:ext cx="3657600" cy="182880"/>
          </a:xfrm>
          <a:prstGeom prst="rect">
            <a:avLst/>
          </a:prstGeom>
          <a:noFill/>
        </p:spPr>
        <p:txBody>
          <a:bodyPr wrap="square" lIns="54864" rIns="54864" tIns="36576">
            <a:spAutoFit/>
          </a:bodyPr>
          <a:lstStyle/>
          <a:p>
            <a:pPr algn="l">
              <a:defRPr sz="900" b="0">
                <a:solidFill>
                  <a:srgbClr val="646E78"/>
                </a:solidFill>
                <a:latin typeface="Arial"/>
              </a:defRPr>
            </a:pPr>
            <a:r>
              <a:t>GV: Mai Xuân Văn</a:t>
            </a:r>
          </a:p>
        </p:txBody>
      </p:sp>
      <p:sp>
        <p:nvSpPr>
          <p:cNvPr id="10" name="TextBox 9"/>
          <p:cNvSpPr txBox="1"/>
          <p:nvPr/>
        </p:nvSpPr>
        <p:spPr>
          <a:xfrm>
            <a:off x="11292840" y="6473952"/>
            <a:ext cx="411480" cy="182880"/>
          </a:xfrm>
          <a:prstGeom prst="rect">
            <a:avLst/>
          </a:prstGeom>
          <a:noFill/>
        </p:spPr>
        <p:txBody>
          <a:bodyPr wrap="square" lIns="54864" rIns="54864" tIns="36576">
            <a:spAutoFit/>
          </a:bodyPr>
          <a:lstStyle/>
          <a:p>
            <a:pPr algn="r">
              <a:defRPr sz="900" b="0">
                <a:solidFill>
                  <a:srgbClr val="646E78"/>
                </a:solidFill>
                <a:latin typeface="Arial"/>
              </a:defRPr>
            </a:pPr>
            <a:r>
              <a:t>7</a:t>
            </a:r>
          </a:p>
        </p:txBody>
      </p:sp>
      <p:sp>
        <p:nvSpPr>
          <p:cNvPr id="11" name="TextBox 10"/>
          <p:cNvSpPr txBox="1"/>
          <p:nvPr/>
        </p:nvSpPr>
        <p:spPr>
          <a:xfrm>
            <a:off x="502920" y="1115568"/>
            <a:ext cx="11155680" cy="384048"/>
          </a:xfrm>
          <a:prstGeom prst="rect">
            <a:avLst/>
          </a:prstGeom>
          <a:noFill/>
        </p:spPr>
        <p:txBody>
          <a:bodyPr wrap="square" lIns="54864" rIns="54864" tIns="36576">
            <a:spAutoFit/>
          </a:bodyPr>
          <a:lstStyle/>
          <a:p>
            <a:pPr algn="l">
              <a:defRPr sz="2600" b="1">
                <a:solidFill>
                  <a:srgbClr val="18375B"/>
                </a:solidFill>
                <a:latin typeface="Arial"/>
              </a:defRPr>
            </a:pPr>
            <a:r>
              <a:t>Đấu trường bắt lỗi AI</a:t>
            </a:r>
          </a:p>
        </p:txBody>
      </p:sp>
      <p:sp>
        <p:nvSpPr>
          <p:cNvPr id="12" name="TextBox 11"/>
          <p:cNvSpPr txBox="1"/>
          <p:nvPr/>
        </p:nvSpPr>
        <p:spPr>
          <a:xfrm>
            <a:off x="530352" y="1536192"/>
            <a:ext cx="10972800" cy="256032"/>
          </a:xfrm>
          <a:prstGeom prst="rect">
            <a:avLst/>
          </a:prstGeom>
          <a:noFill/>
        </p:spPr>
        <p:txBody>
          <a:bodyPr wrap="square" lIns="54864" rIns="54864" tIns="36576">
            <a:spAutoFit/>
          </a:bodyPr>
          <a:lstStyle/>
          <a:p>
            <a:pPr algn="l">
              <a:defRPr sz="1200" b="0">
                <a:solidFill>
                  <a:srgbClr val="646E78"/>
                </a:solidFill>
                <a:latin typeface="Arial"/>
              </a:defRPr>
            </a:pPr>
            <a:r>
              <a:t>Học sinh phán xử đầu ra AI thay vì tin ngay vào câu trả lời</a:t>
            </a:r>
          </a:p>
        </p:txBody>
      </p:sp>
      <p:sp>
        <p:nvSpPr>
          <p:cNvPr id="13" name="Rectangle 12"/>
          <p:cNvSpPr/>
          <p:nvPr/>
        </p:nvSpPr>
        <p:spPr>
          <a:xfrm>
            <a:off x="603503" y="1792224"/>
            <a:ext cx="5833872" cy="4050791"/>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6-tinh-huong.png"/>
          <p:cNvPicPr>
            <a:picLocks noChangeAspect="1"/>
          </p:cNvPicPr>
          <p:nvPr/>
        </p:nvPicPr>
        <p:blipFill>
          <a:blip r:embed="rId4"/>
          <a:stretch>
            <a:fillRect/>
          </a:stretch>
        </p:blipFill>
        <p:spPr>
          <a:xfrm>
            <a:off x="691895" y="1828800"/>
            <a:ext cx="5657088" cy="3977639"/>
          </a:xfrm>
          <a:prstGeom prst="rect">
            <a:avLst/>
          </a:prstGeom>
        </p:spPr>
      </p:pic>
      <p:sp>
        <p:nvSpPr>
          <p:cNvPr id="15" name="Rounded Rectangle 14"/>
          <p:cNvSpPr/>
          <p:nvPr/>
        </p:nvSpPr>
        <p:spPr>
          <a:xfrm>
            <a:off x="6812280" y="1828800"/>
            <a:ext cx="4663440" cy="1143000"/>
          </a:xfrm>
          <a:prstGeom prst="roundRect">
            <a:avLst/>
          </a:prstGeom>
          <a:solidFill>
            <a:srgbClr val="FFFFFF"/>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12280" y="1828800"/>
            <a:ext cx="63500" cy="11430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76872" y="1965960"/>
            <a:ext cx="4389120" cy="256032"/>
          </a:xfrm>
          <a:prstGeom prst="rect">
            <a:avLst/>
          </a:prstGeom>
          <a:noFill/>
        </p:spPr>
        <p:txBody>
          <a:bodyPr wrap="square" lIns="54864" rIns="54864" tIns="36576">
            <a:spAutoFit/>
          </a:bodyPr>
          <a:lstStyle/>
          <a:p>
            <a:pPr algn="l">
              <a:defRPr sz="1400" b="1">
                <a:solidFill>
                  <a:srgbClr val="0066CC"/>
                </a:solidFill>
                <a:latin typeface="Arial"/>
              </a:defRPr>
            </a:pPr>
            <a:r>
              <a:t>BƯỚC 1 · NHẬN DIỆN</a:t>
            </a:r>
          </a:p>
        </p:txBody>
      </p:sp>
      <p:sp>
        <p:nvSpPr>
          <p:cNvPr id="18" name="TextBox 17"/>
          <p:cNvSpPr txBox="1"/>
          <p:nvPr/>
        </p:nvSpPr>
        <p:spPr>
          <a:xfrm>
            <a:off x="6976872" y="2359152"/>
            <a:ext cx="4389120" cy="502920"/>
          </a:xfrm>
          <a:prstGeom prst="rect">
            <a:avLst/>
          </a:prstGeom>
          <a:noFill/>
        </p:spPr>
        <p:txBody>
          <a:bodyPr wrap="square" lIns="54864" rIns="54864" tIns="36576">
            <a:spAutoFit/>
          </a:bodyPr>
          <a:lstStyle/>
          <a:p>
            <a:pPr algn="l">
              <a:defRPr sz="1400" b="0">
                <a:solidFill>
                  <a:srgbClr val="2D3741"/>
                </a:solidFill>
                <a:latin typeface="Arial"/>
              </a:defRPr>
            </a:pPr>
            <a:r>
              <a:t>Đọc một câu trả lời có thể đúng hoặc có lỗi.</a:t>
            </a:r>
          </a:p>
        </p:txBody>
      </p:sp>
      <p:sp>
        <p:nvSpPr>
          <p:cNvPr id="19" name="Rounded Rectangle 18"/>
          <p:cNvSpPr/>
          <p:nvPr/>
        </p:nvSpPr>
        <p:spPr>
          <a:xfrm>
            <a:off x="6812280" y="3182112"/>
            <a:ext cx="4663440" cy="1143000"/>
          </a:xfrm>
          <a:prstGeom prst="roundRect">
            <a:avLst/>
          </a:prstGeom>
          <a:solidFill>
            <a:srgbClr val="FFFFFF"/>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812280" y="3182112"/>
            <a:ext cx="63500" cy="1143000"/>
          </a:xfrm>
          <a:prstGeom prst="rect">
            <a:avLst/>
          </a:prstGeom>
          <a:solidFill>
            <a:srgbClr val="D399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76872" y="3319272"/>
            <a:ext cx="4389120" cy="256032"/>
          </a:xfrm>
          <a:prstGeom prst="rect">
            <a:avLst/>
          </a:prstGeom>
          <a:noFill/>
        </p:spPr>
        <p:txBody>
          <a:bodyPr wrap="square" lIns="54864" rIns="54864" tIns="36576">
            <a:spAutoFit/>
          </a:bodyPr>
          <a:lstStyle/>
          <a:p>
            <a:pPr algn="l">
              <a:defRPr sz="1400" b="1">
                <a:solidFill>
                  <a:srgbClr val="D3992A"/>
                </a:solidFill>
                <a:latin typeface="Arial"/>
              </a:defRPr>
            </a:pPr>
            <a:r>
              <a:t>BƯỚC 2 · PHÁN ĐOÁN</a:t>
            </a:r>
          </a:p>
        </p:txBody>
      </p:sp>
      <p:sp>
        <p:nvSpPr>
          <p:cNvPr id="22" name="TextBox 21"/>
          <p:cNvSpPr txBox="1"/>
          <p:nvPr/>
        </p:nvSpPr>
        <p:spPr>
          <a:xfrm>
            <a:off x="6976872" y="3712463"/>
            <a:ext cx="4389120" cy="502920"/>
          </a:xfrm>
          <a:prstGeom prst="rect">
            <a:avLst/>
          </a:prstGeom>
          <a:noFill/>
        </p:spPr>
        <p:txBody>
          <a:bodyPr wrap="square" lIns="54864" rIns="54864" tIns="36576">
            <a:spAutoFit/>
          </a:bodyPr>
          <a:lstStyle/>
          <a:p>
            <a:pPr algn="l">
              <a:defRPr sz="1400" b="0">
                <a:solidFill>
                  <a:srgbClr val="2D3741"/>
                </a:solidFill>
                <a:latin typeface="Arial"/>
              </a:defRPr>
            </a:pPr>
            <a:r>
              <a:t>Chọn có lỗi/không có lỗi và nêu lý do.</a:t>
            </a:r>
          </a:p>
        </p:txBody>
      </p:sp>
      <p:sp>
        <p:nvSpPr>
          <p:cNvPr id="23" name="Rounded Rectangle 22"/>
          <p:cNvSpPr/>
          <p:nvPr/>
        </p:nvSpPr>
        <p:spPr>
          <a:xfrm>
            <a:off x="6812280" y="4535424"/>
            <a:ext cx="4663440" cy="1271016"/>
          </a:xfrm>
          <a:prstGeom prst="roundRect">
            <a:avLst/>
          </a:prstGeom>
          <a:solidFill>
            <a:srgbClr val="FFFFFF"/>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812280" y="4535424"/>
            <a:ext cx="63500" cy="1271016"/>
          </a:xfrm>
          <a:prstGeom prst="rect">
            <a:avLst/>
          </a:prstGeom>
          <a:solidFill>
            <a:srgbClr val="258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76872" y="4672584"/>
            <a:ext cx="4389120" cy="256032"/>
          </a:xfrm>
          <a:prstGeom prst="rect">
            <a:avLst/>
          </a:prstGeom>
          <a:noFill/>
        </p:spPr>
        <p:txBody>
          <a:bodyPr wrap="square" lIns="54864" rIns="54864" tIns="36576">
            <a:spAutoFit/>
          </a:bodyPr>
          <a:lstStyle/>
          <a:p>
            <a:pPr algn="l">
              <a:defRPr sz="1400" b="1">
                <a:solidFill>
                  <a:srgbClr val="258B5D"/>
                </a:solidFill>
                <a:latin typeface="Arial"/>
              </a:defRPr>
            </a:pPr>
            <a:r>
              <a:t>BƯỚC 3 · KIỂM TRA</a:t>
            </a:r>
          </a:p>
        </p:txBody>
      </p:sp>
      <p:sp>
        <p:nvSpPr>
          <p:cNvPr id="26" name="TextBox 25"/>
          <p:cNvSpPr txBox="1"/>
          <p:nvPr/>
        </p:nvSpPr>
        <p:spPr>
          <a:xfrm>
            <a:off x="6976872" y="5065776"/>
            <a:ext cx="4389120" cy="630936"/>
          </a:xfrm>
          <a:prstGeom prst="rect">
            <a:avLst/>
          </a:prstGeom>
          <a:noFill/>
        </p:spPr>
        <p:txBody>
          <a:bodyPr wrap="square" lIns="54864" rIns="54864" tIns="36576">
            <a:spAutoFit/>
          </a:bodyPr>
          <a:lstStyle/>
          <a:p>
            <a:pPr algn="l">
              <a:defRPr sz="1400" b="0">
                <a:solidFill>
                  <a:srgbClr val="2D3741"/>
                </a:solidFill>
                <a:latin typeface="Arial"/>
              </a:defRPr>
            </a:pPr>
            <a:r>
              <a:t>Xem phản hồi, dấu hiệu và nhóm lỗi tương ứng.</a:t>
            </a:r>
          </a:p>
        </p:txBody>
      </p:sp>
      <p:sp>
        <p:nvSpPr>
          <p:cNvPr id="27" name="Rectangle 26"/>
          <p:cNvSpPr/>
          <p:nvPr/>
        </p:nvSpPr>
        <p:spPr>
          <a:xfrm>
            <a:off x="1371600" y="2560320"/>
            <a:ext cx="3657600" cy="1371600"/>
          </a:xfrm>
          <a:prstGeom prst="rect">
            <a:avLst/>
          </a:prstGeom>
          <a:noFill/>
          <a:ln w="508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3232"/>
                </a:solidFill>
                <a:latin typeface="Arial"/>
              </a:defRPr>
            </a:pPr>
            <a:r>
              <a:t>Đầu ra AI</a:t>
            </a:r>
          </a:p>
        </p:txBody>
      </p:sp>
      <p:sp>
        <p:nvSpPr>
          <p:cNvPr id="28" name="Rectangle 27"/>
          <p:cNvSpPr/>
          <p:nvPr/>
        </p:nvSpPr>
        <p:spPr>
          <a:xfrm>
            <a:off x="7772400" y="2286000"/>
            <a:ext cx="2743200" cy="731520"/>
          </a:xfrm>
          <a:prstGeom prst="rect">
            <a:avLst/>
          </a:prstGeom>
          <a:noFill/>
          <a:ln w="508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3232"/>
                </a:solidFill>
                <a:latin typeface="Arial"/>
              </a:defRPr>
            </a:pPr>
            <a:r>
              <a:t>Bước 1</a:t>
            </a:r>
          </a:p>
        </p:txBody>
      </p:sp>
      <p:sp>
        <p:nvSpPr>
          <p:cNvPr id="29" name="Rectangle 28"/>
          <p:cNvSpPr/>
          <p:nvPr/>
        </p:nvSpPr>
        <p:spPr>
          <a:xfrm>
            <a:off x="7772400" y="3657600"/>
            <a:ext cx="2743200" cy="731520"/>
          </a:xfrm>
          <a:prstGeom prst="rect">
            <a:avLst/>
          </a:prstGeom>
          <a:noFill/>
          <a:ln w="508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3232"/>
                </a:solidFill>
                <a:latin typeface="Arial"/>
              </a:defRPr>
            </a:pPr>
            <a:r>
              <a:t>Bước 2</a:t>
            </a:r>
          </a:p>
        </p:txBody>
      </p:sp>
      <p:sp>
        <p:nvSpPr>
          <p:cNvPr id="30" name="Rectangle 29"/>
          <p:cNvSpPr/>
          <p:nvPr/>
        </p:nvSpPr>
        <p:spPr>
          <a:xfrm>
            <a:off x="7772400" y="5029200"/>
            <a:ext cx="2743200" cy="731520"/>
          </a:xfrm>
          <a:prstGeom prst="rect">
            <a:avLst/>
          </a:prstGeom>
          <a:noFill/>
          <a:ln w="508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3232"/>
                </a:solidFill>
                <a:latin typeface="Arial"/>
              </a:defRPr>
            </a:pPr>
            <a:r>
              <a:t>Bước 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8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dhsp_hue.png"/>
          <p:cNvPicPr>
            <a:picLocks noChangeAspect="1"/>
          </p:cNvPicPr>
          <p:nvPr/>
        </p:nvPicPr>
        <p:blipFill>
          <a:blip r:embed="rId2"/>
          <a:stretch>
            <a:fillRect/>
          </a:stretch>
        </p:blipFill>
        <p:spPr>
          <a:xfrm>
            <a:off x="384048" y="155448"/>
            <a:ext cx="530352" cy="530352"/>
          </a:xfrm>
          <a:prstGeom prst="rect">
            <a:avLst/>
          </a:prstGeom>
        </p:spPr>
      </p:pic>
      <p:pic>
        <p:nvPicPr>
          <p:cNvPr id="4" name="Picture 3" descr="logo_thpt_thuan_hoa.png"/>
          <p:cNvPicPr>
            <a:picLocks noChangeAspect="1"/>
          </p:cNvPicPr>
          <p:nvPr/>
        </p:nvPicPr>
        <p:blipFill>
          <a:blip r:embed="rId3"/>
          <a:stretch>
            <a:fillRect/>
          </a:stretch>
        </p:blipFill>
        <p:spPr>
          <a:xfrm>
            <a:off x="1024128" y="155448"/>
            <a:ext cx="530352" cy="530352"/>
          </a:xfrm>
          <a:prstGeom prst="rect">
            <a:avLst/>
          </a:prstGeom>
        </p:spPr>
      </p:pic>
      <p:sp>
        <p:nvSpPr>
          <p:cNvPr id="5" name="TextBox 4"/>
          <p:cNvSpPr txBox="1"/>
          <p:nvPr/>
        </p:nvSpPr>
        <p:spPr>
          <a:xfrm>
            <a:off x="1664208" y="155448"/>
            <a:ext cx="4023360" cy="237744"/>
          </a:xfrm>
          <a:prstGeom prst="rect">
            <a:avLst/>
          </a:prstGeom>
          <a:noFill/>
        </p:spPr>
        <p:txBody>
          <a:bodyPr wrap="square" lIns="54864" rIns="54864" tIns="36576">
            <a:spAutoFit/>
          </a:bodyPr>
          <a:lstStyle/>
          <a:p>
            <a:pPr algn="l">
              <a:defRPr sz="1100" b="1">
                <a:solidFill>
                  <a:srgbClr val="18375B"/>
                </a:solidFill>
                <a:latin typeface="Arial"/>
              </a:defRPr>
            </a:pPr>
            <a:r>
              <a:t>Trường THPT Thuận Hoá</a:t>
            </a:r>
          </a:p>
        </p:txBody>
      </p:sp>
      <p:sp>
        <p:nvSpPr>
          <p:cNvPr id="6" name="TextBox 5"/>
          <p:cNvSpPr txBox="1"/>
          <p:nvPr/>
        </p:nvSpPr>
        <p:spPr>
          <a:xfrm>
            <a:off x="1664208" y="411480"/>
            <a:ext cx="4114800" cy="201168"/>
          </a:xfrm>
          <a:prstGeom prst="rect">
            <a:avLst/>
          </a:prstGeom>
          <a:noFill/>
        </p:spPr>
        <p:txBody>
          <a:bodyPr wrap="square" lIns="54864" rIns="54864" tIns="36576">
            <a:spAutoFit/>
          </a:bodyPr>
          <a:lstStyle/>
          <a:p>
            <a:pPr algn="l">
              <a:defRPr sz="950" b="0">
                <a:solidFill>
                  <a:srgbClr val="646E78"/>
                </a:solidFill>
                <a:latin typeface="Arial"/>
              </a:defRPr>
            </a:pPr>
            <a:r>
              <a:t>Trường Đại học Sư Phạm, Đại học Huế</a:t>
            </a:r>
          </a:p>
        </p:txBody>
      </p:sp>
      <p:sp>
        <p:nvSpPr>
          <p:cNvPr id="7" name="TextBox 6"/>
          <p:cNvSpPr txBox="1"/>
          <p:nvPr/>
        </p:nvSpPr>
        <p:spPr>
          <a:xfrm>
            <a:off x="5486400" y="246888"/>
            <a:ext cx="6217920" cy="274320"/>
          </a:xfrm>
          <a:prstGeom prst="rect">
            <a:avLst/>
          </a:prstGeom>
          <a:noFill/>
        </p:spPr>
        <p:txBody>
          <a:bodyPr wrap="square" lIns="54864" rIns="54864" tIns="36576">
            <a:spAutoFit/>
          </a:bodyPr>
          <a:lstStyle/>
          <a:p>
            <a:pPr algn="r">
              <a:defRPr sz="1400" b="1">
                <a:solidFill>
                  <a:srgbClr val="18375B"/>
                </a:solidFill>
                <a:latin typeface="Arial"/>
              </a:defRPr>
            </a:pPr>
            <a:r>
              <a:t>05 · TÍNH NĂNG 2</a:t>
            </a:r>
          </a:p>
        </p:txBody>
      </p:sp>
      <p:sp>
        <p:nvSpPr>
          <p:cNvPr id="8" name="Rectangle 7"/>
          <p:cNvSpPr/>
          <p:nvPr/>
        </p:nvSpPr>
        <p:spPr>
          <a:xfrm>
            <a:off x="384048" y="914400"/>
            <a:ext cx="11430000" cy="12700"/>
          </a:xfrm>
          <a:prstGeom prst="rect">
            <a:avLst/>
          </a:prstGeom>
          <a:solidFill>
            <a:srgbClr val="D2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6473952"/>
            <a:ext cx="3657600" cy="182880"/>
          </a:xfrm>
          <a:prstGeom prst="rect">
            <a:avLst/>
          </a:prstGeom>
          <a:noFill/>
        </p:spPr>
        <p:txBody>
          <a:bodyPr wrap="square" lIns="54864" rIns="54864" tIns="36576">
            <a:spAutoFit/>
          </a:bodyPr>
          <a:lstStyle/>
          <a:p>
            <a:pPr algn="l">
              <a:defRPr sz="900" b="0">
                <a:solidFill>
                  <a:srgbClr val="646E78"/>
                </a:solidFill>
                <a:latin typeface="Arial"/>
              </a:defRPr>
            </a:pPr>
            <a:r>
              <a:t>GV: Mai Xuân Văn</a:t>
            </a:r>
          </a:p>
        </p:txBody>
      </p:sp>
      <p:sp>
        <p:nvSpPr>
          <p:cNvPr id="10" name="TextBox 9"/>
          <p:cNvSpPr txBox="1"/>
          <p:nvPr/>
        </p:nvSpPr>
        <p:spPr>
          <a:xfrm>
            <a:off x="11292840" y="6473952"/>
            <a:ext cx="411480" cy="182880"/>
          </a:xfrm>
          <a:prstGeom prst="rect">
            <a:avLst/>
          </a:prstGeom>
          <a:noFill/>
        </p:spPr>
        <p:txBody>
          <a:bodyPr wrap="square" lIns="54864" rIns="54864" tIns="36576">
            <a:spAutoFit/>
          </a:bodyPr>
          <a:lstStyle/>
          <a:p>
            <a:pPr algn="r">
              <a:defRPr sz="900" b="0">
                <a:solidFill>
                  <a:srgbClr val="646E78"/>
                </a:solidFill>
                <a:latin typeface="Arial"/>
              </a:defRPr>
            </a:pPr>
            <a:r>
              <a:t>8</a:t>
            </a:r>
          </a:p>
        </p:txBody>
      </p:sp>
      <p:sp>
        <p:nvSpPr>
          <p:cNvPr id="11" name="TextBox 10"/>
          <p:cNvSpPr txBox="1"/>
          <p:nvPr/>
        </p:nvSpPr>
        <p:spPr>
          <a:xfrm>
            <a:off x="502920" y="1115568"/>
            <a:ext cx="11155680" cy="384048"/>
          </a:xfrm>
          <a:prstGeom prst="rect">
            <a:avLst/>
          </a:prstGeom>
          <a:noFill/>
        </p:spPr>
        <p:txBody>
          <a:bodyPr wrap="square" lIns="54864" rIns="54864" tIns="36576">
            <a:spAutoFit/>
          </a:bodyPr>
          <a:lstStyle/>
          <a:p>
            <a:pPr algn="l">
              <a:defRPr sz="2600" b="1">
                <a:solidFill>
                  <a:srgbClr val="18375B"/>
                </a:solidFill>
                <a:latin typeface="Arial"/>
              </a:defRPr>
            </a:pPr>
            <a:r>
              <a:t>Nhà máy AI: nhìn thấy các bước phía sau một kết quả</a:t>
            </a:r>
          </a:p>
        </p:txBody>
      </p:sp>
      <p:sp>
        <p:nvSpPr>
          <p:cNvPr id="12" name="Rectangle 11"/>
          <p:cNvSpPr/>
          <p:nvPr/>
        </p:nvSpPr>
        <p:spPr>
          <a:xfrm>
            <a:off x="557784" y="1792224"/>
            <a:ext cx="5468112" cy="3913632"/>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3-tram0-nhap-lieu.png"/>
          <p:cNvPicPr>
            <a:picLocks noChangeAspect="1"/>
          </p:cNvPicPr>
          <p:nvPr/>
        </p:nvPicPr>
        <p:blipFill>
          <a:blip r:embed="rId4"/>
          <a:stretch>
            <a:fillRect/>
          </a:stretch>
        </p:blipFill>
        <p:spPr>
          <a:xfrm>
            <a:off x="594360" y="1852374"/>
            <a:ext cx="5394960" cy="3793331"/>
          </a:xfrm>
          <a:prstGeom prst="rect">
            <a:avLst/>
          </a:prstGeom>
        </p:spPr>
      </p:pic>
      <p:sp>
        <p:nvSpPr>
          <p:cNvPr id="14" name="Rectangle 13"/>
          <p:cNvSpPr/>
          <p:nvPr/>
        </p:nvSpPr>
        <p:spPr>
          <a:xfrm>
            <a:off x="6181344" y="1792224"/>
            <a:ext cx="5468112" cy="3913632"/>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4-tram5-ung-dung.png"/>
          <p:cNvPicPr>
            <a:picLocks noChangeAspect="1"/>
          </p:cNvPicPr>
          <p:nvPr/>
        </p:nvPicPr>
        <p:blipFill>
          <a:blip r:embed="rId5"/>
          <a:stretch>
            <a:fillRect/>
          </a:stretch>
        </p:blipFill>
        <p:spPr>
          <a:xfrm>
            <a:off x="6217920" y="1852374"/>
            <a:ext cx="5394960" cy="3793331"/>
          </a:xfrm>
          <a:prstGeom prst="rect">
            <a:avLst/>
          </a:prstGeom>
        </p:spPr>
      </p:pic>
      <p:sp>
        <p:nvSpPr>
          <p:cNvPr id="16" name="Rounded Rectangle 15"/>
          <p:cNvSpPr/>
          <p:nvPr/>
        </p:nvSpPr>
        <p:spPr>
          <a:xfrm>
            <a:off x="594360" y="5806440"/>
            <a:ext cx="11018520" cy="411480"/>
          </a:xfrm>
          <a:prstGeom prst="round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897880"/>
            <a:ext cx="10652760" cy="182880"/>
          </a:xfrm>
          <a:prstGeom prst="rect">
            <a:avLst/>
          </a:prstGeom>
          <a:noFill/>
        </p:spPr>
        <p:txBody>
          <a:bodyPr wrap="square" lIns="54864" rIns="54864" tIns="36576">
            <a:spAutoFit/>
          </a:bodyPr>
          <a:lstStyle/>
          <a:p>
            <a:pPr algn="ctr">
              <a:defRPr sz="1600" b="1">
                <a:solidFill>
                  <a:srgbClr val="18375B"/>
                </a:solidFill>
                <a:latin typeface="Arial"/>
              </a:defRPr>
            </a:pPr>
            <a:r>
              <a:t>Học sinh đi từ dữ liệu đầu vào đến cách AI được dùng — không chỉ nhìn vào kết quả cuối.</a:t>
            </a:r>
          </a:p>
        </p:txBody>
      </p:sp>
      <p:sp>
        <p:nvSpPr>
          <p:cNvPr id="18" name="Rectangle 17"/>
          <p:cNvSpPr/>
          <p:nvPr/>
        </p:nvSpPr>
        <p:spPr>
          <a:xfrm>
            <a:off x="1371600" y="2560320"/>
            <a:ext cx="3200400" cy="1371600"/>
          </a:xfrm>
          <a:prstGeom prst="rect">
            <a:avLst/>
          </a:prstGeom>
          <a:noFill/>
          <a:ln w="508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3232"/>
                </a:solidFill>
                <a:latin typeface="Arial"/>
              </a:defRPr>
            </a:pPr>
            <a:r>
              <a:t>Trạm nhập liệu</a:t>
            </a:r>
          </a:p>
        </p:txBody>
      </p:sp>
      <p:sp>
        <p:nvSpPr>
          <p:cNvPr id="19" name="Rectangle 18"/>
          <p:cNvSpPr/>
          <p:nvPr/>
        </p:nvSpPr>
        <p:spPr>
          <a:xfrm>
            <a:off x="7040880" y="2560320"/>
            <a:ext cx="3200400" cy="1371600"/>
          </a:xfrm>
          <a:prstGeom prst="rect">
            <a:avLst/>
          </a:prstGeom>
          <a:noFill/>
          <a:ln w="508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3232"/>
                </a:solidFill>
                <a:latin typeface="Arial"/>
              </a:defRPr>
            </a:pPr>
            <a:r>
              <a:t>Trạm ứng dụng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8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dhsp_hue.png"/>
          <p:cNvPicPr>
            <a:picLocks noChangeAspect="1"/>
          </p:cNvPicPr>
          <p:nvPr/>
        </p:nvPicPr>
        <p:blipFill>
          <a:blip r:embed="rId2"/>
          <a:stretch>
            <a:fillRect/>
          </a:stretch>
        </p:blipFill>
        <p:spPr>
          <a:xfrm>
            <a:off x="384048" y="155448"/>
            <a:ext cx="530352" cy="530352"/>
          </a:xfrm>
          <a:prstGeom prst="rect">
            <a:avLst/>
          </a:prstGeom>
        </p:spPr>
      </p:pic>
      <p:pic>
        <p:nvPicPr>
          <p:cNvPr id="4" name="Picture 3" descr="logo_thpt_thuan_hoa.png"/>
          <p:cNvPicPr>
            <a:picLocks noChangeAspect="1"/>
          </p:cNvPicPr>
          <p:nvPr/>
        </p:nvPicPr>
        <p:blipFill>
          <a:blip r:embed="rId3"/>
          <a:stretch>
            <a:fillRect/>
          </a:stretch>
        </p:blipFill>
        <p:spPr>
          <a:xfrm>
            <a:off x="1024128" y="155448"/>
            <a:ext cx="530352" cy="530352"/>
          </a:xfrm>
          <a:prstGeom prst="rect">
            <a:avLst/>
          </a:prstGeom>
        </p:spPr>
      </p:pic>
      <p:sp>
        <p:nvSpPr>
          <p:cNvPr id="5" name="TextBox 4"/>
          <p:cNvSpPr txBox="1"/>
          <p:nvPr/>
        </p:nvSpPr>
        <p:spPr>
          <a:xfrm>
            <a:off x="1664208" y="155448"/>
            <a:ext cx="4023360" cy="237744"/>
          </a:xfrm>
          <a:prstGeom prst="rect">
            <a:avLst/>
          </a:prstGeom>
          <a:noFill/>
        </p:spPr>
        <p:txBody>
          <a:bodyPr wrap="square" lIns="54864" rIns="54864" tIns="36576">
            <a:spAutoFit/>
          </a:bodyPr>
          <a:lstStyle/>
          <a:p>
            <a:pPr algn="l">
              <a:defRPr sz="1100" b="1">
                <a:solidFill>
                  <a:srgbClr val="18375B"/>
                </a:solidFill>
                <a:latin typeface="Arial"/>
              </a:defRPr>
            </a:pPr>
            <a:r>
              <a:t>Trường THPT Thuận Hoá</a:t>
            </a:r>
          </a:p>
        </p:txBody>
      </p:sp>
      <p:sp>
        <p:nvSpPr>
          <p:cNvPr id="6" name="TextBox 5"/>
          <p:cNvSpPr txBox="1"/>
          <p:nvPr/>
        </p:nvSpPr>
        <p:spPr>
          <a:xfrm>
            <a:off x="1664208" y="411480"/>
            <a:ext cx="4114800" cy="201168"/>
          </a:xfrm>
          <a:prstGeom prst="rect">
            <a:avLst/>
          </a:prstGeom>
          <a:noFill/>
        </p:spPr>
        <p:txBody>
          <a:bodyPr wrap="square" lIns="54864" rIns="54864" tIns="36576">
            <a:spAutoFit/>
          </a:bodyPr>
          <a:lstStyle/>
          <a:p>
            <a:pPr algn="l">
              <a:defRPr sz="950" b="0">
                <a:solidFill>
                  <a:srgbClr val="646E78"/>
                </a:solidFill>
                <a:latin typeface="Arial"/>
              </a:defRPr>
            </a:pPr>
            <a:r>
              <a:t>Trường Đại học Sư Phạm, Đại học Huế</a:t>
            </a:r>
          </a:p>
        </p:txBody>
      </p:sp>
      <p:sp>
        <p:nvSpPr>
          <p:cNvPr id="7" name="TextBox 6"/>
          <p:cNvSpPr txBox="1"/>
          <p:nvPr/>
        </p:nvSpPr>
        <p:spPr>
          <a:xfrm>
            <a:off x="5486400" y="246888"/>
            <a:ext cx="6217920" cy="274320"/>
          </a:xfrm>
          <a:prstGeom prst="rect">
            <a:avLst/>
          </a:prstGeom>
          <a:noFill/>
        </p:spPr>
        <p:txBody>
          <a:bodyPr wrap="square" lIns="54864" rIns="54864" tIns="36576">
            <a:spAutoFit/>
          </a:bodyPr>
          <a:lstStyle/>
          <a:p>
            <a:pPr algn="r">
              <a:defRPr sz="1400" b="1">
                <a:solidFill>
                  <a:srgbClr val="18375B"/>
                </a:solidFill>
                <a:latin typeface="Arial"/>
              </a:defRPr>
            </a:pPr>
            <a:r>
              <a:t>06 · TÍNH NĂNG 3</a:t>
            </a:r>
          </a:p>
        </p:txBody>
      </p:sp>
      <p:sp>
        <p:nvSpPr>
          <p:cNvPr id="8" name="Rectangle 7"/>
          <p:cNvSpPr/>
          <p:nvPr/>
        </p:nvSpPr>
        <p:spPr>
          <a:xfrm>
            <a:off x="384048" y="914400"/>
            <a:ext cx="11430000" cy="12700"/>
          </a:xfrm>
          <a:prstGeom prst="rect">
            <a:avLst/>
          </a:prstGeom>
          <a:solidFill>
            <a:srgbClr val="D2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6473952"/>
            <a:ext cx="3657600" cy="182880"/>
          </a:xfrm>
          <a:prstGeom prst="rect">
            <a:avLst/>
          </a:prstGeom>
          <a:noFill/>
        </p:spPr>
        <p:txBody>
          <a:bodyPr wrap="square" lIns="54864" rIns="54864" tIns="36576">
            <a:spAutoFit/>
          </a:bodyPr>
          <a:lstStyle/>
          <a:p>
            <a:pPr algn="l">
              <a:defRPr sz="900" b="0">
                <a:solidFill>
                  <a:srgbClr val="646E78"/>
                </a:solidFill>
                <a:latin typeface="Arial"/>
              </a:defRPr>
            </a:pPr>
            <a:r>
              <a:t>GV: Mai Xuân Văn</a:t>
            </a:r>
          </a:p>
        </p:txBody>
      </p:sp>
      <p:sp>
        <p:nvSpPr>
          <p:cNvPr id="10" name="TextBox 9"/>
          <p:cNvSpPr txBox="1"/>
          <p:nvPr/>
        </p:nvSpPr>
        <p:spPr>
          <a:xfrm>
            <a:off x="11292840" y="6473952"/>
            <a:ext cx="411480" cy="182880"/>
          </a:xfrm>
          <a:prstGeom prst="rect">
            <a:avLst/>
          </a:prstGeom>
          <a:noFill/>
        </p:spPr>
        <p:txBody>
          <a:bodyPr wrap="square" lIns="54864" rIns="54864" tIns="36576">
            <a:spAutoFit/>
          </a:bodyPr>
          <a:lstStyle/>
          <a:p>
            <a:pPr algn="r">
              <a:defRPr sz="900" b="0">
                <a:solidFill>
                  <a:srgbClr val="646E78"/>
                </a:solidFill>
                <a:latin typeface="Arial"/>
              </a:defRPr>
            </a:pPr>
            <a:r>
              <a:t>9</a:t>
            </a:r>
          </a:p>
        </p:txBody>
      </p:sp>
      <p:sp>
        <p:nvSpPr>
          <p:cNvPr id="11" name="TextBox 10"/>
          <p:cNvSpPr txBox="1"/>
          <p:nvPr/>
        </p:nvSpPr>
        <p:spPr>
          <a:xfrm>
            <a:off x="502920" y="1115568"/>
            <a:ext cx="11155680" cy="384048"/>
          </a:xfrm>
          <a:prstGeom prst="rect">
            <a:avLst/>
          </a:prstGeom>
          <a:noFill/>
        </p:spPr>
        <p:txBody>
          <a:bodyPr wrap="square" lIns="54864" rIns="54864" tIns="36576">
            <a:spAutoFit/>
          </a:bodyPr>
          <a:lstStyle/>
          <a:p>
            <a:pPr algn="l">
              <a:defRPr sz="2600" b="1">
                <a:solidFill>
                  <a:srgbClr val="18375B"/>
                </a:solidFill>
                <a:latin typeface="Arial"/>
              </a:defRPr>
            </a:pPr>
            <a:r>
              <a:t>Xưởng huấn luyện: dữ liệu thay đổi thì kết quả cũng thay đổi</a:t>
            </a:r>
          </a:p>
        </p:txBody>
      </p:sp>
      <p:sp>
        <p:nvSpPr>
          <p:cNvPr id="12" name="Rectangle 11"/>
          <p:cNvSpPr/>
          <p:nvPr/>
        </p:nvSpPr>
        <p:spPr>
          <a:xfrm>
            <a:off x="603503" y="1792224"/>
            <a:ext cx="5559552" cy="3502152"/>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1-trang-chu.png"/>
          <p:cNvPicPr>
            <a:picLocks noChangeAspect="1"/>
          </p:cNvPicPr>
          <p:nvPr/>
        </p:nvPicPr>
        <p:blipFill>
          <a:blip r:embed="rId4"/>
          <a:stretch>
            <a:fillRect/>
          </a:stretch>
        </p:blipFill>
        <p:spPr>
          <a:xfrm>
            <a:off x="944879" y="1828800"/>
            <a:ext cx="4876800" cy="3429000"/>
          </a:xfrm>
          <a:prstGeom prst="rect">
            <a:avLst/>
          </a:prstGeom>
        </p:spPr>
      </p:pic>
      <p:sp>
        <p:nvSpPr>
          <p:cNvPr id="14" name="Rounded Rectangle 13"/>
          <p:cNvSpPr/>
          <p:nvPr/>
        </p:nvSpPr>
        <p:spPr>
          <a:xfrm>
            <a:off x="6537960" y="1828800"/>
            <a:ext cx="4846320" cy="1143000"/>
          </a:xfrm>
          <a:prstGeom prst="roundRect">
            <a:avLst/>
          </a:prstGeom>
          <a:solidFill>
            <a:srgbClr val="FFFFFF"/>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37960" y="1828800"/>
            <a:ext cx="63500" cy="11430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02552" y="1965960"/>
            <a:ext cx="4572000" cy="256032"/>
          </a:xfrm>
          <a:prstGeom prst="rect">
            <a:avLst/>
          </a:prstGeom>
          <a:noFill/>
        </p:spPr>
        <p:txBody>
          <a:bodyPr wrap="square" lIns="54864" rIns="54864" tIns="36576">
            <a:spAutoFit/>
          </a:bodyPr>
          <a:lstStyle/>
          <a:p>
            <a:pPr algn="l">
              <a:defRPr sz="1400" b="1">
                <a:solidFill>
                  <a:srgbClr val="0066CC"/>
                </a:solidFill>
                <a:latin typeface="Arial"/>
              </a:defRPr>
            </a:pPr>
            <a:r>
              <a:t>DỮ LIỆU LỆCH</a:t>
            </a:r>
          </a:p>
        </p:txBody>
      </p:sp>
      <p:sp>
        <p:nvSpPr>
          <p:cNvPr id="17" name="TextBox 16"/>
          <p:cNvSpPr txBox="1"/>
          <p:nvPr/>
        </p:nvSpPr>
        <p:spPr>
          <a:xfrm>
            <a:off x="6702552" y="2359152"/>
            <a:ext cx="4572000" cy="502920"/>
          </a:xfrm>
          <a:prstGeom prst="rect">
            <a:avLst/>
          </a:prstGeom>
          <a:noFill/>
        </p:spPr>
        <p:txBody>
          <a:bodyPr wrap="square" lIns="54864" rIns="54864" tIns="36576">
            <a:spAutoFit/>
          </a:bodyPr>
          <a:lstStyle/>
          <a:p>
            <a:pPr algn="l">
              <a:defRPr sz="1400" b="0">
                <a:solidFill>
                  <a:srgbClr val="2D3741"/>
                </a:solidFill>
                <a:latin typeface="Arial"/>
              </a:defRPr>
            </a:pPr>
            <a:r>
              <a:t>Học sinh quan sát mô hình học từ một bộ dữ liệu không cân bằng.</a:t>
            </a:r>
          </a:p>
        </p:txBody>
      </p:sp>
      <p:sp>
        <p:nvSpPr>
          <p:cNvPr id="18" name="Rounded Rectangle 17"/>
          <p:cNvSpPr/>
          <p:nvPr/>
        </p:nvSpPr>
        <p:spPr>
          <a:xfrm>
            <a:off x="6537960" y="3182112"/>
            <a:ext cx="4846320" cy="1143000"/>
          </a:xfrm>
          <a:prstGeom prst="roundRect">
            <a:avLst/>
          </a:prstGeom>
          <a:solidFill>
            <a:srgbClr val="FFFFFF"/>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37960" y="3182112"/>
            <a:ext cx="63500" cy="1143000"/>
          </a:xfrm>
          <a:prstGeom prst="rect">
            <a:avLst/>
          </a:prstGeom>
          <a:solidFill>
            <a:srgbClr val="D399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02552" y="3319272"/>
            <a:ext cx="4572000" cy="256032"/>
          </a:xfrm>
          <a:prstGeom prst="rect">
            <a:avLst/>
          </a:prstGeom>
          <a:noFill/>
        </p:spPr>
        <p:txBody>
          <a:bodyPr wrap="square" lIns="54864" rIns="54864" tIns="36576">
            <a:spAutoFit/>
          </a:bodyPr>
          <a:lstStyle/>
          <a:p>
            <a:pPr algn="l">
              <a:defRPr sz="1400" b="1">
                <a:solidFill>
                  <a:srgbClr val="D3992A"/>
                </a:solidFill>
                <a:latin typeface="Arial"/>
              </a:defRPr>
            </a:pPr>
            <a:r>
              <a:t>KẾT QUẢ KHÁC NHAU</a:t>
            </a:r>
          </a:p>
        </p:txBody>
      </p:sp>
      <p:sp>
        <p:nvSpPr>
          <p:cNvPr id="21" name="TextBox 20"/>
          <p:cNvSpPr txBox="1"/>
          <p:nvPr/>
        </p:nvSpPr>
        <p:spPr>
          <a:xfrm>
            <a:off x="6702552" y="3712463"/>
            <a:ext cx="4572000" cy="502920"/>
          </a:xfrm>
          <a:prstGeom prst="rect">
            <a:avLst/>
          </a:prstGeom>
          <a:noFill/>
        </p:spPr>
        <p:txBody>
          <a:bodyPr wrap="square" lIns="54864" rIns="54864" tIns="36576">
            <a:spAutoFit/>
          </a:bodyPr>
          <a:lstStyle/>
          <a:p>
            <a:pPr algn="l">
              <a:defRPr sz="1400" b="0">
                <a:solidFill>
                  <a:srgbClr val="2D3741"/>
                </a:solidFill>
                <a:latin typeface="Arial"/>
              </a:defRPr>
            </a:pPr>
            <a:r>
              <a:t>So sánh kết quả trên các nhóm dữ liệu khác nhau.</a:t>
            </a:r>
          </a:p>
        </p:txBody>
      </p:sp>
      <p:sp>
        <p:nvSpPr>
          <p:cNvPr id="22" name="Rounded Rectangle 21"/>
          <p:cNvSpPr/>
          <p:nvPr/>
        </p:nvSpPr>
        <p:spPr>
          <a:xfrm>
            <a:off x="6537960" y="4535424"/>
            <a:ext cx="4846320" cy="731520"/>
          </a:xfrm>
          <a:prstGeom prst="roundRect">
            <a:avLst/>
          </a:prstGeom>
          <a:solidFill>
            <a:srgbClr val="FFFFFF"/>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37960" y="4535424"/>
            <a:ext cx="63500" cy="731520"/>
          </a:xfrm>
          <a:prstGeom prst="rect">
            <a:avLst/>
          </a:prstGeom>
          <a:solidFill>
            <a:srgbClr val="258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02552" y="4672584"/>
            <a:ext cx="4572000" cy="256032"/>
          </a:xfrm>
          <a:prstGeom prst="rect">
            <a:avLst/>
          </a:prstGeom>
          <a:noFill/>
        </p:spPr>
        <p:txBody>
          <a:bodyPr wrap="square" lIns="54864" rIns="54864" tIns="36576">
            <a:spAutoFit/>
          </a:bodyPr>
          <a:lstStyle/>
          <a:p>
            <a:pPr algn="l">
              <a:defRPr sz="1400" b="1">
                <a:solidFill>
                  <a:srgbClr val="258B5D"/>
                </a:solidFill>
                <a:latin typeface="Arial"/>
              </a:defRPr>
            </a:pPr>
            <a:r>
              <a:t>BÀI HỌC</a:t>
            </a:r>
          </a:p>
        </p:txBody>
      </p:sp>
      <p:sp>
        <p:nvSpPr>
          <p:cNvPr id="25" name="TextBox 24"/>
          <p:cNvSpPr txBox="1"/>
          <p:nvPr/>
        </p:nvSpPr>
        <p:spPr>
          <a:xfrm>
            <a:off x="6702552" y="5065776"/>
            <a:ext cx="4572000" cy="91440"/>
          </a:xfrm>
          <a:prstGeom prst="rect">
            <a:avLst/>
          </a:prstGeom>
          <a:noFill/>
        </p:spPr>
        <p:txBody>
          <a:bodyPr wrap="square" lIns="54864" rIns="54864" tIns="36576">
            <a:spAutoFit/>
          </a:bodyPr>
          <a:lstStyle/>
          <a:p>
            <a:pPr algn="l">
              <a:defRPr sz="1400" b="0">
                <a:solidFill>
                  <a:srgbClr val="2D3741"/>
                </a:solidFill>
                <a:latin typeface="Arial"/>
              </a:defRPr>
            </a:pPr>
            <a:r>
              <a:t>AI không tự nhiên "khách quan"; dữ liệu và cách kiểm tra rất quan trọng.</a:t>
            </a:r>
          </a:p>
        </p:txBody>
      </p:sp>
      <p:sp>
        <p:nvSpPr>
          <p:cNvPr id="26" name="TextBox 25"/>
          <p:cNvSpPr txBox="1"/>
          <p:nvPr/>
        </p:nvSpPr>
        <p:spPr>
          <a:xfrm>
            <a:off x="731520" y="5715000"/>
            <a:ext cx="10698480" cy="256032"/>
          </a:xfrm>
          <a:prstGeom prst="rect">
            <a:avLst/>
          </a:prstGeom>
          <a:noFill/>
        </p:spPr>
        <p:txBody>
          <a:bodyPr wrap="square" lIns="54864" rIns="54864" tIns="36576">
            <a:spAutoFit/>
          </a:bodyPr>
          <a:lstStyle/>
          <a:p>
            <a:pPr algn="ctr">
              <a:defRPr sz="1000" b="0">
                <a:solidFill>
                  <a:srgbClr val="646E78"/>
                </a:solidFill>
                <a:latin typeface="Arial"/>
              </a:defRPr>
            </a:pPr>
            <a:r>
              <a:t>Các tỉ lệ trong slide là kết quả của mô phỏng trong sản phẩm, không phải số liệu tác động lớp học.</a:t>
            </a:r>
          </a:p>
        </p:txBody>
      </p:sp>
      <p:sp>
        <p:nvSpPr>
          <p:cNvPr id="27" name="Rectangle 26"/>
          <p:cNvSpPr/>
          <p:nvPr/>
        </p:nvSpPr>
        <p:spPr>
          <a:xfrm>
            <a:off x="1371600" y="2560320"/>
            <a:ext cx="3200400" cy="1828800"/>
          </a:xfrm>
          <a:prstGeom prst="rect">
            <a:avLst/>
          </a:prstGeom>
          <a:noFill/>
          <a:ln w="508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3232"/>
                </a:solidFill>
                <a:latin typeface="Arial"/>
              </a:defRPr>
            </a:pPr>
            <a:r>
              <a:t>Mô phỏng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8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dhsp_hue.png"/>
          <p:cNvPicPr>
            <a:picLocks noChangeAspect="1"/>
          </p:cNvPicPr>
          <p:nvPr/>
        </p:nvPicPr>
        <p:blipFill>
          <a:blip r:embed="rId2"/>
          <a:stretch>
            <a:fillRect/>
          </a:stretch>
        </p:blipFill>
        <p:spPr>
          <a:xfrm>
            <a:off x="384048" y="155448"/>
            <a:ext cx="530352" cy="530352"/>
          </a:xfrm>
          <a:prstGeom prst="rect">
            <a:avLst/>
          </a:prstGeom>
        </p:spPr>
      </p:pic>
      <p:pic>
        <p:nvPicPr>
          <p:cNvPr id="4" name="Picture 3" descr="logo_thpt_thuan_hoa.png"/>
          <p:cNvPicPr>
            <a:picLocks noChangeAspect="1"/>
          </p:cNvPicPr>
          <p:nvPr/>
        </p:nvPicPr>
        <p:blipFill>
          <a:blip r:embed="rId3"/>
          <a:stretch>
            <a:fillRect/>
          </a:stretch>
        </p:blipFill>
        <p:spPr>
          <a:xfrm>
            <a:off x="1024128" y="155448"/>
            <a:ext cx="530352" cy="530352"/>
          </a:xfrm>
          <a:prstGeom prst="rect">
            <a:avLst/>
          </a:prstGeom>
        </p:spPr>
      </p:pic>
      <p:sp>
        <p:nvSpPr>
          <p:cNvPr id="5" name="TextBox 4"/>
          <p:cNvSpPr txBox="1"/>
          <p:nvPr/>
        </p:nvSpPr>
        <p:spPr>
          <a:xfrm>
            <a:off x="1664208" y="155448"/>
            <a:ext cx="4023360" cy="237744"/>
          </a:xfrm>
          <a:prstGeom prst="rect">
            <a:avLst/>
          </a:prstGeom>
          <a:noFill/>
        </p:spPr>
        <p:txBody>
          <a:bodyPr wrap="square" lIns="54864" rIns="54864" tIns="36576">
            <a:spAutoFit/>
          </a:bodyPr>
          <a:lstStyle/>
          <a:p>
            <a:pPr algn="l">
              <a:defRPr sz="1100" b="1">
                <a:solidFill>
                  <a:srgbClr val="18375B"/>
                </a:solidFill>
                <a:latin typeface="Arial"/>
              </a:defRPr>
            </a:pPr>
            <a:r>
              <a:t>Trường THPT Thuận Hoá</a:t>
            </a:r>
          </a:p>
        </p:txBody>
      </p:sp>
      <p:sp>
        <p:nvSpPr>
          <p:cNvPr id="6" name="TextBox 5"/>
          <p:cNvSpPr txBox="1"/>
          <p:nvPr/>
        </p:nvSpPr>
        <p:spPr>
          <a:xfrm>
            <a:off x="1664208" y="411480"/>
            <a:ext cx="4114800" cy="201168"/>
          </a:xfrm>
          <a:prstGeom prst="rect">
            <a:avLst/>
          </a:prstGeom>
          <a:noFill/>
        </p:spPr>
        <p:txBody>
          <a:bodyPr wrap="square" lIns="54864" rIns="54864" tIns="36576">
            <a:spAutoFit/>
          </a:bodyPr>
          <a:lstStyle/>
          <a:p>
            <a:pPr algn="l">
              <a:defRPr sz="950" b="0">
                <a:solidFill>
                  <a:srgbClr val="646E78"/>
                </a:solidFill>
                <a:latin typeface="Arial"/>
              </a:defRPr>
            </a:pPr>
            <a:r>
              <a:t>Trường Đại học Sư Phạm, Đại học Huế</a:t>
            </a:r>
          </a:p>
        </p:txBody>
      </p:sp>
      <p:sp>
        <p:nvSpPr>
          <p:cNvPr id="7" name="TextBox 6"/>
          <p:cNvSpPr txBox="1"/>
          <p:nvPr/>
        </p:nvSpPr>
        <p:spPr>
          <a:xfrm>
            <a:off x="5486400" y="246888"/>
            <a:ext cx="6217920" cy="274320"/>
          </a:xfrm>
          <a:prstGeom prst="rect">
            <a:avLst/>
          </a:prstGeom>
          <a:noFill/>
        </p:spPr>
        <p:txBody>
          <a:bodyPr wrap="square" lIns="54864" rIns="54864" tIns="36576">
            <a:spAutoFit/>
          </a:bodyPr>
          <a:lstStyle/>
          <a:p>
            <a:pPr algn="r">
              <a:defRPr sz="1400" b="1">
                <a:solidFill>
                  <a:srgbClr val="18375B"/>
                </a:solidFill>
                <a:latin typeface="Arial"/>
              </a:defRPr>
            </a:pPr>
            <a:r>
              <a:t>07 · TÍCH HỢP</a:t>
            </a:r>
          </a:p>
        </p:txBody>
      </p:sp>
      <p:sp>
        <p:nvSpPr>
          <p:cNvPr id="8" name="Rectangle 7"/>
          <p:cNvSpPr/>
          <p:nvPr/>
        </p:nvSpPr>
        <p:spPr>
          <a:xfrm>
            <a:off x="384048" y="914400"/>
            <a:ext cx="11430000" cy="12700"/>
          </a:xfrm>
          <a:prstGeom prst="rect">
            <a:avLst/>
          </a:prstGeom>
          <a:solidFill>
            <a:srgbClr val="D2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6473952"/>
            <a:ext cx="3657600" cy="182880"/>
          </a:xfrm>
          <a:prstGeom prst="rect">
            <a:avLst/>
          </a:prstGeom>
          <a:noFill/>
        </p:spPr>
        <p:txBody>
          <a:bodyPr wrap="square" lIns="54864" rIns="54864" tIns="36576">
            <a:spAutoFit/>
          </a:bodyPr>
          <a:lstStyle/>
          <a:p>
            <a:pPr algn="l">
              <a:defRPr sz="900" b="0">
                <a:solidFill>
                  <a:srgbClr val="646E78"/>
                </a:solidFill>
                <a:latin typeface="Arial"/>
              </a:defRPr>
            </a:pPr>
            <a:r>
              <a:t>GV: Mai Xuân Văn</a:t>
            </a:r>
          </a:p>
        </p:txBody>
      </p:sp>
      <p:sp>
        <p:nvSpPr>
          <p:cNvPr id="10" name="TextBox 9"/>
          <p:cNvSpPr txBox="1"/>
          <p:nvPr/>
        </p:nvSpPr>
        <p:spPr>
          <a:xfrm>
            <a:off x="11292840" y="6473952"/>
            <a:ext cx="411480" cy="182880"/>
          </a:xfrm>
          <a:prstGeom prst="rect">
            <a:avLst/>
          </a:prstGeom>
          <a:noFill/>
        </p:spPr>
        <p:txBody>
          <a:bodyPr wrap="square" lIns="54864" rIns="54864" tIns="36576">
            <a:spAutoFit/>
          </a:bodyPr>
          <a:lstStyle/>
          <a:p>
            <a:pPr algn="r">
              <a:defRPr sz="900" b="0">
                <a:solidFill>
                  <a:srgbClr val="646E78"/>
                </a:solidFill>
                <a:latin typeface="Arial"/>
              </a:defRPr>
            </a:pPr>
            <a:r>
              <a:t>10</a:t>
            </a:r>
          </a:p>
        </p:txBody>
      </p:sp>
      <p:sp>
        <p:nvSpPr>
          <p:cNvPr id="11" name="TextBox 10"/>
          <p:cNvSpPr txBox="1"/>
          <p:nvPr/>
        </p:nvSpPr>
        <p:spPr>
          <a:xfrm>
            <a:off x="502920" y="1115568"/>
            <a:ext cx="11155680" cy="384048"/>
          </a:xfrm>
          <a:prstGeom prst="rect">
            <a:avLst/>
          </a:prstGeom>
          <a:noFill/>
        </p:spPr>
        <p:txBody>
          <a:bodyPr wrap="square" lIns="54864" rIns="54864" tIns="36576">
            <a:spAutoFit/>
          </a:bodyPr>
          <a:lstStyle/>
          <a:p>
            <a:pPr algn="l">
              <a:defRPr sz="2600" b="1">
                <a:solidFill>
                  <a:srgbClr val="18375B"/>
                </a:solidFill>
                <a:latin typeface="Arial"/>
              </a:defRPr>
            </a:pPr>
            <a:r>
              <a:t>Từ hoạt động trong app đến bài học Tin học 10</a:t>
            </a:r>
          </a:p>
        </p:txBody>
      </p:sp>
      <p:sp>
        <p:nvSpPr>
          <p:cNvPr id="12" name="Rounded Rectangle 11"/>
          <p:cNvSpPr/>
          <p:nvPr/>
        </p:nvSpPr>
        <p:spPr>
          <a:xfrm>
            <a:off x="731520" y="1874519"/>
            <a:ext cx="2514600" cy="1143000"/>
          </a:xfrm>
          <a:prstGeom prst="round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039112"/>
            <a:ext cx="2514600" cy="365760"/>
          </a:xfrm>
          <a:prstGeom prst="rect">
            <a:avLst/>
          </a:prstGeom>
          <a:noFill/>
        </p:spPr>
        <p:txBody>
          <a:bodyPr wrap="square" lIns="54864" rIns="54864" tIns="36576">
            <a:spAutoFit/>
          </a:bodyPr>
          <a:lstStyle/>
          <a:p>
            <a:pPr algn="ctr">
              <a:defRPr sz="2700" b="1">
                <a:solidFill>
                  <a:srgbClr val="0066CC"/>
                </a:solidFill>
                <a:latin typeface="Arial"/>
              </a:defRPr>
            </a:pPr>
            <a:r>
              <a:t>28</a:t>
            </a:r>
          </a:p>
        </p:txBody>
      </p:sp>
      <p:sp>
        <p:nvSpPr>
          <p:cNvPr id="14" name="TextBox 13"/>
          <p:cNvSpPr txBox="1"/>
          <p:nvPr/>
        </p:nvSpPr>
        <p:spPr>
          <a:xfrm>
            <a:off x="822960" y="2514600"/>
            <a:ext cx="2331720" cy="228600"/>
          </a:xfrm>
          <a:prstGeom prst="rect">
            <a:avLst/>
          </a:prstGeom>
          <a:noFill/>
        </p:spPr>
        <p:txBody>
          <a:bodyPr wrap="square" lIns="54864" rIns="54864" tIns="36576">
            <a:spAutoFit/>
          </a:bodyPr>
          <a:lstStyle/>
          <a:p>
            <a:pPr algn="ctr">
              <a:defRPr sz="1100" b="1">
                <a:solidFill>
                  <a:srgbClr val="18375B"/>
                </a:solidFill>
                <a:latin typeface="Arial"/>
              </a:defRPr>
            </a:pPr>
            <a:r>
              <a:t>bài SGK được đối chiếu</a:t>
            </a:r>
          </a:p>
        </p:txBody>
      </p:sp>
      <p:sp>
        <p:nvSpPr>
          <p:cNvPr id="15" name="Rounded Rectangle 14"/>
          <p:cNvSpPr/>
          <p:nvPr/>
        </p:nvSpPr>
        <p:spPr>
          <a:xfrm>
            <a:off x="3474720" y="1874519"/>
            <a:ext cx="2514600" cy="1143000"/>
          </a:xfrm>
          <a:prstGeom prst="round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4720" y="2039112"/>
            <a:ext cx="2514600" cy="365760"/>
          </a:xfrm>
          <a:prstGeom prst="rect">
            <a:avLst/>
          </a:prstGeom>
          <a:noFill/>
        </p:spPr>
        <p:txBody>
          <a:bodyPr wrap="square" lIns="54864" rIns="54864" tIns="36576">
            <a:spAutoFit/>
          </a:bodyPr>
          <a:lstStyle/>
          <a:p>
            <a:pPr algn="ctr">
              <a:defRPr sz="2700" b="1">
                <a:solidFill>
                  <a:srgbClr val="0066CC"/>
                </a:solidFill>
                <a:latin typeface="Arial"/>
              </a:defRPr>
            </a:pPr>
            <a:r>
              <a:t>22/22</a:t>
            </a:r>
          </a:p>
        </p:txBody>
      </p:sp>
      <p:sp>
        <p:nvSpPr>
          <p:cNvPr id="17" name="TextBox 16"/>
          <p:cNvSpPr txBox="1"/>
          <p:nvPr/>
        </p:nvSpPr>
        <p:spPr>
          <a:xfrm>
            <a:off x="3566160" y="2514600"/>
            <a:ext cx="2331720" cy="228600"/>
          </a:xfrm>
          <a:prstGeom prst="rect">
            <a:avLst/>
          </a:prstGeom>
          <a:noFill/>
        </p:spPr>
        <p:txBody>
          <a:bodyPr wrap="square" lIns="54864" rIns="54864" tIns="36576">
            <a:spAutoFit/>
          </a:bodyPr>
          <a:lstStyle/>
          <a:p>
            <a:pPr algn="ctr">
              <a:defRPr sz="1100" b="1">
                <a:solidFill>
                  <a:srgbClr val="18375B"/>
                </a:solidFill>
                <a:latin typeface="Arial"/>
              </a:defRPr>
            </a:pPr>
            <a:r>
              <a:t>YCCĐ lớp 10</a:t>
            </a:r>
          </a:p>
        </p:txBody>
      </p:sp>
      <p:sp>
        <p:nvSpPr>
          <p:cNvPr id="18" name="Rounded Rectangle 17"/>
          <p:cNvSpPr/>
          <p:nvPr/>
        </p:nvSpPr>
        <p:spPr>
          <a:xfrm>
            <a:off x="6217920" y="1874519"/>
            <a:ext cx="2514600" cy="1143000"/>
          </a:xfrm>
          <a:prstGeom prst="round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0" y="2039112"/>
            <a:ext cx="2514600" cy="365760"/>
          </a:xfrm>
          <a:prstGeom prst="rect">
            <a:avLst/>
          </a:prstGeom>
          <a:noFill/>
        </p:spPr>
        <p:txBody>
          <a:bodyPr wrap="square" lIns="54864" rIns="54864" tIns="36576">
            <a:spAutoFit/>
          </a:bodyPr>
          <a:lstStyle/>
          <a:p>
            <a:pPr algn="ctr">
              <a:defRPr sz="2700" b="1">
                <a:solidFill>
                  <a:srgbClr val="0066CC"/>
                </a:solidFill>
                <a:latin typeface="Arial"/>
              </a:defRPr>
            </a:pPr>
            <a:r>
              <a:t>12</a:t>
            </a:r>
          </a:p>
        </p:txBody>
      </p:sp>
      <p:sp>
        <p:nvSpPr>
          <p:cNvPr id="20" name="TextBox 19"/>
          <p:cNvSpPr txBox="1"/>
          <p:nvPr/>
        </p:nvSpPr>
        <p:spPr>
          <a:xfrm>
            <a:off x="6309359" y="2514600"/>
            <a:ext cx="2331720" cy="228600"/>
          </a:xfrm>
          <a:prstGeom prst="rect">
            <a:avLst/>
          </a:prstGeom>
          <a:noFill/>
        </p:spPr>
        <p:txBody>
          <a:bodyPr wrap="square" lIns="54864" rIns="54864" tIns="36576">
            <a:spAutoFit/>
          </a:bodyPr>
          <a:lstStyle/>
          <a:p>
            <a:pPr algn="ctr">
              <a:defRPr sz="1100" b="1">
                <a:solidFill>
                  <a:srgbClr val="18375B"/>
                </a:solidFill>
                <a:latin typeface="Arial"/>
              </a:defRPr>
            </a:pPr>
            <a:r>
              <a:t>tiết đề xuất</a:t>
            </a:r>
          </a:p>
        </p:txBody>
      </p:sp>
      <p:sp>
        <p:nvSpPr>
          <p:cNvPr id="21" name="Rounded Rectangle 20"/>
          <p:cNvSpPr/>
          <p:nvPr/>
        </p:nvSpPr>
        <p:spPr>
          <a:xfrm>
            <a:off x="8961120" y="1874519"/>
            <a:ext cx="2423160" cy="1143000"/>
          </a:xfrm>
          <a:prstGeom prst="round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0" y="2039112"/>
            <a:ext cx="2423160" cy="365760"/>
          </a:xfrm>
          <a:prstGeom prst="rect">
            <a:avLst/>
          </a:prstGeom>
          <a:noFill/>
        </p:spPr>
        <p:txBody>
          <a:bodyPr wrap="square" lIns="54864" rIns="54864" tIns="36576">
            <a:spAutoFit/>
          </a:bodyPr>
          <a:lstStyle/>
          <a:p>
            <a:pPr algn="ctr">
              <a:defRPr sz="2700" b="1">
                <a:solidFill>
                  <a:srgbClr val="0066CC"/>
                </a:solidFill>
                <a:latin typeface="Arial"/>
              </a:defRPr>
            </a:pPr>
            <a:r>
              <a:t>5</a:t>
            </a:r>
          </a:p>
        </p:txBody>
      </p:sp>
      <p:sp>
        <p:nvSpPr>
          <p:cNvPr id="23" name="TextBox 22"/>
          <p:cNvSpPr txBox="1"/>
          <p:nvPr/>
        </p:nvSpPr>
        <p:spPr>
          <a:xfrm>
            <a:off x="9052560" y="2514600"/>
            <a:ext cx="2240279" cy="228600"/>
          </a:xfrm>
          <a:prstGeom prst="rect">
            <a:avLst/>
          </a:prstGeom>
          <a:noFill/>
        </p:spPr>
        <p:txBody>
          <a:bodyPr wrap="square" lIns="54864" rIns="54864" tIns="36576">
            <a:spAutoFit/>
          </a:bodyPr>
          <a:lstStyle/>
          <a:p>
            <a:pPr algn="ctr">
              <a:defRPr sz="1100" b="1">
                <a:solidFill>
                  <a:srgbClr val="18375B"/>
                </a:solidFill>
                <a:latin typeface="Arial"/>
              </a:defRPr>
            </a:pPr>
            <a:r>
              <a:t>phân hệ học tập</a:t>
            </a:r>
          </a:p>
        </p:txBody>
      </p:sp>
      <p:sp>
        <p:nvSpPr>
          <p:cNvPr id="24" name="Rectangle 23"/>
          <p:cNvSpPr/>
          <p:nvPr/>
        </p:nvSpPr>
        <p:spPr>
          <a:xfrm>
            <a:off x="740664" y="3621024"/>
            <a:ext cx="3364992" cy="2130552"/>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3-tram0-nhap-lieu.png"/>
          <p:cNvPicPr>
            <a:picLocks noChangeAspect="1"/>
          </p:cNvPicPr>
          <p:nvPr/>
        </p:nvPicPr>
        <p:blipFill>
          <a:blip r:embed="rId4"/>
          <a:stretch>
            <a:fillRect/>
          </a:stretch>
        </p:blipFill>
        <p:spPr>
          <a:xfrm>
            <a:off x="960119" y="3657600"/>
            <a:ext cx="2926080" cy="2057400"/>
          </a:xfrm>
          <a:prstGeom prst="rect">
            <a:avLst/>
          </a:prstGeom>
        </p:spPr>
      </p:pic>
      <p:sp>
        <p:nvSpPr>
          <p:cNvPr id="26" name="Rectangle 25"/>
          <p:cNvSpPr/>
          <p:nvPr/>
        </p:nvSpPr>
        <p:spPr>
          <a:xfrm>
            <a:off x="4398264" y="3621024"/>
            <a:ext cx="3364992" cy="2130552"/>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6-tinh-huong.png"/>
          <p:cNvPicPr>
            <a:picLocks noChangeAspect="1"/>
          </p:cNvPicPr>
          <p:nvPr/>
        </p:nvPicPr>
        <p:blipFill>
          <a:blip r:embed="rId5"/>
          <a:stretch>
            <a:fillRect/>
          </a:stretch>
        </p:blipFill>
        <p:spPr>
          <a:xfrm>
            <a:off x="4617720" y="3657600"/>
            <a:ext cx="2926080" cy="2057400"/>
          </a:xfrm>
          <a:prstGeom prst="rect">
            <a:avLst/>
          </a:prstGeom>
        </p:spPr>
      </p:pic>
      <p:sp>
        <p:nvSpPr>
          <p:cNvPr id="28" name="Rectangle 27"/>
          <p:cNvSpPr/>
          <p:nvPr/>
        </p:nvSpPr>
        <p:spPr>
          <a:xfrm>
            <a:off x="8055864" y="3621024"/>
            <a:ext cx="3364992" cy="2130552"/>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17_man4_da_chon_va_viet_lai.jpg"/>
          <p:cNvPicPr>
            <a:picLocks noChangeAspect="1"/>
          </p:cNvPicPr>
          <p:nvPr/>
        </p:nvPicPr>
        <p:blipFill>
          <a:blip r:embed="rId6"/>
          <a:stretch>
            <a:fillRect/>
          </a:stretch>
        </p:blipFill>
        <p:spPr>
          <a:xfrm>
            <a:off x="9262724" y="3657600"/>
            <a:ext cx="951270" cy="2057400"/>
          </a:xfrm>
          <a:prstGeom prst="rect">
            <a:avLst/>
          </a:prstGeom>
        </p:spPr>
      </p:pic>
      <p:sp>
        <p:nvSpPr>
          <p:cNvPr id="30" name="Rectangle 29"/>
          <p:cNvSpPr/>
          <p:nvPr/>
        </p:nvSpPr>
        <p:spPr>
          <a:xfrm>
            <a:off x="1371600" y="4114800"/>
            <a:ext cx="1828800" cy="914400"/>
          </a:xfrm>
          <a:prstGeom prst="rect">
            <a:avLst/>
          </a:prstGeom>
          <a:noFill/>
          <a:ln w="508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3232"/>
                </a:solidFill>
                <a:latin typeface="Arial"/>
              </a:defRPr>
            </a:pPr>
            <a:r>
              <a:t>Dữ liệu</a:t>
            </a:r>
          </a:p>
        </p:txBody>
      </p:sp>
      <p:sp>
        <p:nvSpPr>
          <p:cNvPr id="31" name="Rectangle 30"/>
          <p:cNvSpPr/>
          <p:nvPr/>
        </p:nvSpPr>
        <p:spPr>
          <a:xfrm>
            <a:off x="5029200" y="4114800"/>
            <a:ext cx="1828800" cy="914400"/>
          </a:xfrm>
          <a:prstGeom prst="rect">
            <a:avLst/>
          </a:prstGeom>
          <a:noFill/>
          <a:ln w="508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3232"/>
                </a:solidFill>
                <a:latin typeface="Arial"/>
              </a:defRPr>
            </a:pPr>
            <a:r>
              <a:t>Đạo đức</a:t>
            </a:r>
          </a:p>
        </p:txBody>
      </p:sp>
      <p:sp>
        <p:nvSpPr>
          <p:cNvPr id="32" name="Rectangle 31"/>
          <p:cNvSpPr/>
          <p:nvPr/>
        </p:nvSpPr>
        <p:spPr>
          <a:xfrm>
            <a:off x="8686800" y="4114800"/>
            <a:ext cx="1828800" cy="914400"/>
          </a:xfrm>
          <a:prstGeom prst="rect">
            <a:avLst/>
          </a:prstGeom>
          <a:noFill/>
          <a:ln w="508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3232"/>
                </a:solidFill>
                <a:latin typeface="Arial"/>
              </a:defRPr>
            </a:pPr>
            <a:r>
              <a:t>Prompt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8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dhsp_hue.png"/>
          <p:cNvPicPr>
            <a:picLocks noChangeAspect="1"/>
          </p:cNvPicPr>
          <p:nvPr/>
        </p:nvPicPr>
        <p:blipFill>
          <a:blip r:embed="rId2"/>
          <a:stretch>
            <a:fillRect/>
          </a:stretch>
        </p:blipFill>
        <p:spPr>
          <a:xfrm>
            <a:off x="384048" y="155448"/>
            <a:ext cx="530352" cy="530352"/>
          </a:xfrm>
          <a:prstGeom prst="rect">
            <a:avLst/>
          </a:prstGeom>
        </p:spPr>
      </p:pic>
      <p:pic>
        <p:nvPicPr>
          <p:cNvPr id="4" name="Picture 3" descr="logo_thpt_thuan_hoa.png"/>
          <p:cNvPicPr>
            <a:picLocks noChangeAspect="1"/>
          </p:cNvPicPr>
          <p:nvPr/>
        </p:nvPicPr>
        <p:blipFill>
          <a:blip r:embed="rId3"/>
          <a:stretch>
            <a:fillRect/>
          </a:stretch>
        </p:blipFill>
        <p:spPr>
          <a:xfrm>
            <a:off x="1024128" y="155448"/>
            <a:ext cx="530352" cy="530352"/>
          </a:xfrm>
          <a:prstGeom prst="rect">
            <a:avLst/>
          </a:prstGeom>
        </p:spPr>
      </p:pic>
      <p:sp>
        <p:nvSpPr>
          <p:cNvPr id="5" name="TextBox 4"/>
          <p:cNvSpPr txBox="1"/>
          <p:nvPr/>
        </p:nvSpPr>
        <p:spPr>
          <a:xfrm>
            <a:off x="1664208" y="155448"/>
            <a:ext cx="4023360" cy="237744"/>
          </a:xfrm>
          <a:prstGeom prst="rect">
            <a:avLst/>
          </a:prstGeom>
          <a:noFill/>
        </p:spPr>
        <p:txBody>
          <a:bodyPr wrap="square" lIns="54864" rIns="54864" tIns="36576">
            <a:spAutoFit/>
          </a:bodyPr>
          <a:lstStyle/>
          <a:p>
            <a:pPr algn="l">
              <a:defRPr sz="1100" b="1">
                <a:solidFill>
                  <a:srgbClr val="18375B"/>
                </a:solidFill>
                <a:latin typeface="Arial"/>
              </a:defRPr>
            </a:pPr>
            <a:r>
              <a:t>Trường THPT Thuận Hoá</a:t>
            </a:r>
          </a:p>
        </p:txBody>
      </p:sp>
      <p:sp>
        <p:nvSpPr>
          <p:cNvPr id="6" name="TextBox 5"/>
          <p:cNvSpPr txBox="1"/>
          <p:nvPr/>
        </p:nvSpPr>
        <p:spPr>
          <a:xfrm>
            <a:off x="1664208" y="411480"/>
            <a:ext cx="4114800" cy="201168"/>
          </a:xfrm>
          <a:prstGeom prst="rect">
            <a:avLst/>
          </a:prstGeom>
          <a:noFill/>
        </p:spPr>
        <p:txBody>
          <a:bodyPr wrap="square" lIns="54864" rIns="54864" tIns="36576">
            <a:spAutoFit/>
          </a:bodyPr>
          <a:lstStyle/>
          <a:p>
            <a:pPr algn="l">
              <a:defRPr sz="950" b="0">
                <a:solidFill>
                  <a:srgbClr val="646E78"/>
                </a:solidFill>
                <a:latin typeface="Arial"/>
              </a:defRPr>
            </a:pPr>
            <a:r>
              <a:t>Trường Đại học Sư Phạm, Đại học Huế</a:t>
            </a:r>
          </a:p>
        </p:txBody>
      </p:sp>
      <p:sp>
        <p:nvSpPr>
          <p:cNvPr id="7" name="TextBox 6"/>
          <p:cNvSpPr txBox="1"/>
          <p:nvPr/>
        </p:nvSpPr>
        <p:spPr>
          <a:xfrm>
            <a:off x="5486400" y="246888"/>
            <a:ext cx="6217920" cy="274320"/>
          </a:xfrm>
          <a:prstGeom prst="rect">
            <a:avLst/>
          </a:prstGeom>
          <a:noFill/>
        </p:spPr>
        <p:txBody>
          <a:bodyPr wrap="square" lIns="54864" rIns="54864" tIns="36576">
            <a:spAutoFit/>
          </a:bodyPr>
          <a:lstStyle/>
          <a:p>
            <a:pPr algn="r">
              <a:defRPr sz="1400" b="1">
                <a:solidFill>
                  <a:srgbClr val="18375B"/>
                </a:solidFill>
                <a:latin typeface="Arial"/>
              </a:defRPr>
            </a:pPr>
            <a:r>
              <a:t>08 · MINH CHỨNG</a:t>
            </a:r>
          </a:p>
        </p:txBody>
      </p:sp>
      <p:sp>
        <p:nvSpPr>
          <p:cNvPr id="8" name="Rectangle 7"/>
          <p:cNvSpPr/>
          <p:nvPr/>
        </p:nvSpPr>
        <p:spPr>
          <a:xfrm>
            <a:off x="384048" y="914400"/>
            <a:ext cx="11430000" cy="12700"/>
          </a:xfrm>
          <a:prstGeom prst="rect">
            <a:avLst/>
          </a:prstGeom>
          <a:solidFill>
            <a:srgbClr val="D2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6473952"/>
            <a:ext cx="3657600" cy="182880"/>
          </a:xfrm>
          <a:prstGeom prst="rect">
            <a:avLst/>
          </a:prstGeom>
          <a:noFill/>
        </p:spPr>
        <p:txBody>
          <a:bodyPr wrap="square" lIns="54864" rIns="54864" tIns="36576">
            <a:spAutoFit/>
          </a:bodyPr>
          <a:lstStyle/>
          <a:p>
            <a:pPr algn="l">
              <a:defRPr sz="900" b="0">
                <a:solidFill>
                  <a:srgbClr val="646E78"/>
                </a:solidFill>
                <a:latin typeface="Arial"/>
              </a:defRPr>
            </a:pPr>
            <a:r>
              <a:t>GV: Mai Xuân Văn</a:t>
            </a:r>
          </a:p>
        </p:txBody>
      </p:sp>
      <p:sp>
        <p:nvSpPr>
          <p:cNvPr id="10" name="TextBox 9"/>
          <p:cNvSpPr txBox="1"/>
          <p:nvPr/>
        </p:nvSpPr>
        <p:spPr>
          <a:xfrm>
            <a:off x="11292840" y="6473952"/>
            <a:ext cx="411480" cy="182880"/>
          </a:xfrm>
          <a:prstGeom prst="rect">
            <a:avLst/>
          </a:prstGeom>
          <a:noFill/>
        </p:spPr>
        <p:txBody>
          <a:bodyPr wrap="square" lIns="54864" rIns="54864" tIns="36576">
            <a:spAutoFit/>
          </a:bodyPr>
          <a:lstStyle/>
          <a:p>
            <a:pPr algn="r">
              <a:defRPr sz="900" b="0">
                <a:solidFill>
                  <a:srgbClr val="646E78"/>
                </a:solidFill>
                <a:latin typeface="Arial"/>
              </a:defRPr>
            </a:pPr>
            <a:r>
              <a:t>11</a:t>
            </a:r>
          </a:p>
        </p:txBody>
      </p:sp>
      <p:sp>
        <p:nvSpPr>
          <p:cNvPr id="11" name="TextBox 10"/>
          <p:cNvSpPr txBox="1"/>
          <p:nvPr/>
        </p:nvSpPr>
        <p:spPr>
          <a:xfrm>
            <a:off x="502920" y="1115568"/>
            <a:ext cx="11155680" cy="384048"/>
          </a:xfrm>
          <a:prstGeom prst="rect">
            <a:avLst/>
          </a:prstGeom>
          <a:noFill/>
        </p:spPr>
        <p:txBody>
          <a:bodyPr wrap="square" lIns="54864" rIns="54864" tIns="36576">
            <a:spAutoFit/>
          </a:bodyPr>
          <a:lstStyle/>
          <a:p>
            <a:pPr algn="l">
              <a:defRPr sz="2600" b="1">
                <a:solidFill>
                  <a:srgbClr val="18375B"/>
                </a:solidFill>
                <a:latin typeface="Arial"/>
              </a:defRPr>
            </a:pPr>
            <a:r>
              <a:t>Sản phẩm không chỉ cho học sinh thao tác — còn để lại minh chứng</a:t>
            </a:r>
          </a:p>
        </p:txBody>
      </p:sp>
      <p:sp>
        <p:nvSpPr>
          <p:cNvPr id="12" name="Rectangle 11"/>
          <p:cNvSpPr/>
          <p:nvPr/>
        </p:nvSpPr>
        <p:spPr>
          <a:xfrm>
            <a:off x="649224" y="1792224"/>
            <a:ext cx="4096512" cy="4005072"/>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25_da_gui_tep.jpg"/>
          <p:cNvPicPr>
            <a:picLocks noChangeAspect="1"/>
          </p:cNvPicPr>
          <p:nvPr/>
        </p:nvPicPr>
        <p:blipFill>
          <a:blip r:embed="rId4"/>
          <a:stretch>
            <a:fillRect/>
          </a:stretch>
        </p:blipFill>
        <p:spPr>
          <a:xfrm>
            <a:off x="1788487" y="1828800"/>
            <a:ext cx="1817984" cy="3931920"/>
          </a:xfrm>
          <a:prstGeom prst="rect">
            <a:avLst/>
          </a:prstGeom>
        </p:spPr>
      </p:pic>
      <p:sp>
        <p:nvSpPr>
          <p:cNvPr id="14" name="Rounded Rectangle 13"/>
          <p:cNvSpPr/>
          <p:nvPr/>
        </p:nvSpPr>
        <p:spPr>
          <a:xfrm>
            <a:off x="5074920" y="1828800"/>
            <a:ext cx="2743200" cy="1417320"/>
          </a:xfrm>
          <a:prstGeom prst="roundRect">
            <a:avLst/>
          </a:prstGeom>
          <a:solidFill>
            <a:srgbClr val="FFFFFF"/>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74920" y="1828800"/>
            <a:ext cx="63500" cy="141732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39512" y="1965960"/>
            <a:ext cx="2468880" cy="256032"/>
          </a:xfrm>
          <a:prstGeom prst="rect">
            <a:avLst/>
          </a:prstGeom>
          <a:noFill/>
        </p:spPr>
        <p:txBody>
          <a:bodyPr wrap="square" lIns="54864" rIns="54864" tIns="36576">
            <a:spAutoFit/>
          </a:bodyPr>
          <a:lstStyle/>
          <a:p>
            <a:pPr algn="l">
              <a:defRPr sz="1400" b="1">
                <a:solidFill>
                  <a:srgbClr val="0066CC"/>
                </a:solidFill>
                <a:latin typeface="Arial"/>
              </a:defRPr>
            </a:pPr>
            <a:r>
              <a:t>THEO DÕI</a:t>
            </a:r>
          </a:p>
        </p:txBody>
      </p:sp>
      <p:sp>
        <p:nvSpPr>
          <p:cNvPr id="17" name="TextBox 16"/>
          <p:cNvSpPr txBox="1"/>
          <p:nvPr/>
        </p:nvSpPr>
        <p:spPr>
          <a:xfrm>
            <a:off x="5239512" y="2359152"/>
            <a:ext cx="2468880" cy="777240"/>
          </a:xfrm>
          <a:prstGeom prst="rect">
            <a:avLst/>
          </a:prstGeom>
          <a:noFill/>
        </p:spPr>
        <p:txBody>
          <a:bodyPr wrap="square" lIns="54864" rIns="54864" tIns="36576">
            <a:spAutoFit/>
          </a:bodyPr>
          <a:lstStyle/>
          <a:p>
            <a:pPr algn="l">
              <a:defRPr sz="1400" b="0">
                <a:solidFill>
                  <a:srgbClr val="2D3741"/>
                </a:solidFill>
                <a:latin typeface="Arial"/>
              </a:defRPr>
            </a:pPr>
            <a:r>
              <a:t>Hoạt động được ghi theo mã ẩn danh.</a:t>
            </a:r>
          </a:p>
        </p:txBody>
      </p:sp>
      <p:sp>
        <p:nvSpPr>
          <p:cNvPr id="18" name="Rounded Rectangle 17"/>
          <p:cNvSpPr/>
          <p:nvPr/>
        </p:nvSpPr>
        <p:spPr>
          <a:xfrm>
            <a:off x="8046720" y="1828800"/>
            <a:ext cx="3383280" cy="1417320"/>
          </a:xfrm>
          <a:prstGeom prst="roundRect">
            <a:avLst/>
          </a:prstGeom>
          <a:solidFill>
            <a:srgbClr val="FFFFFF"/>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6720" y="1828800"/>
            <a:ext cx="63500" cy="1417320"/>
          </a:xfrm>
          <a:prstGeom prst="rect">
            <a:avLst/>
          </a:prstGeom>
          <a:solidFill>
            <a:srgbClr val="D399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1312" y="1965960"/>
            <a:ext cx="3108960" cy="256032"/>
          </a:xfrm>
          <a:prstGeom prst="rect">
            <a:avLst/>
          </a:prstGeom>
          <a:noFill/>
        </p:spPr>
        <p:txBody>
          <a:bodyPr wrap="square" lIns="54864" rIns="54864" tIns="36576">
            <a:spAutoFit/>
          </a:bodyPr>
          <a:lstStyle/>
          <a:p>
            <a:pPr algn="l">
              <a:defRPr sz="1400" b="1">
                <a:solidFill>
                  <a:srgbClr val="D3992A"/>
                </a:solidFill>
                <a:latin typeface="Arial"/>
              </a:defRPr>
            </a:pPr>
            <a:r>
              <a:t>PHẢN HỒI</a:t>
            </a:r>
          </a:p>
        </p:txBody>
      </p:sp>
      <p:sp>
        <p:nvSpPr>
          <p:cNvPr id="21" name="TextBox 20"/>
          <p:cNvSpPr txBox="1"/>
          <p:nvPr/>
        </p:nvSpPr>
        <p:spPr>
          <a:xfrm>
            <a:off x="8211312" y="2359152"/>
            <a:ext cx="3108960" cy="777240"/>
          </a:xfrm>
          <a:prstGeom prst="rect">
            <a:avLst/>
          </a:prstGeom>
          <a:noFill/>
        </p:spPr>
        <p:txBody>
          <a:bodyPr wrap="square" lIns="54864" rIns="54864" tIns="36576">
            <a:spAutoFit/>
          </a:bodyPr>
          <a:lstStyle/>
          <a:p>
            <a:pPr algn="l">
              <a:defRPr sz="1400" b="0">
                <a:solidFill>
                  <a:srgbClr val="2D3741"/>
                </a:solidFill>
                <a:latin typeface="Arial"/>
              </a:defRPr>
            </a:pPr>
            <a:r>
              <a:t>Nhiệm vụ có nhãn đúng cố định được phản hồi ngay.</a:t>
            </a:r>
          </a:p>
        </p:txBody>
      </p:sp>
      <p:sp>
        <p:nvSpPr>
          <p:cNvPr id="22" name="Rounded Rectangle 21"/>
          <p:cNvSpPr/>
          <p:nvPr/>
        </p:nvSpPr>
        <p:spPr>
          <a:xfrm>
            <a:off x="5074920" y="3520440"/>
            <a:ext cx="2743200" cy="1417320"/>
          </a:xfrm>
          <a:prstGeom prst="roundRect">
            <a:avLst/>
          </a:prstGeom>
          <a:solidFill>
            <a:srgbClr val="FFFFFF"/>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74920" y="3520440"/>
            <a:ext cx="63500" cy="1417320"/>
          </a:xfrm>
          <a:prstGeom prst="rect">
            <a:avLst/>
          </a:prstGeom>
          <a:solidFill>
            <a:srgbClr val="258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39512" y="3657600"/>
            <a:ext cx="2468880" cy="256032"/>
          </a:xfrm>
          <a:prstGeom prst="rect">
            <a:avLst/>
          </a:prstGeom>
          <a:noFill/>
        </p:spPr>
        <p:txBody>
          <a:bodyPr wrap="square" lIns="54864" rIns="54864" tIns="36576">
            <a:spAutoFit/>
          </a:bodyPr>
          <a:lstStyle/>
          <a:p>
            <a:pPr algn="l">
              <a:defRPr sz="1400" b="1">
                <a:solidFill>
                  <a:srgbClr val="258B5D"/>
                </a:solidFill>
                <a:latin typeface="Arial"/>
              </a:defRPr>
            </a:pPr>
            <a:r>
              <a:t>XUẤT TỆP</a:t>
            </a:r>
          </a:p>
        </p:txBody>
      </p:sp>
      <p:sp>
        <p:nvSpPr>
          <p:cNvPr id="25" name="TextBox 24"/>
          <p:cNvSpPr txBox="1"/>
          <p:nvPr/>
        </p:nvSpPr>
        <p:spPr>
          <a:xfrm>
            <a:off x="5239512" y="4050791"/>
            <a:ext cx="2468880" cy="777240"/>
          </a:xfrm>
          <a:prstGeom prst="rect">
            <a:avLst/>
          </a:prstGeom>
          <a:noFill/>
        </p:spPr>
        <p:txBody>
          <a:bodyPr wrap="square" lIns="54864" rIns="54864" tIns="36576">
            <a:spAutoFit/>
          </a:bodyPr>
          <a:lstStyle/>
          <a:p>
            <a:pPr algn="l">
              <a:defRPr sz="1400" b="0">
                <a:solidFill>
                  <a:srgbClr val="2D3741"/>
                </a:solidFill>
                <a:latin typeface="Arial"/>
              </a:defRPr>
            </a:pPr>
            <a:r>
              <a:t>Giáo viên có thể xuất dữ liệu làm minh chứng.</a:t>
            </a:r>
          </a:p>
        </p:txBody>
      </p:sp>
      <p:sp>
        <p:nvSpPr>
          <p:cNvPr id="26" name="Rounded Rectangle 25"/>
          <p:cNvSpPr/>
          <p:nvPr/>
        </p:nvSpPr>
        <p:spPr>
          <a:xfrm>
            <a:off x="8046720" y="3520440"/>
            <a:ext cx="3383280" cy="1417320"/>
          </a:xfrm>
          <a:prstGeom prst="roundRect">
            <a:avLst/>
          </a:prstGeom>
          <a:solidFill>
            <a:srgbClr val="FFFFFF"/>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46720" y="3520440"/>
            <a:ext cx="63500" cy="1417320"/>
          </a:xfrm>
          <a:prstGeom prst="rect">
            <a:avLst/>
          </a:prstGeom>
          <a:solidFill>
            <a:srgbClr val="874E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11312" y="3657600"/>
            <a:ext cx="3108960" cy="256032"/>
          </a:xfrm>
          <a:prstGeom prst="rect">
            <a:avLst/>
          </a:prstGeom>
          <a:noFill/>
        </p:spPr>
        <p:txBody>
          <a:bodyPr wrap="square" lIns="54864" rIns="54864" tIns="36576">
            <a:spAutoFit/>
          </a:bodyPr>
          <a:lstStyle/>
          <a:p>
            <a:pPr algn="l">
              <a:defRPr sz="1400" b="1">
                <a:solidFill>
                  <a:srgbClr val="874EAA"/>
                </a:solidFill>
                <a:latin typeface="Arial"/>
              </a:defRPr>
            </a:pPr>
            <a:r>
              <a:t>BẢO VỆ DỮ LIỆU</a:t>
            </a:r>
          </a:p>
        </p:txBody>
      </p:sp>
      <p:sp>
        <p:nvSpPr>
          <p:cNvPr id="29" name="TextBox 28"/>
          <p:cNvSpPr txBox="1"/>
          <p:nvPr/>
        </p:nvSpPr>
        <p:spPr>
          <a:xfrm>
            <a:off x="8211312" y="4050791"/>
            <a:ext cx="3108960" cy="777240"/>
          </a:xfrm>
          <a:prstGeom prst="rect">
            <a:avLst/>
          </a:prstGeom>
          <a:noFill/>
        </p:spPr>
        <p:txBody>
          <a:bodyPr wrap="square" lIns="54864" rIns="54864" tIns="36576">
            <a:spAutoFit/>
          </a:bodyPr>
          <a:lstStyle/>
          <a:p>
            <a:pPr algn="l">
              <a:defRPr sz="1400" b="0">
                <a:solidFill>
                  <a:srgbClr val="2D3741"/>
                </a:solidFill>
                <a:latin typeface="Arial"/>
              </a:defRPr>
            </a:pPr>
            <a:r>
              <a:t>Không yêu cầu tài khoản học sinh.</a:t>
            </a:r>
          </a:p>
        </p:txBody>
      </p:sp>
      <p:sp>
        <p:nvSpPr>
          <p:cNvPr id="30" name="Rectangle 29"/>
          <p:cNvSpPr/>
          <p:nvPr/>
        </p:nvSpPr>
        <p:spPr>
          <a:xfrm>
            <a:off x="1371600" y="2743200"/>
            <a:ext cx="2286000" cy="1371600"/>
          </a:xfrm>
          <a:prstGeom prst="rect">
            <a:avLst/>
          </a:prstGeom>
          <a:noFill/>
          <a:ln w="508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3232"/>
                </a:solidFill>
                <a:latin typeface="Arial"/>
              </a:defRPr>
            </a:pPr>
            <a:r>
              <a:t>Xuất tệp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8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dhsp_hue.png"/>
          <p:cNvPicPr>
            <a:picLocks noChangeAspect="1"/>
          </p:cNvPicPr>
          <p:nvPr/>
        </p:nvPicPr>
        <p:blipFill>
          <a:blip r:embed="rId2"/>
          <a:stretch>
            <a:fillRect/>
          </a:stretch>
        </p:blipFill>
        <p:spPr>
          <a:xfrm>
            <a:off x="384048" y="155448"/>
            <a:ext cx="530352" cy="530352"/>
          </a:xfrm>
          <a:prstGeom prst="rect">
            <a:avLst/>
          </a:prstGeom>
        </p:spPr>
      </p:pic>
      <p:pic>
        <p:nvPicPr>
          <p:cNvPr id="4" name="Picture 3" descr="logo_thpt_thuan_hoa.png"/>
          <p:cNvPicPr>
            <a:picLocks noChangeAspect="1"/>
          </p:cNvPicPr>
          <p:nvPr/>
        </p:nvPicPr>
        <p:blipFill>
          <a:blip r:embed="rId3"/>
          <a:stretch>
            <a:fillRect/>
          </a:stretch>
        </p:blipFill>
        <p:spPr>
          <a:xfrm>
            <a:off x="1024128" y="155448"/>
            <a:ext cx="530352" cy="530352"/>
          </a:xfrm>
          <a:prstGeom prst="rect">
            <a:avLst/>
          </a:prstGeom>
        </p:spPr>
      </p:pic>
      <p:sp>
        <p:nvSpPr>
          <p:cNvPr id="5" name="TextBox 4"/>
          <p:cNvSpPr txBox="1"/>
          <p:nvPr/>
        </p:nvSpPr>
        <p:spPr>
          <a:xfrm>
            <a:off x="1664208" y="155448"/>
            <a:ext cx="4023360" cy="237744"/>
          </a:xfrm>
          <a:prstGeom prst="rect">
            <a:avLst/>
          </a:prstGeom>
          <a:noFill/>
        </p:spPr>
        <p:txBody>
          <a:bodyPr wrap="square" lIns="54864" rIns="54864" tIns="36576">
            <a:spAutoFit/>
          </a:bodyPr>
          <a:lstStyle/>
          <a:p>
            <a:pPr algn="l">
              <a:defRPr sz="1100" b="1">
                <a:solidFill>
                  <a:srgbClr val="18375B"/>
                </a:solidFill>
                <a:latin typeface="Arial"/>
              </a:defRPr>
            </a:pPr>
            <a:r>
              <a:t>Trường THPT Thuận Hoá</a:t>
            </a:r>
          </a:p>
        </p:txBody>
      </p:sp>
      <p:sp>
        <p:nvSpPr>
          <p:cNvPr id="6" name="TextBox 5"/>
          <p:cNvSpPr txBox="1"/>
          <p:nvPr/>
        </p:nvSpPr>
        <p:spPr>
          <a:xfrm>
            <a:off x="1664208" y="411480"/>
            <a:ext cx="4114800" cy="201168"/>
          </a:xfrm>
          <a:prstGeom prst="rect">
            <a:avLst/>
          </a:prstGeom>
          <a:noFill/>
        </p:spPr>
        <p:txBody>
          <a:bodyPr wrap="square" lIns="54864" rIns="54864" tIns="36576">
            <a:spAutoFit/>
          </a:bodyPr>
          <a:lstStyle/>
          <a:p>
            <a:pPr algn="l">
              <a:defRPr sz="950" b="0">
                <a:solidFill>
                  <a:srgbClr val="646E78"/>
                </a:solidFill>
                <a:latin typeface="Arial"/>
              </a:defRPr>
            </a:pPr>
            <a:r>
              <a:t>Trường Đại học Sư Phạm, Đại học Huế</a:t>
            </a:r>
          </a:p>
        </p:txBody>
      </p:sp>
      <p:sp>
        <p:nvSpPr>
          <p:cNvPr id="7" name="TextBox 6"/>
          <p:cNvSpPr txBox="1"/>
          <p:nvPr/>
        </p:nvSpPr>
        <p:spPr>
          <a:xfrm>
            <a:off x="5486400" y="246888"/>
            <a:ext cx="6217920" cy="274320"/>
          </a:xfrm>
          <a:prstGeom prst="rect">
            <a:avLst/>
          </a:prstGeom>
          <a:noFill/>
        </p:spPr>
        <p:txBody>
          <a:bodyPr wrap="square" lIns="54864" rIns="54864" tIns="36576">
            <a:spAutoFit/>
          </a:bodyPr>
          <a:lstStyle/>
          <a:p>
            <a:pPr algn="r">
              <a:defRPr sz="1400" b="1">
                <a:solidFill>
                  <a:srgbClr val="18375B"/>
                </a:solidFill>
                <a:latin typeface="Arial"/>
              </a:defRPr>
            </a:pPr>
            <a:r>
              <a:t>09 · KIỂM TRA</a:t>
            </a:r>
          </a:p>
        </p:txBody>
      </p:sp>
      <p:sp>
        <p:nvSpPr>
          <p:cNvPr id="8" name="Rectangle 7"/>
          <p:cNvSpPr/>
          <p:nvPr/>
        </p:nvSpPr>
        <p:spPr>
          <a:xfrm>
            <a:off x="384048" y="914400"/>
            <a:ext cx="11430000" cy="12700"/>
          </a:xfrm>
          <a:prstGeom prst="rect">
            <a:avLst/>
          </a:prstGeom>
          <a:solidFill>
            <a:srgbClr val="D2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6473952"/>
            <a:ext cx="3657600" cy="182880"/>
          </a:xfrm>
          <a:prstGeom prst="rect">
            <a:avLst/>
          </a:prstGeom>
          <a:noFill/>
        </p:spPr>
        <p:txBody>
          <a:bodyPr wrap="square" lIns="54864" rIns="54864" tIns="36576">
            <a:spAutoFit/>
          </a:bodyPr>
          <a:lstStyle/>
          <a:p>
            <a:pPr algn="l">
              <a:defRPr sz="900" b="0">
                <a:solidFill>
                  <a:srgbClr val="646E78"/>
                </a:solidFill>
                <a:latin typeface="Arial"/>
              </a:defRPr>
            </a:pPr>
            <a:r>
              <a:t>GV: Mai Xuân Văn</a:t>
            </a:r>
          </a:p>
        </p:txBody>
      </p:sp>
      <p:sp>
        <p:nvSpPr>
          <p:cNvPr id="10" name="TextBox 9"/>
          <p:cNvSpPr txBox="1"/>
          <p:nvPr/>
        </p:nvSpPr>
        <p:spPr>
          <a:xfrm>
            <a:off x="11292840" y="6473952"/>
            <a:ext cx="411480" cy="182880"/>
          </a:xfrm>
          <a:prstGeom prst="rect">
            <a:avLst/>
          </a:prstGeom>
          <a:noFill/>
        </p:spPr>
        <p:txBody>
          <a:bodyPr wrap="square" lIns="54864" rIns="54864" tIns="36576">
            <a:spAutoFit/>
          </a:bodyPr>
          <a:lstStyle/>
          <a:p>
            <a:pPr algn="r">
              <a:defRPr sz="900" b="0">
                <a:solidFill>
                  <a:srgbClr val="646E78"/>
                </a:solidFill>
                <a:latin typeface="Arial"/>
              </a:defRPr>
            </a:pPr>
            <a:r>
              <a:t>12</a:t>
            </a:r>
          </a:p>
        </p:txBody>
      </p:sp>
      <p:sp>
        <p:nvSpPr>
          <p:cNvPr id="11" name="TextBox 10"/>
          <p:cNvSpPr txBox="1"/>
          <p:nvPr/>
        </p:nvSpPr>
        <p:spPr>
          <a:xfrm>
            <a:off x="502920" y="1115568"/>
            <a:ext cx="11155680" cy="384048"/>
          </a:xfrm>
          <a:prstGeom prst="rect">
            <a:avLst/>
          </a:prstGeom>
          <a:noFill/>
        </p:spPr>
        <p:txBody>
          <a:bodyPr wrap="square" lIns="54864" rIns="54864" tIns="36576">
            <a:spAutoFit/>
          </a:bodyPr>
          <a:lstStyle/>
          <a:p>
            <a:pPr algn="l">
              <a:defRPr sz="2600" b="1">
                <a:solidFill>
                  <a:srgbClr val="18375B"/>
                </a:solidFill>
                <a:latin typeface="Arial"/>
              </a:defRPr>
            </a:pPr>
            <a:r>
              <a:t>Những gì đã được kiểm tra</a:t>
            </a:r>
          </a:p>
        </p:txBody>
      </p:sp>
      <p:sp>
        <p:nvSpPr>
          <p:cNvPr id="12" name="TextBox 11"/>
          <p:cNvSpPr txBox="1"/>
          <p:nvPr/>
        </p:nvSpPr>
        <p:spPr>
          <a:xfrm>
            <a:off x="530352" y="1536192"/>
            <a:ext cx="10972800" cy="256032"/>
          </a:xfrm>
          <a:prstGeom prst="rect">
            <a:avLst/>
          </a:prstGeom>
          <a:noFill/>
        </p:spPr>
        <p:txBody>
          <a:bodyPr wrap="square" lIns="54864" rIns="54864" tIns="36576">
            <a:spAutoFit/>
          </a:bodyPr>
          <a:lstStyle/>
          <a:p>
            <a:pPr algn="l">
              <a:defRPr sz="1200" b="0">
                <a:solidFill>
                  <a:srgbClr val="646E78"/>
                </a:solidFill>
                <a:latin typeface="Arial"/>
              </a:defRPr>
            </a:pPr>
            <a:r>
              <a:t>Đây là kiểm thử sản phẩm, không phải số liệu tác động học tập</a:t>
            </a:r>
          </a:p>
        </p:txBody>
      </p:sp>
      <p:sp>
        <p:nvSpPr>
          <p:cNvPr id="13" name="Rounded Rectangle 12"/>
          <p:cNvSpPr/>
          <p:nvPr/>
        </p:nvSpPr>
        <p:spPr>
          <a:xfrm>
            <a:off x="731520" y="2011680"/>
            <a:ext cx="2560320" cy="1143000"/>
          </a:xfrm>
          <a:prstGeom prst="round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176272"/>
            <a:ext cx="2560320" cy="365760"/>
          </a:xfrm>
          <a:prstGeom prst="rect">
            <a:avLst/>
          </a:prstGeom>
          <a:noFill/>
        </p:spPr>
        <p:txBody>
          <a:bodyPr wrap="square" lIns="54864" rIns="54864" tIns="36576">
            <a:spAutoFit/>
          </a:bodyPr>
          <a:lstStyle/>
          <a:p>
            <a:pPr algn="ctr">
              <a:defRPr sz="2700" b="1">
                <a:solidFill>
                  <a:srgbClr val="0066CC"/>
                </a:solidFill>
                <a:latin typeface="Arial"/>
              </a:defRPr>
            </a:pPr>
            <a:r>
              <a:t>97/97</a:t>
            </a:r>
          </a:p>
        </p:txBody>
      </p:sp>
      <p:sp>
        <p:nvSpPr>
          <p:cNvPr id="15" name="TextBox 14"/>
          <p:cNvSpPr txBox="1"/>
          <p:nvPr/>
        </p:nvSpPr>
        <p:spPr>
          <a:xfrm>
            <a:off x="822960" y="2651760"/>
            <a:ext cx="2377439" cy="228600"/>
          </a:xfrm>
          <a:prstGeom prst="rect">
            <a:avLst/>
          </a:prstGeom>
          <a:noFill/>
        </p:spPr>
        <p:txBody>
          <a:bodyPr wrap="square" lIns="54864" rIns="54864" tIns="36576">
            <a:spAutoFit/>
          </a:bodyPr>
          <a:lstStyle/>
          <a:p>
            <a:pPr algn="ctr">
              <a:defRPr sz="1100" b="1">
                <a:solidFill>
                  <a:srgbClr val="18375B"/>
                </a:solidFill>
                <a:latin typeface="Arial"/>
              </a:defRPr>
            </a:pPr>
            <a:r>
              <a:t>tiêu chí nghiệm thu</a:t>
            </a:r>
          </a:p>
        </p:txBody>
      </p:sp>
      <p:sp>
        <p:nvSpPr>
          <p:cNvPr id="16" name="Rounded Rectangle 15"/>
          <p:cNvSpPr/>
          <p:nvPr/>
        </p:nvSpPr>
        <p:spPr>
          <a:xfrm>
            <a:off x="3520440" y="2011680"/>
            <a:ext cx="2560320" cy="1143000"/>
          </a:xfrm>
          <a:prstGeom prst="round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20440" y="2176272"/>
            <a:ext cx="2560320" cy="365760"/>
          </a:xfrm>
          <a:prstGeom prst="rect">
            <a:avLst/>
          </a:prstGeom>
          <a:noFill/>
        </p:spPr>
        <p:txBody>
          <a:bodyPr wrap="square" lIns="54864" rIns="54864" tIns="36576">
            <a:spAutoFit/>
          </a:bodyPr>
          <a:lstStyle/>
          <a:p>
            <a:pPr algn="ctr">
              <a:defRPr sz="2700" b="1">
                <a:solidFill>
                  <a:srgbClr val="0066CC"/>
                </a:solidFill>
                <a:latin typeface="Arial"/>
              </a:defRPr>
            </a:pPr>
            <a:r>
              <a:t>22/22</a:t>
            </a:r>
          </a:p>
        </p:txBody>
      </p:sp>
      <p:sp>
        <p:nvSpPr>
          <p:cNvPr id="18" name="TextBox 17"/>
          <p:cNvSpPr txBox="1"/>
          <p:nvPr/>
        </p:nvSpPr>
        <p:spPr>
          <a:xfrm>
            <a:off x="3611880" y="2651760"/>
            <a:ext cx="2377439" cy="228600"/>
          </a:xfrm>
          <a:prstGeom prst="rect">
            <a:avLst/>
          </a:prstGeom>
          <a:noFill/>
        </p:spPr>
        <p:txBody>
          <a:bodyPr wrap="square" lIns="54864" rIns="54864" tIns="36576">
            <a:spAutoFit/>
          </a:bodyPr>
          <a:lstStyle/>
          <a:p>
            <a:pPr algn="ctr">
              <a:defRPr sz="1100" b="1">
                <a:solidFill>
                  <a:srgbClr val="18375B"/>
                </a:solidFill>
                <a:latin typeface="Arial"/>
              </a:defRPr>
            </a:pPr>
            <a:r>
              <a:t>YCCĐ được phủ</a:t>
            </a:r>
          </a:p>
        </p:txBody>
      </p:sp>
      <p:sp>
        <p:nvSpPr>
          <p:cNvPr id="19" name="Rounded Rectangle 18"/>
          <p:cNvSpPr/>
          <p:nvPr/>
        </p:nvSpPr>
        <p:spPr>
          <a:xfrm>
            <a:off x="6309360" y="2011680"/>
            <a:ext cx="2560320" cy="1143000"/>
          </a:xfrm>
          <a:prstGeom prst="round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2176272"/>
            <a:ext cx="2560320" cy="365760"/>
          </a:xfrm>
          <a:prstGeom prst="rect">
            <a:avLst/>
          </a:prstGeom>
          <a:noFill/>
        </p:spPr>
        <p:txBody>
          <a:bodyPr wrap="square" lIns="54864" rIns="54864" tIns="36576">
            <a:spAutoFit/>
          </a:bodyPr>
          <a:lstStyle/>
          <a:p>
            <a:pPr algn="ctr">
              <a:defRPr sz="2700" b="1">
                <a:solidFill>
                  <a:srgbClr val="0066CC"/>
                </a:solidFill>
                <a:latin typeface="Arial"/>
              </a:defRPr>
            </a:pPr>
            <a:r>
              <a:t>0</a:t>
            </a:r>
          </a:p>
        </p:txBody>
      </p:sp>
      <p:sp>
        <p:nvSpPr>
          <p:cNvPr id="21" name="TextBox 20"/>
          <p:cNvSpPr txBox="1"/>
          <p:nvPr/>
        </p:nvSpPr>
        <p:spPr>
          <a:xfrm>
            <a:off x="6400800" y="2651760"/>
            <a:ext cx="2377439" cy="228600"/>
          </a:xfrm>
          <a:prstGeom prst="rect">
            <a:avLst/>
          </a:prstGeom>
          <a:noFill/>
        </p:spPr>
        <p:txBody>
          <a:bodyPr wrap="square" lIns="54864" rIns="54864" tIns="36576">
            <a:spAutoFit/>
          </a:bodyPr>
          <a:lstStyle/>
          <a:p>
            <a:pPr algn="ctr">
              <a:defRPr sz="1100" b="1">
                <a:solidFill>
                  <a:srgbClr val="18375B"/>
                </a:solidFill>
                <a:latin typeface="Arial"/>
              </a:defRPr>
            </a:pPr>
            <a:r>
              <a:t>lỗi nội dung</a:t>
            </a:r>
          </a:p>
        </p:txBody>
      </p:sp>
      <p:sp>
        <p:nvSpPr>
          <p:cNvPr id="22" name="Rounded Rectangle 21"/>
          <p:cNvSpPr/>
          <p:nvPr/>
        </p:nvSpPr>
        <p:spPr>
          <a:xfrm>
            <a:off x="9098280" y="2011680"/>
            <a:ext cx="2286000" cy="1143000"/>
          </a:xfrm>
          <a:prstGeom prst="round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98280" y="2176272"/>
            <a:ext cx="2286000" cy="365760"/>
          </a:xfrm>
          <a:prstGeom prst="rect">
            <a:avLst/>
          </a:prstGeom>
          <a:noFill/>
        </p:spPr>
        <p:txBody>
          <a:bodyPr wrap="square" lIns="54864" rIns="54864" tIns="36576">
            <a:spAutoFit/>
          </a:bodyPr>
          <a:lstStyle/>
          <a:p>
            <a:pPr algn="ctr">
              <a:defRPr sz="2700" b="1">
                <a:solidFill>
                  <a:srgbClr val="0066CC"/>
                </a:solidFill>
                <a:latin typeface="Arial"/>
              </a:defRPr>
            </a:pPr>
            <a:r>
              <a:t>offline</a:t>
            </a:r>
          </a:p>
        </p:txBody>
      </p:sp>
      <p:sp>
        <p:nvSpPr>
          <p:cNvPr id="24" name="TextBox 23"/>
          <p:cNvSpPr txBox="1"/>
          <p:nvPr/>
        </p:nvSpPr>
        <p:spPr>
          <a:xfrm>
            <a:off x="9189719" y="2651760"/>
            <a:ext cx="2103120" cy="228600"/>
          </a:xfrm>
          <a:prstGeom prst="rect">
            <a:avLst/>
          </a:prstGeom>
          <a:noFill/>
        </p:spPr>
        <p:txBody>
          <a:bodyPr wrap="square" lIns="54864" rIns="54864" tIns="36576">
            <a:spAutoFit/>
          </a:bodyPr>
          <a:lstStyle/>
          <a:p>
            <a:pPr algn="ctr">
              <a:defRPr sz="1100" b="1">
                <a:solidFill>
                  <a:srgbClr val="18375B"/>
                </a:solidFill>
                <a:latin typeface="Arial"/>
              </a:defRPr>
            </a:pPr>
            <a:r>
              <a:t>chạy không cần mạng</a:t>
            </a:r>
          </a:p>
        </p:txBody>
      </p:sp>
      <p:sp>
        <p:nvSpPr>
          <p:cNvPr id="25" name="Rectangle 24"/>
          <p:cNvSpPr/>
          <p:nvPr/>
        </p:nvSpPr>
        <p:spPr>
          <a:xfrm>
            <a:off x="740664" y="3758184"/>
            <a:ext cx="3822191" cy="1901952"/>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1-trang-chu.png"/>
          <p:cNvPicPr>
            <a:picLocks noChangeAspect="1"/>
          </p:cNvPicPr>
          <p:nvPr/>
        </p:nvPicPr>
        <p:blipFill>
          <a:blip r:embed="rId4"/>
          <a:stretch>
            <a:fillRect/>
          </a:stretch>
        </p:blipFill>
        <p:spPr>
          <a:xfrm>
            <a:off x="1351279" y="3794760"/>
            <a:ext cx="2600960" cy="1828800"/>
          </a:xfrm>
          <a:prstGeom prst="rect">
            <a:avLst/>
          </a:prstGeom>
        </p:spPr>
      </p:pic>
      <p:sp>
        <p:nvSpPr>
          <p:cNvPr id="27" name="Rectangle 26"/>
          <p:cNvSpPr/>
          <p:nvPr/>
        </p:nvSpPr>
        <p:spPr>
          <a:xfrm>
            <a:off x="4764024" y="3758184"/>
            <a:ext cx="2816352" cy="1901952"/>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06_man1_doan1_dap_an.jpg"/>
          <p:cNvPicPr>
            <a:picLocks noChangeAspect="1"/>
          </p:cNvPicPr>
          <p:nvPr/>
        </p:nvPicPr>
        <p:blipFill>
          <a:blip r:embed="rId5"/>
          <a:stretch>
            <a:fillRect/>
          </a:stretch>
        </p:blipFill>
        <p:spPr>
          <a:xfrm>
            <a:off x="5749412" y="3794760"/>
            <a:ext cx="845574" cy="1828800"/>
          </a:xfrm>
          <a:prstGeom prst="rect">
            <a:avLst/>
          </a:prstGeom>
        </p:spPr>
      </p:pic>
      <p:sp>
        <p:nvSpPr>
          <p:cNvPr id="29" name="Rectangle 28"/>
          <p:cNvSpPr/>
          <p:nvPr/>
        </p:nvSpPr>
        <p:spPr>
          <a:xfrm>
            <a:off x="7781544" y="3758184"/>
            <a:ext cx="3547872" cy="1901952"/>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25_da_gui_tep.jpg"/>
          <p:cNvPicPr>
            <a:picLocks noChangeAspect="1"/>
          </p:cNvPicPr>
          <p:nvPr/>
        </p:nvPicPr>
        <p:blipFill>
          <a:blip r:embed="rId6"/>
          <a:stretch>
            <a:fillRect/>
          </a:stretch>
        </p:blipFill>
        <p:spPr>
          <a:xfrm>
            <a:off x="9132692" y="3794760"/>
            <a:ext cx="845574" cy="1828800"/>
          </a:xfrm>
          <a:prstGeom prst="rect">
            <a:avLst/>
          </a:prstGeom>
        </p:spPr>
      </p:pic>
      <p:sp>
        <p:nvSpPr>
          <p:cNvPr id="31" name="Rectangle 30"/>
          <p:cNvSpPr/>
          <p:nvPr/>
        </p:nvSpPr>
        <p:spPr>
          <a:xfrm>
            <a:off x="1371600" y="4297680"/>
            <a:ext cx="2286000" cy="914400"/>
          </a:xfrm>
          <a:prstGeom prst="rect">
            <a:avLst/>
          </a:prstGeom>
          <a:noFill/>
          <a:ln w="508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3232"/>
                </a:solidFill>
                <a:latin typeface="Arial"/>
              </a:defRPr>
            </a:pPr>
            <a:r>
              <a:t>Giao diện</a:t>
            </a:r>
          </a:p>
        </p:txBody>
      </p:sp>
      <p:sp>
        <p:nvSpPr>
          <p:cNvPr id="32" name="Rectangle 31"/>
          <p:cNvSpPr/>
          <p:nvPr/>
        </p:nvSpPr>
        <p:spPr>
          <a:xfrm>
            <a:off x="5303520" y="4297680"/>
            <a:ext cx="1645920" cy="914400"/>
          </a:xfrm>
          <a:prstGeom prst="rect">
            <a:avLst/>
          </a:prstGeom>
          <a:noFill/>
          <a:ln w="508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3232"/>
                </a:solidFill>
                <a:latin typeface="Arial"/>
              </a:defRPr>
            </a:pPr>
            <a:r>
              <a:t>Phản hồi</a:t>
            </a:r>
          </a:p>
        </p:txBody>
      </p:sp>
      <p:sp>
        <p:nvSpPr>
          <p:cNvPr id="33" name="Rectangle 32"/>
          <p:cNvSpPr/>
          <p:nvPr/>
        </p:nvSpPr>
        <p:spPr>
          <a:xfrm>
            <a:off x="8412480" y="4297680"/>
            <a:ext cx="2286000" cy="914400"/>
          </a:xfrm>
          <a:prstGeom prst="rect">
            <a:avLst/>
          </a:prstGeom>
          <a:noFill/>
          <a:ln w="508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3232"/>
                </a:solidFill>
                <a:latin typeface="Arial"/>
              </a:defRPr>
            </a:pPr>
            <a:r>
              <a:t>Minh chứng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8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dhsp_hue.png"/>
          <p:cNvPicPr>
            <a:picLocks noChangeAspect="1"/>
          </p:cNvPicPr>
          <p:nvPr/>
        </p:nvPicPr>
        <p:blipFill>
          <a:blip r:embed="rId2"/>
          <a:stretch>
            <a:fillRect/>
          </a:stretch>
        </p:blipFill>
        <p:spPr>
          <a:xfrm>
            <a:off x="384048" y="155448"/>
            <a:ext cx="530352" cy="530352"/>
          </a:xfrm>
          <a:prstGeom prst="rect">
            <a:avLst/>
          </a:prstGeom>
        </p:spPr>
      </p:pic>
      <p:pic>
        <p:nvPicPr>
          <p:cNvPr id="4" name="Picture 3" descr="logo_thpt_thuan_hoa.png"/>
          <p:cNvPicPr>
            <a:picLocks noChangeAspect="1"/>
          </p:cNvPicPr>
          <p:nvPr/>
        </p:nvPicPr>
        <p:blipFill>
          <a:blip r:embed="rId3"/>
          <a:stretch>
            <a:fillRect/>
          </a:stretch>
        </p:blipFill>
        <p:spPr>
          <a:xfrm>
            <a:off x="1024128" y="155448"/>
            <a:ext cx="530352" cy="530352"/>
          </a:xfrm>
          <a:prstGeom prst="rect">
            <a:avLst/>
          </a:prstGeom>
        </p:spPr>
      </p:pic>
      <p:sp>
        <p:nvSpPr>
          <p:cNvPr id="5" name="TextBox 4"/>
          <p:cNvSpPr txBox="1"/>
          <p:nvPr/>
        </p:nvSpPr>
        <p:spPr>
          <a:xfrm>
            <a:off x="1664208" y="155448"/>
            <a:ext cx="4023360" cy="237744"/>
          </a:xfrm>
          <a:prstGeom prst="rect">
            <a:avLst/>
          </a:prstGeom>
          <a:noFill/>
        </p:spPr>
        <p:txBody>
          <a:bodyPr wrap="square" lIns="54864" rIns="54864" tIns="36576">
            <a:spAutoFit/>
          </a:bodyPr>
          <a:lstStyle/>
          <a:p>
            <a:pPr algn="l">
              <a:defRPr sz="1100" b="1">
                <a:solidFill>
                  <a:srgbClr val="18375B"/>
                </a:solidFill>
                <a:latin typeface="Arial"/>
              </a:defRPr>
            </a:pPr>
            <a:r>
              <a:t>Trường THPT Thuận Hoá</a:t>
            </a:r>
          </a:p>
        </p:txBody>
      </p:sp>
      <p:sp>
        <p:nvSpPr>
          <p:cNvPr id="6" name="TextBox 5"/>
          <p:cNvSpPr txBox="1"/>
          <p:nvPr/>
        </p:nvSpPr>
        <p:spPr>
          <a:xfrm>
            <a:off x="1664208" y="411480"/>
            <a:ext cx="4114800" cy="201168"/>
          </a:xfrm>
          <a:prstGeom prst="rect">
            <a:avLst/>
          </a:prstGeom>
          <a:noFill/>
        </p:spPr>
        <p:txBody>
          <a:bodyPr wrap="square" lIns="54864" rIns="54864" tIns="36576">
            <a:spAutoFit/>
          </a:bodyPr>
          <a:lstStyle/>
          <a:p>
            <a:pPr algn="l">
              <a:defRPr sz="950" b="0">
                <a:solidFill>
                  <a:srgbClr val="646E78"/>
                </a:solidFill>
                <a:latin typeface="Arial"/>
              </a:defRPr>
            </a:pPr>
            <a:r>
              <a:t>Trường Đại học Sư Phạm, Đại học Huế</a:t>
            </a:r>
          </a:p>
        </p:txBody>
      </p:sp>
      <p:sp>
        <p:nvSpPr>
          <p:cNvPr id="7" name="TextBox 6"/>
          <p:cNvSpPr txBox="1"/>
          <p:nvPr/>
        </p:nvSpPr>
        <p:spPr>
          <a:xfrm>
            <a:off x="5486400" y="246888"/>
            <a:ext cx="6217920" cy="274320"/>
          </a:xfrm>
          <a:prstGeom prst="rect">
            <a:avLst/>
          </a:prstGeom>
          <a:noFill/>
        </p:spPr>
        <p:txBody>
          <a:bodyPr wrap="square" lIns="54864" rIns="54864" tIns="36576">
            <a:spAutoFit/>
          </a:bodyPr>
          <a:lstStyle/>
          <a:p>
            <a:pPr algn="r">
              <a:defRPr sz="1400" b="1">
                <a:solidFill>
                  <a:srgbClr val="18375B"/>
                </a:solidFill>
                <a:latin typeface="Arial"/>
              </a:defRPr>
            </a:pPr>
            <a:r>
              <a:t>10 · GIỚI HẠN</a:t>
            </a:r>
          </a:p>
        </p:txBody>
      </p:sp>
      <p:sp>
        <p:nvSpPr>
          <p:cNvPr id="8" name="Rectangle 7"/>
          <p:cNvSpPr/>
          <p:nvPr/>
        </p:nvSpPr>
        <p:spPr>
          <a:xfrm>
            <a:off x="384048" y="914400"/>
            <a:ext cx="11430000" cy="12700"/>
          </a:xfrm>
          <a:prstGeom prst="rect">
            <a:avLst/>
          </a:prstGeom>
          <a:solidFill>
            <a:srgbClr val="D2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6473952"/>
            <a:ext cx="3657600" cy="182880"/>
          </a:xfrm>
          <a:prstGeom prst="rect">
            <a:avLst/>
          </a:prstGeom>
          <a:noFill/>
        </p:spPr>
        <p:txBody>
          <a:bodyPr wrap="square" lIns="54864" rIns="54864" tIns="36576">
            <a:spAutoFit/>
          </a:bodyPr>
          <a:lstStyle/>
          <a:p>
            <a:pPr algn="l">
              <a:defRPr sz="900" b="0">
                <a:solidFill>
                  <a:srgbClr val="646E78"/>
                </a:solidFill>
                <a:latin typeface="Arial"/>
              </a:defRPr>
            </a:pPr>
            <a:r>
              <a:t>GV: Mai Xuân Văn</a:t>
            </a:r>
          </a:p>
        </p:txBody>
      </p:sp>
      <p:sp>
        <p:nvSpPr>
          <p:cNvPr id="10" name="TextBox 9"/>
          <p:cNvSpPr txBox="1"/>
          <p:nvPr/>
        </p:nvSpPr>
        <p:spPr>
          <a:xfrm>
            <a:off x="11292840" y="6473952"/>
            <a:ext cx="411480" cy="182880"/>
          </a:xfrm>
          <a:prstGeom prst="rect">
            <a:avLst/>
          </a:prstGeom>
          <a:noFill/>
        </p:spPr>
        <p:txBody>
          <a:bodyPr wrap="square" lIns="54864" rIns="54864" tIns="36576">
            <a:spAutoFit/>
          </a:bodyPr>
          <a:lstStyle/>
          <a:p>
            <a:pPr algn="r">
              <a:defRPr sz="900" b="0">
                <a:solidFill>
                  <a:srgbClr val="646E78"/>
                </a:solidFill>
                <a:latin typeface="Arial"/>
              </a:defRPr>
            </a:pPr>
            <a:r>
              <a:t>13</a:t>
            </a:r>
          </a:p>
        </p:txBody>
      </p:sp>
      <p:sp>
        <p:nvSpPr>
          <p:cNvPr id="11" name="TextBox 10"/>
          <p:cNvSpPr txBox="1"/>
          <p:nvPr/>
        </p:nvSpPr>
        <p:spPr>
          <a:xfrm>
            <a:off x="502920" y="1115568"/>
            <a:ext cx="11155680" cy="384048"/>
          </a:xfrm>
          <a:prstGeom prst="rect">
            <a:avLst/>
          </a:prstGeom>
          <a:noFill/>
        </p:spPr>
        <p:txBody>
          <a:bodyPr wrap="square" lIns="54864" rIns="54864" tIns="36576">
            <a:spAutoFit/>
          </a:bodyPr>
          <a:lstStyle/>
          <a:p>
            <a:pPr algn="l">
              <a:defRPr sz="2600" b="1">
                <a:solidFill>
                  <a:srgbClr val="18375B"/>
                </a:solidFill>
                <a:latin typeface="Arial"/>
              </a:defRPr>
            </a:pPr>
            <a:r>
              <a:t>Bằng chứng hiện có và bước cần làm tiếp</a:t>
            </a:r>
          </a:p>
        </p:txBody>
      </p:sp>
      <p:sp>
        <p:nvSpPr>
          <p:cNvPr id="12" name="Rounded Rectangle 11"/>
          <p:cNvSpPr/>
          <p:nvPr/>
        </p:nvSpPr>
        <p:spPr>
          <a:xfrm>
            <a:off x="731520" y="1874519"/>
            <a:ext cx="5212080" cy="3429000"/>
          </a:xfrm>
          <a:prstGeom prst="roundRect">
            <a:avLst/>
          </a:prstGeom>
          <a:solidFill>
            <a:srgbClr val="FFFFFF"/>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1874519"/>
            <a:ext cx="63500" cy="3429000"/>
          </a:xfrm>
          <a:prstGeom prst="rect">
            <a:avLst/>
          </a:prstGeom>
          <a:solidFill>
            <a:srgbClr val="258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011679"/>
            <a:ext cx="4937760" cy="256032"/>
          </a:xfrm>
          <a:prstGeom prst="rect">
            <a:avLst/>
          </a:prstGeom>
          <a:noFill/>
        </p:spPr>
        <p:txBody>
          <a:bodyPr wrap="square" lIns="54864" rIns="54864" tIns="36576">
            <a:spAutoFit/>
          </a:bodyPr>
          <a:lstStyle/>
          <a:p>
            <a:pPr algn="l">
              <a:defRPr sz="1400" b="1">
                <a:solidFill>
                  <a:srgbClr val="258B5D"/>
                </a:solidFill>
                <a:latin typeface="Arial"/>
              </a:defRPr>
            </a:pPr>
            <a:r>
              <a:t>ĐÃ CÓ</a:t>
            </a:r>
          </a:p>
        </p:txBody>
      </p:sp>
      <p:sp>
        <p:nvSpPr>
          <p:cNvPr id="15" name="TextBox 14"/>
          <p:cNvSpPr txBox="1"/>
          <p:nvPr/>
        </p:nvSpPr>
        <p:spPr>
          <a:xfrm>
            <a:off x="896112" y="2404872"/>
            <a:ext cx="4937760" cy="2788920"/>
          </a:xfrm>
          <a:prstGeom prst="rect">
            <a:avLst/>
          </a:prstGeom>
          <a:noFill/>
        </p:spPr>
        <p:txBody>
          <a:bodyPr wrap="square" lIns="54864" rIns="54864" tIns="36576">
            <a:spAutoFit/>
          </a:bodyPr>
          <a:lstStyle/>
          <a:p>
            <a:pPr algn="l">
              <a:defRPr sz="1400" b="0">
                <a:solidFill>
                  <a:srgbClr val="2D3741"/>
                </a:solidFill>
                <a:latin typeface="Arial"/>
              </a:defRPr>
            </a:pPr>
            <a:r>
              <a:t>Bản chạy thử công khai</a:t>
            </a:r>
            <a:br/>
            <a:r>
              <a:t>Bộ ảnh thao tác sản phẩm</a:t>
            </a:r>
            <a:br/>
            <a:r>
              <a:t>Video demo nháp</a:t>
            </a:r>
            <a:br/>
            <a:r>
              <a:t>Có thể chạy offline, USB hoặc mạng nội bộ</a:t>
            </a:r>
          </a:p>
        </p:txBody>
      </p:sp>
      <p:sp>
        <p:nvSpPr>
          <p:cNvPr id="16" name="Rounded Rectangle 15"/>
          <p:cNvSpPr/>
          <p:nvPr/>
        </p:nvSpPr>
        <p:spPr>
          <a:xfrm>
            <a:off x="6217920" y="1874519"/>
            <a:ext cx="5212080" cy="3429000"/>
          </a:xfrm>
          <a:prstGeom prst="roundRect">
            <a:avLst/>
          </a:prstGeom>
          <a:solidFill>
            <a:srgbClr val="FFFFFF"/>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1874519"/>
            <a:ext cx="63500" cy="3429000"/>
          </a:xfrm>
          <a:prstGeom prst="rect">
            <a:avLst/>
          </a:prstGeom>
          <a:solidFill>
            <a:srgbClr val="D399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2011679"/>
            <a:ext cx="4937760" cy="256032"/>
          </a:xfrm>
          <a:prstGeom prst="rect">
            <a:avLst/>
          </a:prstGeom>
          <a:noFill/>
        </p:spPr>
        <p:txBody>
          <a:bodyPr wrap="square" lIns="54864" rIns="54864" tIns="36576">
            <a:spAutoFit/>
          </a:bodyPr>
          <a:lstStyle/>
          <a:p>
            <a:pPr algn="l">
              <a:defRPr sz="1400" b="1">
                <a:solidFill>
                  <a:srgbClr val="D3992A"/>
                </a:solidFill>
                <a:latin typeface="Arial"/>
              </a:defRPr>
            </a:pPr>
            <a:r>
              <a:t>CẦN BỔ SUNG</a:t>
            </a:r>
          </a:p>
        </p:txBody>
      </p:sp>
      <p:sp>
        <p:nvSpPr>
          <p:cNvPr id="19" name="TextBox 18"/>
          <p:cNvSpPr txBox="1"/>
          <p:nvPr/>
        </p:nvSpPr>
        <p:spPr>
          <a:xfrm>
            <a:off x="6382512" y="2404872"/>
            <a:ext cx="4937760" cy="2788920"/>
          </a:xfrm>
          <a:prstGeom prst="rect">
            <a:avLst/>
          </a:prstGeom>
          <a:noFill/>
        </p:spPr>
        <p:txBody>
          <a:bodyPr wrap="square" lIns="54864" rIns="54864" tIns="36576">
            <a:spAutoFit/>
          </a:bodyPr>
          <a:lstStyle/>
          <a:p>
            <a:pPr algn="l">
              <a:defRPr sz="1400" b="0">
                <a:solidFill>
                  <a:srgbClr val="2D3741"/>
                </a:solidFill>
                <a:latin typeface="Arial"/>
              </a:defRPr>
            </a:pPr>
            <a:r>
              <a:t>Dữ liệu từ lớp học thật</a:t>
            </a:r>
            <a:br/>
            <a:r>
              <a:t>Phản hồi học sinh và giáo viên khác</a:t>
            </a:r>
            <a:br/>
            <a:r>
              <a:t>Đo tác động trước/sau</a:t>
            </a:r>
            <a:br/>
            <a:r>
              <a:t>Biên bản triển khai thực tế</a:t>
            </a:r>
          </a:p>
        </p:txBody>
      </p:sp>
      <p:sp>
        <p:nvSpPr>
          <p:cNvPr id="20" name="TextBox 19"/>
          <p:cNvSpPr txBox="1"/>
          <p:nvPr/>
        </p:nvSpPr>
        <p:spPr>
          <a:xfrm>
            <a:off x="868680" y="5715000"/>
            <a:ext cx="10424160" cy="292608"/>
          </a:xfrm>
          <a:prstGeom prst="rect">
            <a:avLst/>
          </a:prstGeom>
          <a:noFill/>
        </p:spPr>
        <p:txBody>
          <a:bodyPr wrap="square" lIns="54864" rIns="54864" tIns="36576">
            <a:spAutoFit/>
          </a:bodyPr>
          <a:lstStyle/>
          <a:p>
            <a:pPr algn="ctr">
              <a:defRPr sz="1700" b="1">
                <a:solidFill>
                  <a:srgbClr val="18375B"/>
                </a:solidFill>
                <a:latin typeface="Arial"/>
              </a:defRPr>
            </a:pPr>
            <a:r>
              <a:t>Không dùng ảnh thao tác phần mềm để thay thế cho bằng chứng tác động lớp học.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8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dhsp_hue.png"/>
          <p:cNvPicPr>
            <a:picLocks noChangeAspect="1"/>
          </p:cNvPicPr>
          <p:nvPr/>
        </p:nvPicPr>
        <p:blipFill>
          <a:blip r:embed="rId2"/>
          <a:stretch>
            <a:fillRect/>
          </a:stretch>
        </p:blipFill>
        <p:spPr>
          <a:xfrm>
            <a:off x="384048" y="155448"/>
            <a:ext cx="530352" cy="530352"/>
          </a:xfrm>
          <a:prstGeom prst="rect">
            <a:avLst/>
          </a:prstGeom>
        </p:spPr>
      </p:pic>
      <p:pic>
        <p:nvPicPr>
          <p:cNvPr id="4" name="Picture 3" descr="logo_thpt_thuan_hoa.png"/>
          <p:cNvPicPr>
            <a:picLocks noChangeAspect="1"/>
          </p:cNvPicPr>
          <p:nvPr/>
        </p:nvPicPr>
        <p:blipFill>
          <a:blip r:embed="rId3"/>
          <a:stretch>
            <a:fillRect/>
          </a:stretch>
        </p:blipFill>
        <p:spPr>
          <a:xfrm>
            <a:off x="1024128" y="155448"/>
            <a:ext cx="530352" cy="530352"/>
          </a:xfrm>
          <a:prstGeom prst="rect">
            <a:avLst/>
          </a:prstGeom>
        </p:spPr>
      </p:pic>
      <p:sp>
        <p:nvSpPr>
          <p:cNvPr id="5" name="TextBox 4"/>
          <p:cNvSpPr txBox="1"/>
          <p:nvPr/>
        </p:nvSpPr>
        <p:spPr>
          <a:xfrm>
            <a:off x="1664208" y="155448"/>
            <a:ext cx="4023360" cy="237744"/>
          </a:xfrm>
          <a:prstGeom prst="rect">
            <a:avLst/>
          </a:prstGeom>
          <a:noFill/>
        </p:spPr>
        <p:txBody>
          <a:bodyPr wrap="square" lIns="54864" rIns="54864" tIns="36576">
            <a:spAutoFit/>
          </a:bodyPr>
          <a:lstStyle/>
          <a:p>
            <a:pPr algn="l">
              <a:defRPr sz="1100" b="1">
                <a:solidFill>
                  <a:srgbClr val="18375B"/>
                </a:solidFill>
                <a:latin typeface="Arial"/>
              </a:defRPr>
            </a:pPr>
            <a:r>
              <a:t>Trường THPT Thuận Hoá</a:t>
            </a:r>
          </a:p>
        </p:txBody>
      </p:sp>
      <p:sp>
        <p:nvSpPr>
          <p:cNvPr id="6" name="TextBox 5"/>
          <p:cNvSpPr txBox="1"/>
          <p:nvPr/>
        </p:nvSpPr>
        <p:spPr>
          <a:xfrm>
            <a:off x="1664208" y="411480"/>
            <a:ext cx="4114800" cy="201168"/>
          </a:xfrm>
          <a:prstGeom prst="rect">
            <a:avLst/>
          </a:prstGeom>
          <a:noFill/>
        </p:spPr>
        <p:txBody>
          <a:bodyPr wrap="square" lIns="54864" rIns="54864" tIns="36576">
            <a:spAutoFit/>
          </a:bodyPr>
          <a:lstStyle/>
          <a:p>
            <a:pPr algn="l">
              <a:defRPr sz="950" b="0">
                <a:solidFill>
                  <a:srgbClr val="646E78"/>
                </a:solidFill>
                <a:latin typeface="Arial"/>
              </a:defRPr>
            </a:pPr>
            <a:r>
              <a:t>Trường Đại học Sư Phạm, Đại học Huế</a:t>
            </a:r>
          </a:p>
        </p:txBody>
      </p:sp>
      <p:sp>
        <p:nvSpPr>
          <p:cNvPr id="7" name="TextBox 6"/>
          <p:cNvSpPr txBox="1"/>
          <p:nvPr/>
        </p:nvSpPr>
        <p:spPr>
          <a:xfrm>
            <a:off x="5486400" y="246888"/>
            <a:ext cx="6217920" cy="274320"/>
          </a:xfrm>
          <a:prstGeom prst="rect">
            <a:avLst/>
          </a:prstGeom>
          <a:noFill/>
        </p:spPr>
        <p:txBody>
          <a:bodyPr wrap="square" lIns="54864" rIns="54864" tIns="36576">
            <a:spAutoFit/>
          </a:bodyPr>
          <a:lstStyle/>
          <a:p>
            <a:pPr algn="r">
              <a:defRPr sz="1400" b="1">
                <a:solidFill>
                  <a:srgbClr val="18375B"/>
                </a:solidFill>
                <a:latin typeface="Arial"/>
              </a:defRPr>
            </a:pPr>
            <a:r>
              <a:t>11 · BỀN VỮNG</a:t>
            </a:r>
          </a:p>
        </p:txBody>
      </p:sp>
      <p:sp>
        <p:nvSpPr>
          <p:cNvPr id="8" name="Rectangle 7"/>
          <p:cNvSpPr/>
          <p:nvPr/>
        </p:nvSpPr>
        <p:spPr>
          <a:xfrm>
            <a:off x="384048" y="914400"/>
            <a:ext cx="11430000" cy="12700"/>
          </a:xfrm>
          <a:prstGeom prst="rect">
            <a:avLst/>
          </a:prstGeom>
          <a:solidFill>
            <a:srgbClr val="D2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6473952"/>
            <a:ext cx="3657600" cy="182880"/>
          </a:xfrm>
          <a:prstGeom prst="rect">
            <a:avLst/>
          </a:prstGeom>
          <a:noFill/>
        </p:spPr>
        <p:txBody>
          <a:bodyPr wrap="square" lIns="54864" rIns="54864" tIns="36576">
            <a:spAutoFit/>
          </a:bodyPr>
          <a:lstStyle/>
          <a:p>
            <a:pPr algn="l">
              <a:defRPr sz="900" b="0">
                <a:solidFill>
                  <a:srgbClr val="646E78"/>
                </a:solidFill>
                <a:latin typeface="Arial"/>
              </a:defRPr>
            </a:pPr>
            <a:r>
              <a:t>GV: Mai Xuân Văn</a:t>
            </a:r>
          </a:p>
        </p:txBody>
      </p:sp>
      <p:sp>
        <p:nvSpPr>
          <p:cNvPr id="10" name="TextBox 9"/>
          <p:cNvSpPr txBox="1"/>
          <p:nvPr/>
        </p:nvSpPr>
        <p:spPr>
          <a:xfrm>
            <a:off x="11292840" y="6473952"/>
            <a:ext cx="411480" cy="182880"/>
          </a:xfrm>
          <a:prstGeom prst="rect">
            <a:avLst/>
          </a:prstGeom>
          <a:noFill/>
        </p:spPr>
        <p:txBody>
          <a:bodyPr wrap="square" lIns="54864" rIns="54864" tIns="36576">
            <a:spAutoFit/>
          </a:bodyPr>
          <a:lstStyle/>
          <a:p>
            <a:pPr algn="r">
              <a:defRPr sz="900" b="0">
                <a:solidFill>
                  <a:srgbClr val="646E78"/>
                </a:solidFill>
                <a:latin typeface="Arial"/>
              </a:defRPr>
            </a:pPr>
            <a:r>
              <a:t>14</a:t>
            </a:r>
          </a:p>
        </p:txBody>
      </p:sp>
      <p:sp>
        <p:nvSpPr>
          <p:cNvPr id="11" name="TextBox 10"/>
          <p:cNvSpPr txBox="1"/>
          <p:nvPr/>
        </p:nvSpPr>
        <p:spPr>
          <a:xfrm>
            <a:off x="502920" y="1115568"/>
            <a:ext cx="11155680" cy="384048"/>
          </a:xfrm>
          <a:prstGeom prst="rect">
            <a:avLst/>
          </a:prstGeom>
          <a:noFill/>
        </p:spPr>
        <p:txBody>
          <a:bodyPr wrap="square" lIns="54864" rIns="54864" tIns="36576">
            <a:spAutoFit/>
          </a:bodyPr>
          <a:lstStyle/>
          <a:p>
            <a:pPr algn="l">
              <a:defRPr sz="2600" b="1">
                <a:solidFill>
                  <a:srgbClr val="18375B"/>
                </a:solidFill>
                <a:latin typeface="Arial"/>
              </a:defRPr>
            </a:pPr>
            <a:r>
              <a:t>Có thể bắt đầu từ một phòng máy</a:t>
            </a:r>
          </a:p>
        </p:txBody>
      </p:sp>
      <p:sp>
        <p:nvSpPr>
          <p:cNvPr id="12" name="Rounded Rectangle 11"/>
          <p:cNvSpPr/>
          <p:nvPr/>
        </p:nvSpPr>
        <p:spPr>
          <a:xfrm>
            <a:off x="731520" y="2148840"/>
            <a:ext cx="3337560" cy="2103120"/>
          </a:xfrm>
          <a:prstGeom prst="roundRect">
            <a:avLst/>
          </a:prstGeom>
          <a:solidFill>
            <a:srgbClr val="FFFFFF"/>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2148840"/>
            <a:ext cx="63500" cy="210312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286000"/>
            <a:ext cx="3063240" cy="256032"/>
          </a:xfrm>
          <a:prstGeom prst="rect">
            <a:avLst/>
          </a:prstGeom>
          <a:noFill/>
        </p:spPr>
        <p:txBody>
          <a:bodyPr wrap="square" lIns="54864" rIns="54864" tIns="36576">
            <a:spAutoFit/>
          </a:bodyPr>
          <a:lstStyle/>
          <a:p>
            <a:pPr algn="l">
              <a:defRPr sz="1400" b="1">
                <a:solidFill>
                  <a:srgbClr val="0066CC"/>
                </a:solidFill>
                <a:latin typeface="Arial"/>
              </a:defRPr>
            </a:pPr>
            <a:r>
              <a:t>CHÉP</a:t>
            </a:r>
          </a:p>
        </p:txBody>
      </p:sp>
      <p:sp>
        <p:nvSpPr>
          <p:cNvPr id="15" name="TextBox 14"/>
          <p:cNvSpPr txBox="1"/>
          <p:nvPr/>
        </p:nvSpPr>
        <p:spPr>
          <a:xfrm>
            <a:off x="896112" y="2679192"/>
            <a:ext cx="3063240" cy="1463039"/>
          </a:xfrm>
          <a:prstGeom prst="rect">
            <a:avLst/>
          </a:prstGeom>
          <a:noFill/>
        </p:spPr>
        <p:txBody>
          <a:bodyPr wrap="square" lIns="54864" rIns="54864" tIns="36576">
            <a:spAutoFit/>
          </a:bodyPr>
          <a:lstStyle/>
          <a:p>
            <a:pPr algn="l">
              <a:defRPr sz="1400" b="0">
                <a:solidFill>
                  <a:srgbClr val="2D3741"/>
                </a:solidFill>
                <a:latin typeface="Arial"/>
              </a:defRPr>
            </a:pPr>
            <a:r>
              <a:t>Chép thư mục vào USB hoặc máy trường.</a:t>
            </a:r>
          </a:p>
        </p:txBody>
      </p:sp>
      <p:sp>
        <p:nvSpPr>
          <p:cNvPr id="16" name="Rounded Rectangle 15"/>
          <p:cNvSpPr/>
          <p:nvPr/>
        </p:nvSpPr>
        <p:spPr>
          <a:xfrm>
            <a:off x="4389120" y="2148840"/>
            <a:ext cx="3337560" cy="2103120"/>
          </a:xfrm>
          <a:prstGeom prst="roundRect">
            <a:avLst/>
          </a:prstGeom>
          <a:solidFill>
            <a:srgbClr val="FFFFFF"/>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89120" y="2148840"/>
            <a:ext cx="63500" cy="2103120"/>
          </a:xfrm>
          <a:prstGeom prst="rect">
            <a:avLst/>
          </a:prstGeom>
          <a:solidFill>
            <a:srgbClr val="D399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53712" y="2286000"/>
            <a:ext cx="3063240" cy="256032"/>
          </a:xfrm>
          <a:prstGeom prst="rect">
            <a:avLst/>
          </a:prstGeom>
          <a:noFill/>
        </p:spPr>
        <p:txBody>
          <a:bodyPr wrap="square" lIns="54864" rIns="54864" tIns="36576">
            <a:spAutoFit/>
          </a:bodyPr>
          <a:lstStyle/>
          <a:p>
            <a:pPr algn="l">
              <a:defRPr sz="1400" b="1">
                <a:solidFill>
                  <a:srgbClr val="D3992A"/>
                </a:solidFill>
                <a:latin typeface="Arial"/>
              </a:defRPr>
            </a:pPr>
            <a:r>
              <a:t>MỞ</a:t>
            </a:r>
          </a:p>
        </p:txBody>
      </p:sp>
      <p:sp>
        <p:nvSpPr>
          <p:cNvPr id="19" name="TextBox 18"/>
          <p:cNvSpPr txBox="1"/>
          <p:nvPr/>
        </p:nvSpPr>
        <p:spPr>
          <a:xfrm>
            <a:off x="4553712" y="2679192"/>
            <a:ext cx="3063240" cy="1463039"/>
          </a:xfrm>
          <a:prstGeom prst="rect">
            <a:avLst/>
          </a:prstGeom>
          <a:noFill/>
        </p:spPr>
        <p:txBody>
          <a:bodyPr wrap="square" lIns="54864" rIns="54864" tIns="36576">
            <a:spAutoFit/>
          </a:bodyPr>
          <a:lstStyle/>
          <a:p>
            <a:pPr algn="l">
              <a:defRPr sz="1400" b="0">
                <a:solidFill>
                  <a:srgbClr val="2D3741"/>
                </a:solidFill>
                <a:latin typeface="Arial"/>
              </a:defRPr>
            </a:pPr>
            <a:r>
              <a:t>Mở sản phẩm bằng trình duyệt.</a:t>
            </a:r>
          </a:p>
        </p:txBody>
      </p:sp>
      <p:sp>
        <p:nvSpPr>
          <p:cNvPr id="20" name="Rounded Rectangle 19"/>
          <p:cNvSpPr/>
          <p:nvPr/>
        </p:nvSpPr>
        <p:spPr>
          <a:xfrm>
            <a:off x="8046720" y="2148840"/>
            <a:ext cx="3337560" cy="2103120"/>
          </a:xfrm>
          <a:prstGeom prst="roundRect">
            <a:avLst/>
          </a:prstGeom>
          <a:solidFill>
            <a:srgbClr val="FFFFFF"/>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46720" y="2148840"/>
            <a:ext cx="63500" cy="2103120"/>
          </a:xfrm>
          <a:prstGeom prst="rect">
            <a:avLst/>
          </a:prstGeom>
          <a:solidFill>
            <a:srgbClr val="258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11312" y="2286000"/>
            <a:ext cx="3063240" cy="256032"/>
          </a:xfrm>
          <a:prstGeom prst="rect">
            <a:avLst/>
          </a:prstGeom>
          <a:noFill/>
        </p:spPr>
        <p:txBody>
          <a:bodyPr wrap="square" lIns="54864" rIns="54864" tIns="36576">
            <a:spAutoFit/>
          </a:bodyPr>
          <a:lstStyle/>
          <a:p>
            <a:pPr algn="l">
              <a:defRPr sz="1400" b="1">
                <a:solidFill>
                  <a:srgbClr val="258B5D"/>
                </a:solidFill>
                <a:latin typeface="Arial"/>
              </a:defRPr>
            </a:pPr>
            <a:r>
              <a:t>DẠY</a:t>
            </a:r>
          </a:p>
        </p:txBody>
      </p:sp>
      <p:sp>
        <p:nvSpPr>
          <p:cNvPr id="23" name="TextBox 22"/>
          <p:cNvSpPr txBox="1"/>
          <p:nvPr/>
        </p:nvSpPr>
        <p:spPr>
          <a:xfrm>
            <a:off x="8211312" y="2679192"/>
            <a:ext cx="3063240" cy="1463039"/>
          </a:xfrm>
          <a:prstGeom prst="rect">
            <a:avLst/>
          </a:prstGeom>
          <a:noFill/>
        </p:spPr>
        <p:txBody>
          <a:bodyPr wrap="square" lIns="54864" rIns="54864" tIns="36576">
            <a:spAutoFit/>
          </a:bodyPr>
          <a:lstStyle/>
          <a:p>
            <a:pPr algn="l">
              <a:defRPr sz="1400" b="0">
                <a:solidFill>
                  <a:srgbClr val="2D3741"/>
                </a:solidFill>
                <a:latin typeface="Arial"/>
              </a:defRPr>
            </a:pPr>
            <a:r>
              <a:t>Giáo viên tổ chức hoạt động theo bài học.</a:t>
            </a:r>
          </a:p>
        </p:txBody>
      </p:sp>
      <p:sp>
        <p:nvSpPr>
          <p:cNvPr id="24" name="Rectangle 23"/>
          <p:cNvSpPr/>
          <p:nvPr/>
        </p:nvSpPr>
        <p:spPr>
          <a:xfrm>
            <a:off x="1014983" y="4672584"/>
            <a:ext cx="1901952" cy="1399032"/>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02_menu.jpg"/>
          <p:cNvPicPr>
            <a:picLocks noChangeAspect="1"/>
          </p:cNvPicPr>
          <p:nvPr/>
        </p:nvPicPr>
        <p:blipFill>
          <a:blip r:embed="rId4"/>
          <a:stretch>
            <a:fillRect/>
          </a:stretch>
        </p:blipFill>
        <p:spPr>
          <a:xfrm>
            <a:off x="1659439" y="4709160"/>
            <a:ext cx="613041" cy="1325880"/>
          </a:xfrm>
          <a:prstGeom prst="rect">
            <a:avLst/>
          </a:prstGeom>
        </p:spPr>
      </p:pic>
      <p:sp>
        <p:nvSpPr>
          <p:cNvPr id="26" name="Rectangle 25"/>
          <p:cNvSpPr/>
          <p:nvPr/>
        </p:nvSpPr>
        <p:spPr>
          <a:xfrm>
            <a:off x="4489704" y="4672584"/>
            <a:ext cx="1901952" cy="1399032"/>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3-tram0-nhap-lieu.png"/>
          <p:cNvPicPr>
            <a:picLocks noChangeAspect="1"/>
          </p:cNvPicPr>
          <p:nvPr/>
        </p:nvPicPr>
        <p:blipFill>
          <a:blip r:embed="rId5"/>
          <a:stretch>
            <a:fillRect/>
          </a:stretch>
        </p:blipFill>
        <p:spPr>
          <a:xfrm>
            <a:off x="4526280" y="4729162"/>
            <a:ext cx="1828800" cy="1285875"/>
          </a:xfrm>
          <a:prstGeom prst="rect">
            <a:avLst/>
          </a:prstGeom>
        </p:spPr>
      </p:pic>
      <p:sp>
        <p:nvSpPr>
          <p:cNvPr id="28" name="Rectangle 27"/>
          <p:cNvSpPr/>
          <p:nvPr/>
        </p:nvSpPr>
        <p:spPr>
          <a:xfrm>
            <a:off x="7964424" y="4672584"/>
            <a:ext cx="1901952" cy="1399032"/>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25_da_gui_tep.jpg"/>
          <p:cNvPicPr>
            <a:picLocks noChangeAspect="1"/>
          </p:cNvPicPr>
          <p:nvPr/>
        </p:nvPicPr>
        <p:blipFill>
          <a:blip r:embed="rId6"/>
          <a:stretch>
            <a:fillRect/>
          </a:stretch>
        </p:blipFill>
        <p:spPr>
          <a:xfrm>
            <a:off x="8608879" y="4709160"/>
            <a:ext cx="613041" cy="1325880"/>
          </a:xfrm>
          <a:prstGeom prst="rect">
            <a:avLst/>
          </a:prstGeom>
        </p:spPr>
      </p:pic>
      <p:sp>
        <p:nvSpPr>
          <p:cNvPr id="30" name="Rectangle 29"/>
          <p:cNvSpPr/>
          <p:nvPr/>
        </p:nvSpPr>
        <p:spPr>
          <a:xfrm>
            <a:off x="1371600" y="5029200"/>
            <a:ext cx="1188720" cy="822960"/>
          </a:xfrm>
          <a:prstGeom prst="rect">
            <a:avLst/>
          </a:prstGeom>
          <a:noFill/>
          <a:ln w="508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3232"/>
                </a:solidFill>
                <a:latin typeface="Arial"/>
              </a:defRPr>
            </a:pPr>
            <a:r>
              <a:t>Menu</a:t>
            </a:r>
          </a:p>
        </p:txBody>
      </p:sp>
      <p:sp>
        <p:nvSpPr>
          <p:cNvPr id="31" name="Rectangle 30"/>
          <p:cNvSpPr/>
          <p:nvPr/>
        </p:nvSpPr>
        <p:spPr>
          <a:xfrm>
            <a:off x="4846320" y="5029200"/>
            <a:ext cx="1188720" cy="822960"/>
          </a:xfrm>
          <a:prstGeom prst="rect">
            <a:avLst/>
          </a:prstGeom>
          <a:noFill/>
          <a:ln w="508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3232"/>
                </a:solidFill>
                <a:latin typeface="Arial"/>
              </a:defRPr>
            </a:pPr>
            <a:r>
              <a:t>Trạm</a:t>
            </a:r>
          </a:p>
        </p:txBody>
      </p:sp>
      <p:sp>
        <p:nvSpPr>
          <p:cNvPr id="32" name="Rectangle 31"/>
          <p:cNvSpPr/>
          <p:nvPr/>
        </p:nvSpPr>
        <p:spPr>
          <a:xfrm>
            <a:off x="8321040" y="5029200"/>
            <a:ext cx="1188720" cy="822960"/>
          </a:xfrm>
          <a:prstGeom prst="rect">
            <a:avLst/>
          </a:prstGeom>
          <a:noFill/>
          <a:ln w="508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3232"/>
                </a:solidFill>
                <a:latin typeface="Arial"/>
              </a:defRPr>
            </a:pPr>
            <a:r>
              <a:t>Xuất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8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dhsp_hue.png"/>
          <p:cNvPicPr>
            <a:picLocks noChangeAspect="1"/>
          </p:cNvPicPr>
          <p:nvPr/>
        </p:nvPicPr>
        <p:blipFill>
          <a:blip r:embed="rId2"/>
          <a:stretch>
            <a:fillRect/>
          </a:stretch>
        </p:blipFill>
        <p:spPr>
          <a:xfrm>
            <a:off x="384048" y="155448"/>
            <a:ext cx="530352" cy="530352"/>
          </a:xfrm>
          <a:prstGeom prst="rect">
            <a:avLst/>
          </a:prstGeom>
        </p:spPr>
      </p:pic>
      <p:pic>
        <p:nvPicPr>
          <p:cNvPr id="4" name="Picture 3" descr="logo_thpt_thuan_hoa.png"/>
          <p:cNvPicPr>
            <a:picLocks noChangeAspect="1"/>
          </p:cNvPicPr>
          <p:nvPr/>
        </p:nvPicPr>
        <p:blipFill>
          <a:blip r:embed="rId3"/>
          <a:stretch>
            <a:fillRect/>
          </a:stretch>
        </p:blipFill>
        <p:spPr>
          <a:xfrm>
            <a:off x="1024128" y="155448"/>
            <a:ext cx="530352" cy="530352"/>
          </a:xfrm>
          <a:prstGeom prst="rect">
            <a:avLst/>
          </a:prstGeom>
        </p:spPr>
      </p:pic>
      <p:sp>
        <p:nvSpPr>
          <p:cNvPr id="5" name="TextBox 4"/>
          <p:cNvSpPr txBox="1"/>
          <p:nvPr/>
        </p:nvSpPr>
        <p:spPr>
          <a:xfrm>
            <a:off x="1664208" y="155448"/>
            <a:ext cx="4023360" cy="237744"/>
          </a:xfrm>
          <a:prstGeom prst="rect">
            <a:avLst/>
          </a:prstGeom>
          <a:noFill/>
        </p:spPr>
        <p:txBody>
          <a:bodyPr wrap="square" lIns="54864" rIns="54864" tIns="36576">
            <a:spAutoFit/>
          </a:bodyPr>
          <a:lstStyle/>
          <a:p>
            <a:pPr algn="l">
              <a:defRPr sz="1100" b="1">
                <a:solidFill>
                  <a:srgbClr val="18375B"/>
                </a:solidFill>
                <a:latin typeface="Arial"/>
              </a:defRPr>
            </a:pPr>
            <a:r>
              <a:t>Trường THPT Thuận Hoá</a:t>
            </a:r>
          </a:p>
        </p:txBody>
      </p:sp>
      <p:sp>
        <p:nvSpPr>
          <p:cNvPr id="6" name="TextBox 5"/>
          <p:cNvSpPr txBox="1"/>
          <p:nvPr/>
        </p:nvSpPr>
        <p:spPr>
          <a:xfrm>
            <a:off x="1664208" y="411480"/>
            <a:ext cx="4114800" cy="201168"/>
          </a:xfrm>
          <a:prstGeom prst="rect">
            <a:avLst/>
          </a:prstGeom>
          <a:noFill/>
        </p:spPr>
        <p:txBody>
          <a:bodyPr wrap="square" lIns="54864" rIns="54864" tIns="36576">
            <a:spAutoFit/>
          </a:bodyPr>
          <a:lstStyle/>
          <a:p>
            <a:pPr algn="l">
              <a:defRPr sz="950" b="0">
                <a:solidFill>
                  <a:srgbClr val="646E78"/>
                </a:solidFill>
                <a:latin typeface="Arial"/>
              </a:defRPr>
            </a:pPr>
            <a:r>
              <a:t>Trường Đại học Sư Phạm, Đại học Huế</a:t>
            </a:r>
          </a:p>
        </p:txBody>
      </p:sp>
      <p:sp>
        <p:nvSpPr>
          <p:cNvPr id="7" name="TextBox 6"/>
          <p:cNvSpPr txBox="1"/>
          <p:nvPr/>
        </p:nvSpPr>
        <p:spPr>
          <a:xfrm>
            <a:off x="5486400" y="246888"/>
            <a:ext cx="6217920" cy="274320"/>
          </a:xfrm>
          <a:prstGeom prst="rect">
            <a:avLst/>
          </a:prstGeom>
          <a:noFill/>
        </p:spPr>
        <p:txBody>
          <a:bodyPr wrap="square" lIns="54864" rIns="54864" tIns="36576">
            <a:spAutoFit/>
          </a:bodyPr>
          <a:lstStyle/>
          <a:p>
            <a:pPr algn="r">
              <a:defRPr sz="1400" b="1">
                <a:solidFill>
                  <a:srgbClr val="18375B"/>
                </a:solidFill>
                <a:latin typeface="Arial"/>
              </a:defRPr>
            </a:pPr>
            <a:r>
              <a:t>12 · KẾT LUẬN</a:t>
            </a:r>
          </a:p>
        </p:txBody>
      </p:sp>
      <p:sp>
        <p:nvSpPr>
          <p:cNvPr id="8" name="Rectangle 7"/>
          <p:cNvSpPr/>
          <p:nvPr/>
        </p:nvSpPr>
        <p:spPr>
          <a:xfrm>
            <a:off x="384048" y="914400"/>
            <a:ext cx="11430000" cy="12700"/>
          </a:xfrm>
          <a:prstGeom prst="rect">
            <a:avLst/>
          </a:prstGeom>
          <a:solidFill>
            <a:srgbClr val="D2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6473952"/>
            <a:ext cx="3657600" cy="182880"/>
          </a:xfrm>
          <a:prstGeom prst="rect">
            <a:avLst/>
          </a:prstGeom>
          <a:noFill/>
        </p:spPr>
        <p:txBody>
          <a:bodyPr wrap="square" lIns="54864" rIns="54864" tIns="36576">
            <a:spAutoFit/>
          </a:bodyPr>
          <a:lstStyle/>
          <a:p>
            <a:pPr algn="l">
              <a:defRPr sz="900" b="0">
                <a:solidFill>
                  <a:srgbClr val="646E78"/>
                </a:solidFill>
                <a:latin typeface="Arial"/>
              </a:defRPr>
            </a:pPr>
            <a:r>
              <a:t>GV: Mai Xuân Văn</a:t>
            </a:r>
          </a:p>
        </p:txBody>
      </p:sp>
      <p:sp>
        <p:nvSpPr>
          <p:cNvPr id="10" name="TextBox 9"/>
          <p:cNvSpPr txBox="1"/>
          <p:nvPr/>
        </p:nvSpPr>
        <p:spPr>
          <a:xfrm>
            <a:off x="11292840" y="6473952"/>
            <a:ext cx="411480" cy="182880"/>
          </a:xfrm>
          <a:prstGeom prst="rect">
            <a:avLst/>
          </a:prstGeom>
          <a:noFill/>
        </p:spPr>
        <p:txBody>
          <a:bodyPr wrap="square" lIns="54864" rIns="54864" tIns="36576">
            <a:spAutoFit/>
          </a:bodyPr>
          <a:lstStyle/>
          <a:p>
            <a:pPr algn="r">
              <a:defRPr sz="900" b="0">
                <a:solidFill>
                  <a:srgbClr val="646E78"/>
                </a:solidFill>
                <a:latin typeface="Arial"/>
              </a:defRPr>
            </a:pPr>
            <a:r>
              <a:t>15</a:t>
            </a:r>
          </a:p>
        </p:txBody>
      </p:sp>
      <p:sp>
        <p:nvSpPr>
          <p:cNvPr id="11" name="TextBox 10"/>
          <p:cNvSpPr txBox="1"/>
          <p:nvPr/>
        </p:nvSpPr>
        <p:spPr>
          <a:xfrm>
            <a:off x="502920" y="1115568"/>
            <a:ext cx="11155680" cy="384048"/>
          </a:xfrm>
          <a:prstGeom prst="rect">
            <a:avLst/>
          </a:prstGeom>
          <a:noFill/>
        </p:spPr>
        <p:txBody>
          <a:bodyPr wrap="square" lIns="54864" rIns="54864" tIns="36576">
            <a:spAutoFit/>
          </a:bodyPr>
          <a:lstStyle/>
          <a:p>
            <a:pPr algn="l">
              <a:defRPr sz="2600" b="1">
                <a:solidFill>
                  <a:srgbClr val="18375B"/>
                </a:solidFill>
                <a:latin typeface="Arial"/>
              </a:defRPr>
            </a:pPr>
            <a:r>
              <a:t>Một sản phẩm có thể mở ra một cách học AI khác</a:t>
            </a:r>
          </a:p>
        </p:txBody>
      </p:sp>
      <p:sp>
        <p:nvSpPr>
          <p:cNvPr id="12" name="Rectangle 11"/>
          <p:cNvSpPr/>
          <p:nvPr/>
        </p:nvSpPr>
        <p:spPr>
          <a:xfrm>
            <a:off x="603503" y="1792224"/>
            <a:ext cx="5833872" cy="3639312"/>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1-trang-chu.png"/>
          <p:cNvPicPr>
            <a:picLocks noChangeAspect="1"/>
          </p:cNvPicPr>
          <p:nvPr/>
        </p:nvPicPr>
        <p:blipFill>
          <a:blip r:embed="rId4"/>
          <a:stretch>
            <a:fillRect/>
          </a:stretch>
        </p:blipFill>
        <p:spPr>
          <a:xfrm>
            <a:off x="984503" y="1828800"/>
            <a:ext cx="5071872" cy="3566160"/>
          </a:xfrm>
          <a:prstGeom prst="rect">
            <a:avLst/>
          </a:prstGeom>
        </p:spPr>
      </p:pic>
      <p:sp>
        <p:nvSpPr>
          <p:cNvPr id="14" name="Rounded Rectangle 13"/>
          <p:cNvSpPr/>
          <p:nvPr/>
        </p:nvSpPr>
        <p:spPr>
          <a:xfrm>
            <a:off x="6812280" y="1828800"/>
            <a:ext cx="4617720" cy="1234440"/>
          </a:xfrm>
          <a:prstGeom prst="roundRect">
            <a:avLst/>
          </a:prstGeom>
          <a:solidFill>
            <a:srgbClr val="FFFFFF"/>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12280" y="1828800"/>
            <a:ext cx="63500" cy="123444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76872" y="1965960"/>
            <a:ext cx="4343400" cy="256032"/>
          </a:xfrm>
          <a:prstGeom prst="rect">
            <a:avLst/>
          </a:prstGeom>
          <a:noFill/>
        </p:spPr>
        <p:txBody>
          <a:bodyPr wrap="square" lIns="54864" rIns="54864" tIns="36576">
            <a:spAutoFit/>
          </a:bodyPr>
          <a:lstStyle/>
          <a:p>
            <a:pPr algn="l">
              <a:defRPr sz="1400" b="1">
                <a:solidFill>
                  <a:srgbClr val="0066CC"/>
                </a:solidFill>
                <a:latin typeface="Arial"/>
              </a:defRPr>
            </a:pPr>
            <a:r>
              <a:t>GIÁ TRỊ CỐT LÕI</a:t>
            </a:r>
          </a:p>
        </p:txBody>
      </p:sp>
      <p:sp>
        <p:nvSpPr>
          <p:cNvPr id="17" name="TextBox 16"/>
          <p:cNvSpPr txBox="1"/>
          <p:nvPr/>
        </p:nvSpPr>
        <p:spPr>
          <a:xfrm>
            <a:off x="6976872" y="2359152"/>
            <a:ext cx="4343400" cy="594360"/>
          </a:xfrm>
          <a:prstGeom prst="rect">
            <a:avLst/>
          </a:prstGeom>
          <a:noFill/>
        </p:spPr>
        <p:txBody>
          <a:bodyPr wrap="square" lIns="54864" rIns="54864" tIns="36576">
            <a:spAutoFit/>
          </a:bodyPr>
          <a:lstStyle/>
          <a:p>
            <a:pPr algn="l">
              <a:defRPr sz="1400" b="0">
                <a:solidFill>
                  <a:srgbClr val="2D3741"/>
                </a:solidFill>
                <a:latin typeface="Arial"/>
              </a:defRPr>
            </a:pPr>
            <a:r>
              <a:t>Dạy học sinh kiểm chứng AI bằng trải nghiệm trực tiếp.</a:t>
            </a:r>
          </a:p>
        </p:txBody>
      </p:sp>
      <p:sp>
        <p:nvSpPr>
          <p:cNvPr id="18" name="Rounded Rectangle 17"/>
          <p:cNvSpPr/>
          <p:nvPr/>
        </p:nvSpPr>
        <p:spPr>
          <a:xfrm>
            <a:off x="6812280" y="3337560"/>
            <a:ext cx="4617720" cy="1234440"/>
          </a:xfrm>
          <a:prstGeom prst="roundRect">
            <a:avLst/>
          </a:prstGeom>
          <a:solidFill>
            <a:srgbClr val="FFFFFF"/>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12280" y="3337560"/>
            <a:ext cx="63500" cy="1234440"/>
          </a:xfrm>
          <a:prstGeom prst="rect">
            <a:avLst/>
          </a:prstGeom>
          <a:solidFill>
            <a:srgbClr val="D399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76872" y="3474720"/>
            <a:ext cx="4343400" cy="256032"/>
          </a:xfrm>
          <a:prstGeom prst="rect">
            <a:avLst/>
          </a:prstGeom>
          <a:noFill/>
        </p:spPr>
        <p:txBody>
          <a:bodyPr wrap="square" lIns="54864" rIns="54864" tIns="36576">
            <a:spAutoFit/>
          </a:bodyPr>
          <a:lstStyle/>
          <a:p>
            <a:pPr algn="l">
              <a:defRPr sz="1400" b="1">
                <a:solidFill>
                  <a:srgbClr val="D3992A"/>
                </a:solidFill>
                <a:latin typeface="Arial"/>
              </a:defRPr>
            </a:pPr>
            <a:r>
              <a:t>MINH CHỨNG HIỆN CÓ</a:t>
            </a:r>
          </a:p>
        </p:txBody>
      </p:sp>
      <p:sp>
        <p:nvSpPr>
          <p:cNvPr id="21" name="TextBox 20"/>
          <p:cNvSpPr txBox="1"/>
          <p:nvPr/>
        </p:nvSpPr>
        <p:spPr>
          <a:xfrm>
            <a:off x="6976872" y="3867911"/>
            <a:ext cx="4343400" cy="594360"/>
          </a:xfrm>
          <a:prstGeom prst="rect">
            <a:avLst/>
          </a:prstGeom>
          <a:noFill/>
        </p:spPr>
        <p:txBody>
          <a:bodyPr wrap="square" lIns="54864" rIns="54864" tIns="36576">
            <a:spAutoFit/>
          </a:bodyPr>
          <a:lstStyle/>
          <a:p>
            <a:pPr algn="l">
              <a:defRPr sz="1400" b="0">
                <a:solidFill>
                  <a:srgbClr val="2D3741"/>
                </a:solidFill>
                <a:latin typeface="Arial"/>
              </a:defRPr>
            </a:pPr>
            <a:r>
              <a:t>Có thao tác thật, ảnh chụp thật và đầu ra có thể kiểm tra.</a:t>
            </a:r>
          </a:p>
        </p:txBody>
      </p:sp>
      <p:sp>
        <p:nvSpPr>
          <p:cNvPr id="22" name="Rounded Rectangle 21"/>
          <p:cNvSpPr/>
          <p:nvPr/>
        </p:nvSpPr>
        <p:spPr>
          <a:xfrm>
            <a:off x="6812280" y="4846320"/>
            <a:ext cx="4617720" cy="914400"/>
          </a:xfrm>
          <a:prstGeom prst="roundRect">
            <a:avLst/>
          </a:prstGeom>
          <a:solidFill>
            <a:srgbClr val="FFFFFF"/>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812280" y="4846320"/>
            <a:ext cx="63500" cy="914400"/>
          </a:xfrm>
          <a:prstGeom prst="rect">
            <a:avLst/>
          </a:prstGeom>
          <a:solidFill>
            <a:srgbClr val="258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76872" y="4983480"/>
            <a:ext cx="4343400" cy="256032"/>
          </a:xfrm>
          <a:prstGeom prst="rect">
            <a:avLst/>
          </a:prstGeom>
          <a:noFill/>
        </p:spPr>
        <p:txBody>
          <a:bodyPr wrap="square" lIns="54864" rIns="54864" tIns="36576">
            <a:spAutoFit/>
          </a:bodyPr>
          <a:lstStyle/>
          <a:p>
            <a:pPr algn="l">
              <a:defRPr sz="1400" b="1">
                <a:solidFill>
                  <a:srgbClr val="258B5D"/>
                </a:solidFill>
                <a:latin typeface="Arial"/>
              </a:defRPr>
            </a:pPr>
            <a:r>
              <a:t>BƯỚC TIẾP THEO</a:t>
            </a:r>
          </a:p>
        </p:txBody>
      </p:sp>
      <p:sp>
        <p:nvSpPr>
          <p:cNvPr id="25" name="TextBox 24"/>
          <p:cNvSpPr txBox="1"/>
          <p:nvPr/>
        </p:nvSpPr>
        <p:spPr>
          <a:xfrm>
            <a:off x="6976872" y="5376672"/>
            <a:ext cx="4343400" cy="274320"/>
          </a:xfrm>
          <a:prstGeom prst="rect">
            <a:avLst/>
          </a:prstGeom>
          <a:noFill/>
        </p:spPr>
        <p:txBody>
          <a:bodyPr wrap="square" lIns="54864" rIns="54864" tIns="36576">
            <a:spAutoFit/>
          </a:bodyPr>
          <a:lstStyle/>
          <a:p>
            <a:pPr algn="l">
              <a:defRPr sz="1400" b="0">
                <a:solidFill>
                  <a:srgbClr val="2D3741"/>
                </a:solidFill>
                <a:latin typeface="Arial"/>
              </a:defRPr>
            </a:pPr>
            <a:r>
              <a:t>Triển khai lớp học và thu dữ liệu tác động thật.</a:t>
            </a:r>
          </a:p>
        </p:txBody>
      </p:sp>
      <p:sp>
        <p:nvSpPr>
          <p:cNvPr id="26" name="TextBox 25"/>
          <p:cNvSpPr txBox="1"/>
          <p:nvPr/>
        </p:nvSpPr>
        <p:spPr>
          <a:xfrm>
            <a:off x="731520" y="5989320"/>
            <a:ext cx="10789920" cy="228600"/>
          </a:xfrm>
          <a:prstGeom prst="rect">
            <a:avLst/>
          </a:prstGeom>
          <a:noFill/>
        </p:spPr>
        <p:txBody>
          <a:bodyPr wrap="square" lIns="54864" rIns="54864" tIns="36576">
            <a:spAutoFit/>
          </a:bodyPr>
          <a:lstStyle/>
          <a:p>
            <a:pPr algn="ctr">
              <a:defRPr sz="1200" b="0">
                <a:solidFill>
                  <a:srgbClr val="0066CC"/>
                </a:solidFill>
                <a:latin typeface="Arial"/>
              </a:defRPr>
            </a:pPr>
            <a:r>
              <a:t>https://mxuanvan02.github.io/ainatomy/  ·  GV: Mai Xuân Văn</a:t>
            </a:r>
          </a:p>
        </p:txBody>
      </p:sp>
      <p:sp>
        <p:nvSpPr>
          <p:cNvPr id="27" name="Rectangle 26"/>
          <p:cNvSpPr/>
          <p:nvPr/>
        </p:nvSpPr>
        <p:spPr>
          <a:xfrm>
            <a:off x="1371600" y="2560320"/>
            <a:ext cx="3200400" cy="1828800"/>
          </a:xfrm>
          <a:prstGeom prst="rect">
            <a:avLst/>
          </a:prstGeom>
          <a:noFill/>
          <a:ln w="508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3232"/>
                </a:solidFill>
                <a:latin typeface="Arial"/>
              </a:defRPr>
            </a:pPr>
            <a:r>
              <a:t>Trang chủ</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