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THUYẾT MINH Ý TƯỞNG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0000"/>
                </a:solidFill>
              </a:defRPr>
            </a:pPr>
            <a:r>
              <a:t>AInatomy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33333"/>
                </a:solidFill>
              </a:defRPr>
            </a:pPr>
            <a:r>
              <a:t>Phòng thí nghiệm AI offline cho học sinh phổ thông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Giải thưởng Tiên phong Ứng dụng AI trong Giáo dục Việt Nam 2026</a:t>
            </a:r>
          </a:p>
          <a:p>
            <a:pPr algn="ctr">
              <a:defRPr sz="1400">
                <a:solidFill>
                  <a:srgbClr val="646464"/>
                </a:solidFill>
              </a:defRPr>
            </a:pPr>
            <a:r>
              <a:t>Bảng B — Trung học phổ thông</a:t>
            </a:r>
          </a:p>
          <a:p>
            <a:pPr>
              <a:defRPr sz="1200"/>
            </a:pPr>
          </a:p>
          <a:p>
            <a:pPr algn="ctr">
              <a:defRPr sz="1600" b="1">
                <a:solidFill>
                  <a:srgbClr val="333333"/>
                </a:solidFill>
              </a:defRPr>
            </a:pPr>
            <a:r>
              <a:t>Tác giả: GV Mai Xuân Văn</a:t>
            </a:r>
          </a:p>
          <a:p>
            <a:pPr algn="ctr">
              <a:defRPr sz="1400">
                <a:solidFill>
                  <a:srgbClr val="646464"/>
                </a:solidFill>
              </a:defRPr>
            </a:pPr>
            <a:r>
              <a:t>Trường THPT Thuận Hoá — Đại học Sư Phạm, Đại học Huế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1. Đặt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Bối cảnh và thách thức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Quyết định 2422/QĐ-BGDĐT (18/8/2026) ban hành Khung nội dung giáo dục AI với 22 YCCĐ lớp 10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Công văn 5588/BGDĐT-GDPT yêu cầu: không tài khoản, không phụ thuộc nhà cung cấp, ưu tiên mã nguồn mở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Thực tế phòng lab trường phổ thông: cấu hình thấp, Internet không ổn định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Khoảng trống: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  — Chưa có công cụ offline tiếng Việt phủ đủ 22 YCCĐ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  — Học sinh học AI thụ động: hỏi → nhận đáp án → không hiểu bản chất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  — Thiếu công cụ trực quan để giáo viên dạy khái niệm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2. Mục tiêu nghiên cứu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Mục tiêu tổng quát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Xây dựng phòng thí nghiệm AI offline, tiếng Việt, không tài khoản,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cho phép học sinh phổ thông học về AI thông qua việc bắt lỗi AI,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phủ 22/22 YCCĐ lớp 10 theo QĐ 2422/QĐ-BGDĐT.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Mục tiêu cụ thể: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  1. Thiết kế kiến trúc 3 tầng chạy được trên file:// không cần máy chủ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  2. Xây dựng 5 phân hệ mô phỏng: Kịch bản, Đấu trường, Nhà máy, Xưởng huấn luyện, Bản đồ năng lực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  3. Tích hợp vào 28 bài SGK Tin học 10 với phân phối 12 tiết đề xuất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  4. Đảm bảo tự chấm 100% bằng nhãn đúng có sẵn, không cần giáo viên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3. Cơ sở lý thuyết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Căn cứ pháp lý và khung năng lực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QĐ 2422/QĐ-BGDĐT (18/8/2026): 4 mạch nội dung × 13 chủ đề × 22 YCCĐ lớp 10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Mạch A: Tư duy lấy con người làm trung tâm (5 YCCĐ)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Mạch B: Đạo đức AI (3 YCCĐ)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Mạch C: Các kỹ thuật và ứng dụng AI (11 YCCĐ)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Mạch D: Thiết kế hệ thống AI (3 YCCĐ)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CV 5588/BGDĐT-GDPT (19/8/2026): 4 điều kiện bắt buộc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Không yêu cầu tài khoản cá nhân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Không phụ thuộc nhà cung cấp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Không buộc mua tài khoản/thiết bị/dịch vụ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Ưu tiên mã nguồn mở, có phiên bản ngoại tuyến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4. Kiến trúc hệ thống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Mô hình 3 tầng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Tầng nội dung (data/):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Ngân hàng câu hỏi, 22 YCCĐ, metadata chủ đề, kiến thức nền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Nhúng dưới dạng biến toàn cục (tránh CORS khi mở file://)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Tầng mô phỏng (js/):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Perceptron học thật với trọng số cập nhật theo lỗi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Bộ sinh ảnh tổng hợp bằng canvas, engine chấm tất định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Cảnh 3D dựng trên three.js r137.5 (UMD, lưu trong vendor/)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Tầng giao diện (index.html + CSS):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Chuyển đổi khung nhìn bằng ẩn hiện, không dùng router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Hoạt động trên cả file:// và HTTPS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5. Các phân hệ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5 phân hệ mô phỏng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1. Kịch bản 9 cảnh: Hành trình dữ liệu từ đầu vào đến đầu ra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2. Đấu trường bắt lỗi AI: 12 tình huống, 5 loại lỗi (bịa số liệu, nguồn giả, thiên kiến, suy luận sai, lộ dữ liệu)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3. Nhà máy AI 7 trạm: Từ nhập liệu → huấn luyện → đánh giá → triển khai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4. Xưởng huấn luyện 2 chiều: Perceptron học thật, phát hiện thiên kiến dữ liệu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5. Bản đồ năng lực: Theo dõi tiến bộ theo 13 chủ đề QĐ 2422 + 12 khối UNESCO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Nguyên tắc: Lỗi do hệ cài sẵn → đáp án biết trước → chấm tất định, không cần LLM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6. Tích hợp chương trình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Phủ 28 bài SGK Tin học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66CC"/>
                </a:solidFill>
              </a:defRPr>
            </a:pPr>
            <a:r>
              <a:t>Chủ đề SGK → Mạch QĐ 2422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A. Máy tính &amp; xã hội tri thức → Mạch A, 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B. Mạng máy tính &amp; Internet → Mạch B, C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D. Đạo đức, pháp luật số → Mạch A, 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E. Thiết kế đồ họa (ICT) → Mạch C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F. Giải quyết vấn đề → Mạch C, 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G. Hướng nghiệp (CS) → Mạch A,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8288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66CC"/>
                </a:solidFill>
              </a:defRPr>
            </a:pPr>
            <a:r>
              <a:t>Phân phối 12 tiết đề xuất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Tiết 1-3: Mạch A-B (Kịch bản + Đấu trường)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Tiết 4-5: Mạch C (Nhà máy Trạm 0-1-5)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Tiết 6-7: Mạch C (Xưởng huấn luyện)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Tiết 8: Mạch D (Nhà máy 7 trạm)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Tiết 9-10: Ôn tập + Kiểm tra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Tiết 11-12: Dự án + Tổng kết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7. Kết quả nghiệm thu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Hệ thống kiểm chứng tự động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97/97 tiêu chí nghiệm thu đạt (tools/nghiem_thu.py)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22/22 YCCĐ lớp 10 được phủ (tools/tinh_do_phu.py)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133 tệp trong manifest, hash khớp 100% (SHA256SUMS.txt)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0 lỗi nội dung (tools/kiem_noi_dung.py)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Bộ mutation test chứng minh cổng có răng: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48 ca phá được thiết kế để kiểm tra từng cổng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Phân biệt ca PHÁ với ca ĐỐI CHỨNG ÂM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Đếm theo CẤP CA, không đếm dòng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Công cụ tự suy gốc repo, không ghi cứng đường dẫn máy tác giả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8. Đổi mới sư phạm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Nguyên tắc thiết kế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Học sinh bắt lỗi AI thay vì hỏi AI: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78 câu trong ngân hàng, chia theo 5 nhóm lỗi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Chế độ luyện tập, tiền kiểm tra, hậu kiểm tra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So sánh tiến bộ qua các lần kiểm tra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Mô phỏng thay vì lý thuyết: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Perceptron học thật, trọng số thay đổi theo lỗi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Thiên kiến dữ liệu: 92% ảnh ngày → 100% đúng ngày, 59% đúng đêm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Mặt phẳng quyết định trong không gian 3D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Không điểm số, chỉ minh chứng: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Khung 2422 cấm đầu điểm riêng, cấm xếp loại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Hiển thị 'đáp ứng tốt', 'đáp ứng một phần', 'cần luyện thêm'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9. Khả năng nhân rộng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Triển khai thực tế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3 cách chạy, không cần Internet: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USB: Chép thư mục → mở index.html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Máy chủ lớp: Chia sẻ qua mạng LAN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GitHub Pages: https://mxuanvan02.github.io/ainatomy/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Yêu cầu tối thiểu: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Trình duyệt bất kỳ (Chrome, Edge, Firefox)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Python 3.8+ (chỉ cần cho công cụ kiểm tra)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Không cần card đồ họa rời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• Dữ liệu lưu cục bộ, ẩn danh theo mã học sinh: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Không thu thập họ tên, ảnh, định danh cá nhân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500">
                <a:solidFill>
                  <a:srgbClr val="333333"/>
                </a:solidFill>
              </a:defRPr>
            </a:pPr>
            <a:r>
              <a:t>  — Xuất CSV/JSON làm minh chứng cuối kì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10. Kết luận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6CC"/>
                </a:solidFill>
              </a:defRPr>
            </a:pPr>
            <a:r>
              <a:t>Đóng góp chính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1. Công cụ offline tiếng Việt đầu tiên phủ 22/22 YCCĐ lớp 10 theo QĐ 2422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2. Kiến trúc 3 tầng chạy được trên file://, không phụ thuộc máy chủ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3. 5 phân hệ mô phỏng với cơ chế tự chấm tất định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4. Tích hợp vào 28 bài SGK Tin học 10 với phân phối 12 tiết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5. Hệ thống kiểm chứng tự động 97/97 tiêu chí, có mutation test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6. Tuân thủ CV 5588: không tài khoản, không phụ thuộc nhà cung cấp,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    không buộc mua thiết bị, ưu tiên mã nguồn mở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548640" cy="54864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Tài liệu tham khảo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GV hướng dẫn: Mai Xuân Văn                                                                                 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[1] Bộ GD&amp;ĐT (2026). Quyết định 2422/QĐ-BGDĐT ban hành Khung nội dung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      giáo dục trí tuệ nhân tạo cho học sinh phổ thông.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[2] Bộ GD&amp;ĐT (2026). Công văn 5588/BGDĐT-GDPT về triển khai thực hiện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      Khung nội dung giáo dục AI năm học 2026-2027.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[3] Quốc hội (2025). Luật Trí tuệ nhân tạo 134/2025/QH15.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[4] Quốc hội (2025). Luật Bảo vệ dữ liệu cá nhân 91/2025/QH15.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[5] UNESCO (2022). K-12 AI curricula: a snapshot of AI curricula for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      primary and secondary schools.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68680"/>
            <a:ext cx="11247120" cy="127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640080" cy="640080"/>
          </a:xfrm>
          <a:prstGeom prst="rect">
            <a:avLst/>
          </a:prstGeom>
        </p:spPr>
      </p:pic>
      <p:pic>
        <p:nvPicPr>
          <p:cNvPr id="4" name="Picture 3" descr="logo_thpt_thuan_ho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71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137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3333"/>
                </a:solidFill>
              </a:defRPr>
            </a:pPr>
            <a:r>
              <a:t>TRƯỜNG THPT THUẬN HOÁ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Đại học Sư Phạm, Đại học Huế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0000"/>
                </a:solidFill>
              </a:defRPr>
            </a:pPr>
            <a:r>
              <a:t>Cảm 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33333"/>
                </a:solidFill>
              </a:defRPr>
            </a:pPr>
            <a:r>
              <a:t>GV Mai Xuân Văn</a:t>
            </a:r>
          </a:p>
          <a:p>
            <a:pPr algn="ctr">
              <a:defRPr sz="1600">
                <a:solidFill>
                  <a:srgbClr val="646464"/>
                </a:solidFill>
              </a:defRPr>
            </a:pPr>
            <a:r>
              <a:t>Trường THPT Thuận Hoá — Đại học Sư Phạm, Đại học Huế</a:t>
            </a:r>
          </a:p>
          <a:p>
            <a:pPr>
              <a:defRPr sz="1200"/>
            </a:pPr>
          </a:p>
          <a:p>
            <a:pPr algn="ctr">
              <a:defRPr sz="1400">
                <a:solidFill>
                  <a:srgbClr val="0066CC"/>
                </a:solidFill>
              </a:defRPr>
            </a:pPr>
            <a:r>
              <a:t>https://mxuanvan02.github.io/ainatomy/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