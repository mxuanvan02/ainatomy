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30276800" cy="42799000"/>
  <p:notesSz cx="6858000" cy="9144000"/>
  <p:embeddedFontLst>
    <p:embeddedFont>
      <p:font typeface="Aptos Bold" charset="1" panose="020B0004020202020204"/>
      <p:regular r:id="rId7"/>
    </p:embeddedFont>
    <p:embeddedFont>
      <p:font typeface="Aptos" charset="1" panose="020B000402020202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2090" y="10112792"/>
            <a:ext cx="26764953" cy="31129009"/>
            <a:chOff x="0" y="0"/>
            <a:chExt cx="2395137" cy="2785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5137" cy="2785667"/>
            </a:xfrm>
            <a:custGeom>
              <a:avLst/>
              <a:gdLst/>
              <a:ahLst/>
              <a:cxnLst/>
              <a:rect r="r" b="b" t="t" l="l"/>
              <a:pathLst>
                <a:path h="2785667" w="2395137">
                  <a:moveTo>
                    <a:pt x="0" y="0"/>
                  </a:moveTo>
                  <a:lnTo>
                    <a:pt x="2395137" y="0"/>
                  </a:lnTo>
                  <a:lnTo>
                    <a:pt x="2395137" y="2785667"/>
                  </a:lnTo>
                  <a:lnTo>
                    <a:pt x="0" y="2785667"/>
                  </a:lnTo>
                  <a:close/>
                </a:path>
              </a:pathLst>
            </a:custGeom>
            <a:ln w="95250" cap="sq">
              <a:solidFill>
                <a:srgbClr val="D9D9D9"/>
              </a:solidFill>
              <a:prstDash val="sysDot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395137" cy="2785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27600" y="11431442"/>
            <a:ext cx="22800184" cy="1115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91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0276000" cy="5506447"/>
          </a:xfrm>
          <a:custGeom>
            <a:avLst/>
            <a:gdLst/>
            <a:ahLst/>
            <a:cxnLst/>
            <a:rect r="r" b="b" t="t" l="l"/>
            <a:pathLst>
              <a:path h="5506447" w="30276000">
                <a:moveTo>
                  <a:pt x="0" y="0"/>
                </a:moveTo>
                <a:lnTo>
                  <a:pt x="30276000" y="0"/>
                </a:lnTo>
                <a:lnTo>
                  <a:pt x="30276000" y="5506447"/>
                </a:lnTo>
                <a:lnTo>
                  <a:pt x="0" y="550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744275" y="6325409"/>
            <a:ext cx="27886654" cy="121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0"/>
              </a:lnSpc>
              <a:defRPr sz="3100" b="1">
                <a:solidFill>
                  <a:srgbClr val="18437A"/>
                </a:solidFill>
                <a:latin typeface="Arial"/>
              </a:defRPr>
            </a:pPr>
            <a:r>
              <a:t>AINATOMY — PHÒNG THÍ NGHIỆM AI OFFLINE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4275" y="7779557"/>
            <a:ext cx="27886654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5"/>
              </a:lnSpc>
              <a:defRPr sz="1900">
                <a:solidFill>
                  <a:srgbClr val="232D3A"/>
                </a:solidFill>
                <a:latin typeface="Arial"/>
              </a:defRPr>
            </a:pPr>
            <a:r>
              <a:t>Giáo viên thực hiện: Mai Xuân Văn</a:t>
            </a:r>
            <a:br/>
            <a:r>
              <a:t>Đơn vị công tác: Trường THPT Thuận Hoá, Đại học Sư Phạm, Đại học Huế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1658600"/>
            <a:ext cx="11109959" cy="4160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54680" y="11658600"/>
            <a:ext cx="11109959" cy="475488"/>
          </a:xfrm>
          <a:prstGeom prst="roundRect">
            <a:avLst/>
          </a:prstGeom>
          <a:solidFill>
            <a:srgbClr val="18437A"/>
          </a:solidFill>
          <a:ln w="15240">
            <a:solidFill>
              <a:srgbClr val="184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1713464"/>
            <a:ext cx="108905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1. BỐI CẢNH &amp; VẤN ĐỀ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2696" y="12280392"/>
            <a:ext cx="10853928" cy="3447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D3A"/>
                </a:solidFill>
                <a:latin typeface="Arial"/>
              </a:defRPr>
            </a:pPr>
            <a:r>
              <a:t>• QĐ 2422/QĐ-BGDĐT: 12 tiết/năm cho giáo dục AI.</a:t>
            </a:r>
            <a:br/>
            <a:r>
              <a:t>• Phòng máy yếu, internet không ổn định.</a:t>
            </a:r>
            <a:br/>
            <a:r>
              <a:t>• Học sinh dùng AI nhưng thiếu kỹ năng kiểm chứng.</a:t>
            </a:r>
            <a:br/>
            <a:br/>
            <a:r>
              <a:t>Đối tượng hưởng lợi: học sinh THPT và giáo viên Tin học.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6139159"/>
            <a:ext cx="11109959" cy="4846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54680" y="16139159"/>
            <a:ext cx="11109959" cy="475488"/>
          </a:xfrm>
          <a:prstGeom prst="roundRect">
            <a:avLst/>
          </a:prstGeom>
          <a:solidFill>
            <a:srgbClr val="1C92BE"/>
          </a:solidFill>
          <a:ln w="15240">
            <a:solidFill>
              <a:srgbClr val="1C9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4408" y="16194023"/>
            <a:ext cx="108905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2. GIẢI PHÁP &amp; CÔNG CỤ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2696" y="16760951"/>
            <a:ext cx="10853928" cy="4133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D3A"/>
                </a:solidFill>
                <a:latin typeface="Arial"/>
              </a:defRPr>
            </a:pPr>
            <a:r>
              <a:t>AInatomy là phòng thí nghiệm AI offline giúp học sinh:</a:t>
            </a:r>
            <a:br/>
            <a:br/>
            <a:r>
              <a:t>• Quan sát quy trình AI từ đầu đến cuối.</a:t>
            </a:r>
            <a:br/>
            <a:r>
              <a:t>• Dự đoán, kiểm tra và bắt lỗi đầu ra AI.</a:t>
            </a:r>
            <a:br/>
            <a:r>
              <a:t>• Học trên máy cấu hình thấp, không cần tài khoản.</a:t>
            </a:r>
            <a:br/>
            <a:br/>
            <a:r>
              <a:t>Công cụ: HTML5, CSS3, JavaScript, Three.js.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21305520"/>
            <a:ext cx="11109959" cy="42976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54680" y="21305520"/>
            <a:ext cx="11109959" cy="475488"/>
          </a:xfrm>
          <a:prstGeom prst="roundRect">
            <a:avLst/>
          </a:prstGeom>
          <a:solidFill>
            <a:srgbClr val="DBA023"/>
          </a:solidFill>
          <a:ln w="15240">
            <a:solidFill>
              <a:srgbClr val="DBA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4408" y="21360384"/>
            <a:ext cx="108905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3. TRIỂN KHAI TRONG THỰC TẾ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2696" y="21927312"/>
            <a:ext cx="10853928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D3A"/>
                </a:solidFill>
                <a:latin typeface="Arial"/>
              </a:defRPr>
            </a:pPr>
            <a:r>
              <a:t>Giai đoạn 1 — Thiết kế: phân tích CT GDPT 2018, xây dựng prototype.</a:t>
            </a:r>
            <a:br/>
            <a:br/>
            <a:r>
              <a:t>Giai đoạn 2 — Phát triển: 28 bài học theo 22 YCCĐ, mô phỏng 3D, chấm điểm tự động.</a:t>
            </a:r>
            <a:br/>
            <a:br/>
            <a:r>
              <a:t>Giai đoạn 3 — Đánh giá: triển khai tại THPT Thuận Hoá, thu thập dữ liệu tương tác.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4679" y="11658600"/>
            <a:ext cx="11109959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94407" y="11731752"/>
            <a:ext cx="1089050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8437A"/>
                </a:solidFill>
                <a:latin typeface="Arial"/>
              </a:defRPr>
            </a:pPr>
            <a:r>
              <a:t>MINH CHỨNG SẢN PHẨM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94407" y="12252960"/>
            <a:ext cx="3550919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-trang-ch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6827" y="12252960"/>
            <a:ext cx="2926080" cy="20574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8318480" y="12252960"/>
            <a:ext cx="3550919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3-tram0-nhap-lie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0899" y="12252960"/>
            <a:ext cx="2926080" cy="205740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21942551" y="12252960"/>
            <a:ext cx="3550919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4-tram5-ung-du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54971" y="12252960"/>
            <a:ext cx="2926080" cy="20574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4584679" y="14996159"/>
            <a:ext cx="11109959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94407" y="15115032"/>
            <a:ext cx="1089050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58B5D"/>
                </a:solidFill>
                <a:latin typeface="Arial"/>
              </a:defRPr>
            </a:pPr>
            <a:r>
              <a:t>4. KẾT QUẢ &amp; TÁC ĐỘNG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694407" y="15727680"/>
            <a:ext cx="5303519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8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749271" y="15892272"/>
            <a:ext cx="5193791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258B5D"/>
                </a:solidFill>
                <a:latin typeface="Arial"/>
              </a:defRPr>
            </a:pPr>
            <a:r>
              <a:t>28/28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49271" y="16477488"/>
            <a:ext cx="5193791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2D3A"/>
                </a:solidFill>
                <a:latin typeface="Arial"/>
              </a:defRPr>
            </a:pPr>
            <a:r>
              <a:t>YCCĐ Tin học 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116799" y="15727680"/>
            <a:ext cx="5303519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8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71663" y="15892272"/>
            <a:ext cx="5193791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258B5D"/>
                </a:solidFill>
                <a:latin typeface="Arial"/>
              </a:defRPr>
            </a:pPr>
            <a:r>
              <a:t>97/97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71663" y="16477488"/>
            <a:ext cx="5193791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2D3A"/>
                </a:solidFill>
                <a:latin typeface="Arial"/>
              </a:defRPr>
            </a:pPr>
            <a:r>
              <a:t>kiểm thử đạt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694407" y="17355312"/>
            <a:ext cx="5303519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9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749271" y="17519904"/>
            <a:ext cx="5193791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1C92BE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749271" y="18105120"/>
            <a:ext cx="5193791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2D3A"/>
                </a:solidFill>
                <a:latin typeface="Arial"/>
              </a:defRPr>
            </a:pPr>
            <a:r>
              <a:t>offline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799" y="17355312"/>
            <a:ext cx="5303519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9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71663" y="17519904"/>
            <a:ext cx="5193791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1C92BE"/>
                </a:solidFill>
                <a:latin typeface="Arial"/>
              </a:defRPr>
            </a:pPr>
            <a:r>
              <a:t>3D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71663" y="18105120"/>
            <a:ext cx="5193791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2D3A"/>
                </a:solidFill>
                <a:latin typeface="Arial"/>
              </a:defRPr>
            </a:pPr>
            <a:r>
              <a:t>mô phỏng AI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584679" y="19293840"/>
            <a:ext cx="11109959" cy="4572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4584679" y="19293840"/>
            <a:ext cx="11109959" cy="475488"/>
          </a:xfrm>
          <a:prstGeom prst="roundRect">
            <a:avLst/>
          </a:prstGeom>
          <a:solidFill>
            <a:srgbClr val="18437A"/>
          </a:solidFill>
          <a:ln w="15240">
            <a:solidFill>
              <a:srgbClr val="184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694407" y="19348704"/>
            <a:ext cx="108905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5. BỀN VỮNG &amp; KHẢ NĂNG MỞ RỘNG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712695" y="19915632"/>
            <a:ext cx="10853928" cy="3858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D3A"/>
                </a:solidFill>
                <a:latin typeface="Arial"/>
              </a:defRPr>
            </a:pPr>
            <a:r>
              <a:t>• Chạy offline, không phụ thuộc internet hay cloud.</a:t>
            </a:r>
            <a:br/>
            <a:r>
              <a:t>• Mã nguồn mở, dễ bảo trì và cập nhật.</a:t>
            </a:r>
            <a:br/>
            <a:r>
              <a:t>• Mọi trường THPT có thể triển khai.</a:t>
            </a:r>
            <a:br/>
            <a:r>
              <a:t>• Có thể mở rộng sang khối 11, 12 và các chủ đề AI nâng cao.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676119" y="24140160"/>
            <a:ext cx="1828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qr_ainatom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76119" y="24140160"/>
            <a:ext cx="1828800" cy="18288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6733519" y="24460200"/>
            <a:ext cx="877823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437A"/>
                </a:solidFill>
                <a:latin typeface="Arial"/>
              </a:defRPr>
            </a:pPr>
            <a:r>
              <a:t>Trải nghiệm AInatomy</a:t>
            </a:r>
            <a:br/>
            <a:r>
              <a:t>mxuanvan02.github.io/ainatomy/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DAHW1Dh9jN8</dc:identifier>
  <dcterms:modified xsi:type="dcterms:W3CDTF">2011-08-01T06:04:30Z</dcterms:modified>
  <cp:revision>1</cp:revision>
  <dc:title>Mẫu Poster - Giải thưởng Tiên Phong Ứng dụng AI trong giáo dục Việt Nam 2026</dc:title>
</cp:coreProperties>
</file>