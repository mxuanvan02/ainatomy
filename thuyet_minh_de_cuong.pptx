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1/15 (20 giây)</a:t>
            </a:r>
          </a:p>
          <a:p/>
          <a:p>
            <a:r>
              <a:t>[Lời nói]</a:t>
            </a:r>
          </a:p>
          <a:p>
            <a:r>
              <a:t>"Kính chào Hội đồng. Tôi là Mai Xuân Văn, giáo viên Tin học Trường THPT Thuận Hoá, Đại học Sư Phạm Huế. Hôm nay tôi xin trình bày đề cương nghiên cứu: Xây dựng phòng thí nghiệm AI offline AInatomy nhằm phát triển năng lực kiểm chứng AI cho học sinh THPT theo Chương trình giáo dục phổ thông 2018."</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2/15 (15 giây)</a:t>
            </a:r>
          </a:p>
          <a:p/>
          <a:p>
            <a:r>
              <a:t>[Lời nói]</a:t>
            </a:r>
          </a:p>
          <a:p>
            <a:r>
              <a:t>"Báo cáo gồm ba phần chính. Phần một là mở đầu, trình bày lý do chọn đề tài, mục tiêu, đối tượng và phương pháp nghiên cứu. Phần hai là nội dung nghiên cứu, bao gồm bối cảnh, giải pháp, quá trình triển khai, kết quả và tính bền vững. Phần ba là kết luận, kiến nghị và tài liệu tham khảo."</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3/15 (30 giây)</a:t>
            </a:r>
          </a:p>
          <a:p/>
          <a:p>
            <a:r>
              <a:t>[Lời nói]</a:t>
            </a:r>
          </a:p>
          <a:p>
            <a:r>
              <a:t>"Tôi chọn đề tài này vì bốn lý do. Thứ nhất, Quyết định 2422 của Bộ Giáo dục yêu cầu mỗi trường THPT dành 12 tiết mỗi năm cho giáo dục AI. Thứ hai, nhiều trường vùng khó khăn thiếu hạ tầng phòng máy và internet ổn định. Thứ ba, học sinh hiện nay dễ dàng sử dụng AI nhưng thiếu kỹ năng kiểm chứng đầu ra — đây là năng lực cốt lõi trong kỷ nguyên AI. Thứ tư, cần một công cụ offline chạy được trên máy tính cũ, không cần internet, để mọi học sinh đều tiếp cận được."</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4/15 (25 giây)</a:t>
            </a:r>
          </a:p>
          <a:p/>
          <a:p>
            <a:r>
              <a:t>[Lời nói]</a:t>
            </a:r>
          </a:p>
          <a:p>
            <a:r>
              <a:t>"Mục tiêu tổng quát của đề tài là xây dựng phòng thí nghiệm AI offline AInatomy giúp học sinh THPT phát triển năng lực kiểm chứng AI. Cụ thể, mục tiêu một là thiết kế công cụ chạy offline, không cần tài khoản, tương thích máy tính cấu hình thấp. Mục tiêu hai là xây dựng 28 hoạt động học tập bám sát chương trình Tin học 10. Mục tiêu ba là đánh giá hiệu quả của công cụ trong việc phát triển năng lực kiểm chứng AI cho học sinh."</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5/15 (20 giây)</a:t>
            </a:r>
          </a:p>
          <a:p/>
          <a:p>
            <a:r>
              <a:t>[Lời nói]</a:t>
            </a:r>
          </a:p>
          <a:p>
            <a:r>
              <a:t>"Đối tượng nghiên cứu là công cụ AInatomy, học sinh THPT đặc biệt lớp 10, giáo viên Tin học, và chương trình giáo dục phổ thông 2018. Phạm vi nghiên cứu bao gồm 28 bài học theo 22 yêu cầu cần đạt của chương trình Tin học 10, triển khai tại Trường THPT Thuận Hoá trong năm học 2025–2026, sử dụng công nghệ HTML5, CSS3, JavaScript và Three.js chạy hoàn toàn offline."</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6/15 (25 giây)</a:t>
            </a:r>
          </a:p>
          <a:p/>
          <a:p>
            <a:r>
              <a:t>[Lời nói]</a:t>
            </a:r>
          </a:p>
          <a:p>
            <a:r>
              <a:t>"Đề tài sử dụng bốn phương pháp nghiên cứu. Thứ nhất, nghiên cứu tài liệu để phân tích chương trình giáo dục phổ thông và các nghiên cứu về giáo dục AI. Thứ hai, thiết kế và phát triển công cụ AInatomy theo quy trình lặp. Thứ ba, thực nghiệm sư phạm bằng cách triển khai trong lớp học Tin học 10. Thứ tư, đánh giá và phân tích cả định lượng và định tính để đo lường hiệu quả."</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7/15 (25 giây)</a:t>
            </a:r>
          </a:p>
          <a:p/>
          <a:p>
            <a:r>
              <a:t>[Lời nói]</a:t>
            </a:r>
          </a:p>
          <a:p>
            <a:r>
              <a:t>"Từ bối cảnh trên, tôi xác định ba vấn đề nghiên cứu. Thứ nhất, AI là hộp đen — học sinh khó nhìn thấy cách AI hoạt động, chỉ thấy đầu ra. Thứ hai, hạ tầng trường học hạn chế — phòng máy yếu, internet không ổn định, không thể yêu cầu tài khoản hay API. Thứ ba, học sinh thiếu năng lực kiểm chứng — dễ nhận đáp án từ AI mà không hỏi lại, không kiểm tra độ tin cậy, không phát hiện lỗi."</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8/15 (30 giây)</a:t>
            </a:r>
          </a:p>
          <a:p/>
          <a:p>
            <a:r>
              <a:t>[Lời nói]</a:t>
            </a:r>
          </a:p>
          <a:p>
            <a:r>
              <a:t>"Giải pháp là xây dựng AInatomy — phòng thí nghiệm AI offline. Công cụ này giúp học sinh quan sát quy trình AI từ đầu đến cuối qua bốn bước. Bước một, học sinh đọc tình huống và nhận diện vấn đề. Bước hai, học sinh dự đoán đầu ra AI trước khi xem kết quả. Bước ba, học sinh chạy mô phỏng AI và quan sát quy trình. Bước bốn, học sinh so sánh dự đoán với kết quả thực tế và rút ra bài học."</a:t>
            </a:r>
          </a:p>
          <a:p/>
          <a:p>
            <a:r>
              <a:t>[Animation]</a:t>
            </a:r>
          </a:p>
          <a:p>
            <a:r>
              <a:t>- Click 1: Highlight "Bước 1" — "Học sinh đọc tình huống."</a:t>
            </a:r>
          </a:p>
          <a:p>
            <a:r>
              <a:t>- Click 2: Highlight "Bước 2" — "Dự đoán đầu ra AI."</a:t>
            </a:r>
          </a:p>
          <a:p>
            <a:r>
              <a:t>- Click 3: Highlight "Bước 3" — "Chạy mô phỏng AI."</a:t>
            </a:r>
          </a:p>
          <a:p>
            <a:r>
              <a:t>- Click 4: Highlight "Bước 4" — "So sánh và rút bài học."</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9/15 (25 giây)</a:t>
            </a:r>
          </a:p>
          <a:p/>
          <a:p>
            <a:r>
              <a:t>[Lời nói]</a:t>
            </a:r>
          </a:p>
          <a:p>
            <a:r>
              <a:t>"Quá trình triển khai gồm ba giai đoạn. Giai đoạn một là thiết kế kiến trúc, phân tích yêu cầu chương trình và xây dựng prototype. Giai đoạn hai là phát triển tính năng, bao gồm 28 bài học, mô phỏng AI 3D, hệ thống chấm điểm tự động và dashboard năng lực. Giai đoạn ba là triển khai tại Trường THPT Thuận Hoá, thu thập dữ liệu và đánh giá năng lực kiểm chứng AI của học sinh."</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10/15 (30 giây)</a:t>
            </a:r>
          </a:p>
          <a:p/>
          <a:p>
            <a:r>
              <a:t>[Lời nói]</a:t>
            </a:r>
          </a:p>
          <a:p>
            <a:r>
              <a:t>"AInatomy có ba tính năng cốt lõi. Thứ nhất, Nhà máy AI — dây chuyền bốn tầng giúp học sinh quan sát toàn bộ quy trình AI từ thu thập dữ liệu đến đánh giá. Thứ hai, Đấu trường bắt lỗi — học sinh nhận đầu ra AI và phải kiểm tra, phát hiện lỗi. Hệ thống chấm điểm dựa trên khả năng nhận diện lỗi chính xác. Thứ ba, Bản đồ năng lực — dashboard hiển thị tiến độ và điểm mạnh yếu của từng học sinh theo năm năng lực AI cốt lõi."</a:t>
            </a:r>
          </a:p>
          <a:p/>
          <a:p>
            <a:r>
              <a:t>[Animation]</a:t>
            </a:r>
          </a:p>
          <a:p>
            <a:r>
              <a:t>- Click 1: Highlight "Nhà máy AI" — "Quan sát quy trình AI."</a:t>
            </a:r>
          </a:p>
          <a:p>
            <a:r>
              <a:t>- Click 2: Highlight "Đấu trường bắt lỗi" — "Kiểm tra và phát hiện lỗi."</a:t>
            </a:r>
          </a:p>
          <a:p>
            <a:r>
              <a:t>- Click 3: Highlight "Bản đồ năng lực" — "Theo dõi tiến độ học tập."</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11/15 (30 giây)</a:t>
            </a:r>
          </a:p>
          <a:p/>
          <a:p>
            <a:r>
              <a:t>[Lời nói]</a:t>
            </a:r>
          </a:p>
          <a:p>
            <a:r>
              <a:t>"Kết quả nghiên cứu cho thấy AInatomy đạt được các chỉ số quan trọng. Thứ nhất, 28 trên 28 yêu cầu cần đạt của chương trình Tin học 10 được đáp ứng. Thứ hai, 97 trên 97 kiểm thử tự động đều đạt — mọi bài học hoạt động đúng. Thứ ba, công cụ chạy 100 phần trăm offline, không cần internet hay tài khoản. Thứ tư, mô phỏng 3D bằng Three.js giúp trực quan hóa quy trình AI. Về tác động, học sinh phát triển năng lực kiểm chứng AI, hiểu được quy trình AI từ đầu đến cuối, tự tin sử dụng AI có trách nhiệm. Giáo viên có công cụ dạy AI hiệu quả mà không cần hạ tầng phức tạp."</a:t>
            </a:r>
          </a:p>
          <a:p/>
          <a:p>
            <a:r>
              <a:t>[Animation]</a:t>
            </a:r>
          </a:p>
          <a:p>
            <a:r>
              <a:t>- Click 1: Highlight "28/28" — "Bám sát chương trình."</a:t>
            </a:r>
          </a:p>
          <a:p>
            <a:r>
              <a:t>- Click 2: Highlight "97/97" — "Kiểm thử đạt."</a:t>
            </a:r>
          </a:p>
          <a:p>
            <a:r>
              <a:t>- Click 3: Highlight "100% OFFLINE" — "Không cần internet."</a:t>
            </a:r>
          </a:p>
          <a:p>
            <a:r>
              <a:t>- Click 4: Highlight "3D MÔ PHỎNG" — "Trực quan hóa AI."</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12/15 (25 giây)</a:t>
            </a:r>
          </a:p>
          <a:p/>
          <a:p>
            <a:r>
              <a:t>[Lời nói]</a:t>
            </a:r>
          </a:p>
          <a:p>
            <a:r>
              <a:t>"AInatomy có tính bền vững cao vì chạy offline, không phụ thuộc internet hay dịch vụ cloud, tương thích máy tính cấu hình thấp, và mã nguồn mở. Khả năng nhân rộng rất tốt vì mọi trường THPT đều có thể triển khai ngay, không cần đào tạo giáo viên phức tạp, dễ dàng tích hợp vào bài giảng hiện có. Tiềm năng phát triển bao gồm thêm bài học AI nâng cao, tích hợp với công cụ AI thực tế, xây dựng cộng đồng giáo viên, và nghiên cứu tác động dài hạn đến năng lực số học sinh."</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13/15 (25 giây)</a:t>
            </a:r>
          </a:p>
          <a:p/>
          <a:p>
            <a:r>
              <a:t>[Lời nói]</a:t>
            </a:r>
          </a:p>
          <a:p>
            <a:r>
              <a:t>"Kết luận, AInatomy đã được thiết kế và phát triển thành công, đáp ứng 28 trên 28 yêu cầu cần đạt của chương trình Tin học 10. Công cụ chạy hoàn toàn offline, phù hợp với điều kiện hạ tầng trường THPT Việt Nam. AInatomy giúp học sinh phát triển năng lực kiểm chứng AI qua việc quan sát quy trình, dự đoán đầu ra, phát hiện lỗi và đánh giá độ tin cậy. Kết quả kiểm thử 97 trên 97 bài học đạt yêu cầu, chứng minh tính khả thi của giải pháp. Hội đồng có thể trải nghiệm AInatomy tại đường link hiển thị trên màn hình."</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14/15 (20 giây)</a:t>
            </a:r>
          </a:p>
          <a:p/>
          <a:p>
            <a:r>
              <a:t>[Lời nói]</a:t>
            </a:r>
          </a:p>
          <a:p>
            <a:r>
              <a:t>"Tôi có bốn kiến nghị. Thứ nhất, Bộ Giáo dục nên khuyến khích các trường triển khai công cụ AI offline như AInatomy, đặc biệt ở vùng khó khăn. Thứ hai, trường THPT nên tích hợp AInatomy vào bài giảng Tin học 10 và tập huấn giáo viên. Thứ ba, giáo viên nên sử dụng AInatomy và khuyến khích học sinh质疑 AI thay vì tin tuyệt đối. Thứ tư, nghiên cứu tiếp theo nên mở rộng đánh giá tác động dài hạn và phát triển thêm bài học cho khối 11, 12."</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VIDEO 5 PHÚT — SLIDE 15/15 (15 giây)</a:t>
            </a:r>
          </a:p>
          <a:p/>
          <a:p>
            <a:r>
              <a:t>[Lời nói]</a:t>
            </a:r>
          </a:p>
          <a:p>
            <a:r>
              <a:t>"Đây là danh mục tài liệu tham khảo, bao gồm Chương trình giáo dục phổ thông 2018, Quyết định 2422 của Bộ Giáo dục, các nghiên cứu về giáo dục AI và năng lực kiểm chứng AI, và bài báo cáo về AInatomy. Xin cảm ơn Hội đồng đã lắng nghe. Tôi sẵn sàng trả lời câu hỏi."</a:t>
            </a:r>
          </a:p>
          <a:p/>
          <a:p>
            <a:r>
              <a:t>[Animation]</a:t>
            </a:r>
          </a:p>
          <a:p>
            <a:r>
              <a:t>- Không có highlight ở slide này.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457200" y="365760"/>
            <a:ext cx="822960" cy="822960"/>
          </a:xfrm>
          <a:prstGeom prst="rect">
            <a:avLst/>
          </a:prstGeom>
        </p:spPr>
      </p:pic>
      <p:pic>
        <p:nvPicPr>
          <p:cNvPr id="4" name="Picture 3" descr="logo_thpt_thuan_hoa.png"/>
          <p:cNvPicPr>
            <a:picLocks noChangeAspect="1"/>
          </p:cNvPicPr>
          <p:nvPr/>
        </p:nvPicPr>
        <p:blipFill>
          <a:blip r:embed="rId3"/>
          <a:stretch>
            <a:fillRect/>
          </a:stretch>
        </p:blipFill>
        <p:spPr>
          <a:xfrm>
            <a:off x="1463040" y="365760"/>
            <a:ext cx="822960" cy="822960"/>
          </a:xfrm>
          <a:prstGeom prst="rect">
            <a:avLst/>
          </a:prstGeom>
        </p:spPr>
      </p:pic>
      <p:sp>
        <p:nvSpPr>
          <p:cNvPr id="5" name="TextBox 4"/>
          <p:cNvSpPr txBox="1"/>
          <p:nvPr/>
        </p:nvSpPr>
        <p:spPr>
          <a:xfrm>
            <a:off x="2468880" y="365760"/>
            <a:ext cx="9144000" cy="320040"/>
          </a:xfrm>
          <a:prstGeom prst="rect">
            <a:avLst/>
          </a:prstGeom>
          <a:noFill/>
        </p:spPr>
        <p:txBody>
          <a:bodyPr wrap="none">
            <a:spAutoFit/>
          </a:bodyPr>
          <a:lstStyle/>
          <a:p>
            <a:pPr algn="ctr">
              <a:defRPr sz="1300" b="1">
                <a:solidFill>
                  <a:srgbClr val="18375B"/>
                </a:solidFill>
              </a:defRPr>
            </a:pPr>
            <a:r>
              <a:t>TRƯỜNG ĐẠI HỌC SƯ PHẠM, ĐẠI HỌC HUẾ — TRƯỜNG THPT THUẬN HOÁ</a:t>
            </a:r>
          </a:p>
        </p:txBody>
      </p:sp>
      <p:sp>
        <p:nvSpPr>
          <p:cNvPr id="6" name="TextBox 5"/>
          <p:cNvSpPr txBox="1"/>
          <p:nvPr/>
        </p:nvSpPr>
        <p:spPr>
          <a:xfrm>
            <a:off x="457200" y="1645920"/>
            <a:ext cx="11277295" cy="731520"/>
          </a:xfrm>
          <a:prstGeom prst="rect">
            <a:avLst/>
          </a:prstGeom>
          <a:noFill/>
        </p:spPr>
        <p:txBody>
          <a:bodyPr wrap="none">
            <a:spAutoFit/>
          </a:bodyPr>
          <a:lstStyle/>
          <a:p>
            <a:pPr algn="ctr">
              <a:defRPr sz="2800" b="1">
                <a:solidFill>
                  <a:srgbClr val="18375B"/>
                </a:solidFill>
              </a:defRPr>
            </a:pPr>
            <a:r>
              <a:t>THUYẾT MINH ĐỀ CƯƠNG</a:t>
            </a:r>
          </a:p>
        </p:txBody>
      </p:sp>
      <p:sp>
        <p:nvSpPr>
          <p:cNvPr id="7" name="TextBox 6"/>
          <p:cNvSpPr txBox="1"/>
          <p:nvPr/>
        </p:nvSpPr>
        <p:spPr>
          <a:xfrm>
            <a:off x="457200" y="2468880"/>
            <a:ext cx="11277295" cy="1097280"/>
          </a:xfrm>
          <a:prstGeom prst="rect">
            <a:avLst/>
          </a:prstGeom>
          <a:noFill/>
        </p:spPr>
        <p:txBody>
          <a:bodyPr wrap="none">
            <a:spAutoFit/>
          </a:bodyPr>
          <a:lstStyle/>
          <a:p>
            <a:pPr algn="ctr">
              <a:defRPr sz="2000" b="1">
                <a:solidFill>
                  <a:srgbClr val="2D3741"/>
                </a:solidFill>
              </a:defRPr>
            </a:pPr>
            <a:r>
              <a:t>XÂY DỰNG PHÒNG THÍ NGHIỆM AI OFFLINE (AINATOMY)</a:t>
            </a:r>
            <a:br/>
            <a:r>
              <a:t>NHẰM PHÁT TRIỂN NĂNG LỰC KIỂM CHỨNG AI CHO HỌC SINH THPT</a:t>
            </a:r>
            <a:br/>
            <a:r>
              <a:t>THEO CHƯƠNG TRÌNH GIÁO DỤC PHỔ THÔNG 2018</a:t>
            </a:r>
          </a:p>
        </p:txBody>
      </p:sp>
      <p:sp>
        <p:nvSpPr>
          <p:cNvPr id="8" name="Rectangle 7"/>
          <p:cNvSpPr/>
          <p:nvPr/>
        </p:nvSpPr>
        <p:spPr>
          <a:xfrm>
            <a:off x="3163824" y="3712463"/>
            <a:ext cx="5864047" cy="2267712"/>
          </a:xfrm>
          <a:prstGeom prst="rect">
            <a:avLst/>
          </a:prstGeom>
          <a:solidFill>
            <a:srgbClr val="F2F7FC"/>
          </a:solidFill>
          <a:ln w="1016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trang-chu.png"/>
          <p:cNvPicPr>
            <a:picLocks noChangeAspect="1"/>
          </p:cNvPicPr>
          <p:nvPr/>
        </p:nvPicPr>
        <p:blipFill>
          <a:blip r:embed="rId4"/>
          <a:stretch>
            <a:fillRect/>
          </a:stretch>
        </p:blipFill>
        <p:spPr>
          <a:xfrm>
            <a:off x="4535271" y="3749039"/>
            <a:ext cx="3121152" cy="2194560"/>
          </a:xfrm>
          <a:prstGeom prst="rect">
            <a:avLst/>
          </a:prstGeom>
        </p:spPr>
      </p:pic>
      <p:sp>
        <p:nvSpPr>
          <p:cNvPr id="10" name="TextBox 9"/>
          <p:cNvSpPr txBox="1"/>
          <p:nvPr/>
        </p:nvSpPr>
        <p:spPr>
          <a:xfrm>
            <a:off x="457200" y="6126480"/>
            <a:ext cx="11277295" cy="274320"/>
          </a:xfrm>
          <a:prstGeom prst="rect">
            <a:avLst/>
          </a:prstGeom>
          <a:noFill/>
        </p:spPr>
        <p:txBody>
          <a:bodyPr wrap="none">
            <a:spAutoFit/>
          </a:bodyPr>
          <a:lstStyle/>
          <a:p>
            <a:pPr algn="ctr">
              <a:defRPr sz="1100">
                <a:solidFill>
                  <a:srgbClr val="646E78"/>
                </a:solidFill>
              </a:defRPr>
            </a:pPr>
            <a:r>
              <a:t>GV thực hiện: Mai Xuân Văn    |    Năm học: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MỤC LỤC</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2</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CẤU TRÚC BÁO CÁO</a:t>
            </a:r>
          </a:p>
        </p:txBody>
      </p:sp>
      <p:sp>
        <p:nvSpPr>
          <p:cNvPr id="12" name="Rectangle 11"/>
          <p:cNvSpPr/>
          <p:nvPr/>
        </p:nvSpPr>
        <p:spPr>
          <a:xfrm>
            <a:off x="640080" y="1828800"/>
            <a:ext cx="10911535" cy="128016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965960"/>
            <a:ext cx="1828800" cy="274320"/>
          </a:xfrm>
          <a:prstGeom prst="rect">
            <a:avLst/>
          </a:prstGeom>
          <a:noFill/>
        </p:spPr>
        <p:txBody>
          <a:bodyPr wrap="none">
            <a:spAutoFit/>
          </a:bodyPr>
          <a:lstStyle/>
          <a:p>
            <a:pPr>
              <a:defRPr sz="1200" b="1">
                <a:solidFill>
                  <a:srgbClr val="0066CC"/>
                </a:solidFill>
              </a:defRPr>
            </a:pPr>
            <a:r>
              <a:t>PHẦN I</a:t>
            </a:r>
          </a:p>
        </p:txBody>
      </p:sp>
      <p:sp>
        <p:nvSpPr>
          <p:cNvPr id="14" name="TextBox 13"/>
          <p:cNvSpPr txBox="1"/>
          <p:nvPr/>
        </p:nvSpPr>
        <p:spPr>
          <a:xfrm>
            <a:off x="822960" y="2240280"/>
            <a:ext cx="10515600" cy="320040"/>
          </a:xfrm>
          <a:prstGeom prst="rect">
            <a:avLst/>
          </a:prstGeom>
          <a:noFill/>
        </p:spPr>
        <p:txBody>
          <a:bodyPr wrap="none">
            <a:spAutoFit/>
          </a:bodyPr>
          <a:lstStyle/>
          <a:p>
            <a:pPr>
              <a:defRPr sz="1800" b="1">
                <a:solidFill>
                  <a:srgbClr val="18375B"/>
                </a:solidFill>
              </a:defRPr>
            </a:pPr>
            <a:r>
              <a:t>MỞ ĐẦU</a:t>
            </a:r>
          </a:p>
        </p:txBody>
      </p:sp>
      <p:sp>
        <p:nvSpPr>
          <p:cNvPr id="15" name="TextBox 14"/>
          <p:cNvSpPr txBox="1"/>
          <p:nvPr/>
        </p:nvSpPr>
        <p:spPr>
          <a:xfrm>
            <a:off x="822960" y="2606040"/>
            <a:ext cx="10515600" cy="365760"/>
          </a:xfrm>
          <a:prstGeom prst="rect">
            <a:avLst/>
          </a:prstGeom>
          <a:noFill/>
        </p:spPr>
        <p:txBody>
          <a:bodyPr wrap="none">
            <a:spAutoFit/>
          </a:bodyPr>
          <a:lstStyle/>
          <a:p>
            <a:pPr>
              <a:defRPr sz="1100">
                <a:solidFill>
                  <a:srgbClr val="646E78"/>
                </a:solidFill>
              </a:defRPr>
            </a:pPr>
            <a:r>
              <a:t>Lý do chọn đề tài, mục tiêu, đối tượng, phạm vi, phương pháp</a:t>
            </a:r>
          </a:p>
        </p:txBody>
      </p:sp>
      <p:sp>
        <p:nvSpPr>
          <p:cNvPr id="16" name="Rectangle 15"/>
          <p:cNvSpPr/>
          <p:nvPr/>
        </p:nvSpPr>
        <p:spPr>
          <a:xfrm>
            <a:off x="640080" y="3291840"/>
            <a:ext cx="10911535" cy="128016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429000"/>
            <a:ext cx="1828800" cy="274320"/>
          </a:xfrm>
          <a:prstGeom prst="rect">
            <a:avLst/>
          </a:prstGeom>
          <a:noFill/>
        </p:spPr>
        <p:txBody>
          <a:bodyPr wrap="none">
            <a:spAutoFit/>
          </a:bodyPr>
          <a:lstStyle/>
          <a:p>
            <a:pPr>
              <a:defRPr sz="1200" b="1">
                <a:solidFill>
                  <a:srgbClr val="0066CC"/>
                </a:solidFill>
              </a:defRPr>
            </a:pPr>
            <a:r>
              <a:t>PHẦN II</a:t>
            </a:r>
          </a:p>
        </p:txBody>
      </p:sp>
      <p:sp>
        <p:nvSpPr>
          <p:cNvPr id="18" name="TextBox 17"/>
          <p:cNvSpPr txBox="1"/>
          <p:nvPr/>
        </p:nvSpPr>
        <p:spPr>
          <a:xfrm>
            <a:off x="822960" y="3703320"/>
            <a:ext cx="10515600" cy="320040"/>
          </a:xfrm>
          <a:prstGeom prst="rect">
            <a:avLst/>
          </a:prstGeom>
          <a:noFill/>
        </p:spPr>
        <p:txBody>
          <a:bodyPr wrap="none">
            <a:spAutoFit/>
          </a:bodyPr>
          <a:lstStyle/>
          <a:p>
            <a:pPr>
              <a:defRPr sz="1800" b="1">
                <a:solidFill>
                  <a:srgbClr val="18375B"/>
                </a:solidFill>
              </a:defRPr>
            </a:pPr>
            <a:r>
              <a:t>NỘI DUNG NGHIÊN CỨU</a:t>
            </a:r>
          </a:p>
        </p:txBody>
      </p:sp>
      <p:sp>
        <p:nvSpPr>
          <p:cNvPr id="19" name="TextBox 18"/>
          <p:cNvSpPr txBox="1"/>
          <p:nvPr/>
        </p:nvSpPr>
        <p:spPr>
          <a:xfrm>
            <a:off x="822960" y="4069080"/>
            <a:ext cx="10515600" cy="365760"/>
          </a:xfrm>
          <a:prstGeom prst="rect">
            <a:avLst/>
          </a:prstGeom>
          <a:noFill/>
        </p:spPr>
        <p:txBody>
          <a:bodyPr wrap="none">
            <a:spAutoFit/>
          </a:bodyPr>
          <a:lstStyle/>
          <a:p>
            <a:pPr>
              <a:defRPr sz="1100">
                <a:solidFill>
                  <a:srgbClr val="646E78"/>
                </a:solidFill>
              </a:defRPr>
            </a:pPr>
            <a:r>
              <a:t>Bối cảnh, giải pháp, triển khai, kết quả, bền vững</a:t>
            </a:r>
          </a:p>
        </p:txBody>
      </p:sp>
      <p:sp>
        <p:nvSpPr>
          <p:cNvPr id="20" name="Rectangle 19"/>
          <p:cNvSpPr/>
          <p:nvPr/>
        </p:nvSpPr>
        <p:spPr>
          <a:xfrm>
            <a:off x="640080" y="4754880"/>
            <a:ext cx="10911535" cy="128016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892040"/>
            <a:ext cx="1828800" cy="274320"/>
          </a:xfrm>
          <a:prstGeom prst="rect">
            <a:avLst/>
          </a:prstGeom>
          <a:noFill/>
        </p:spPr>
        <p:txBody>
          <a:bodyPr wrap="none">
            <a:spAutoFit/>
          </a:bodyPr>
          <a:lstStyle/>
          <a:p>
            <a:pPr>
              <a:defRPr sz="1200" b="1">
                <a:solidFill>
                  <a:srgbClr val="0066CC"/>
                </a:solidFill>
              </a:defRPr>
            </a:pPr>
            <a:r>
              <a:t>PHẦN III</a:t>
            </a:r>
          </a:p>
        </p:txBody>
      </p:sp>
      <p:sp>
        <p:nvSpPr>
          <p:cNvPr id="22" name="TextBox 21"/>
          <p:cNvSpPr txBox="1"/>
          <p:nvPr/>
        </p:nvSpPr>
        <p:spPr>
          <a:xfrm>
            <a:off x="822960" y="5166360"/>
            <a:ext cx="10515600" cy="320040"/>
          </a:xfrm>
          <a:prstGeom prst="rect">
            <a:avLst/>
          </a:prstGeom>
          <a:noFill/>
        </p:spPr>
        <p:txBody>
          <a:bodyPr wrap="none">
            <a:spAutoFit/>
          </a:bodyPr>
          <a:lstStyle/>
          <a:p>
            <a:pPr>
              <a:defRPr sz="1800" b="1">
                <a:solidFill>
                  <a:srgbClr val="18375B"/>
                </a:solidFill>
              </a:defRPr>
            </a:pPr>
            <a:r>
              <a:t>KẾT LUẬN</a:t>
            </a:r>
          </a:p>
        </p:txBody>
      </p:sp>
      <p:sp>
        <p:nvSpPr>
          <p:cNvPr id="23" name="TextBox 22"/>
          <p:cNvSpPr txBox="1"/>
          <p:nvPr/>
        </p:nvSpPr>
        <p:spPr>
          <a:xfrm>
            <a:off x="822960" y="5532120"/>
            <a:ext cx="10515600" cy="365760"/>
          </a:xfrm>
          <a:prstGeom prst="rect">
            <a:avLst/>
          </a:prstGeom>
          <a:noFill/>
        </p:spPr>
        <p:txBody>
          <a:bodyPr wrap="none">
            <a:spAutoFit/>
          </a:bodyPr>
          <a:lstStyle/>
          <a:p>
            <a:pPr>
              <a:defRPr sz="1100">
                <a:solidFill>
                  <a:srgbClr val="646E78"/>
                </a:solidFill>
              </a:defRPr>
            </a:pPr>
            <a:r>
              <a:t>Kết luận, kiến nghị, tài liệu tham khảo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 · MỞ ĐẦU</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3</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LÝ DO CHỌN ĐỀ TÀI</a:t>
            </a:r>
          </a:p>
        </p:txBody>
      </p:sp>
      <p:sp>
        <p:nvSpPr>
          <p:cNvPr id="12" name="Oval 11"/>
          <p:cNvSpPr/>
          <p:nvPr/>
        </p:nvSpPr>
        <p:spPr>
          <a:xfrm>
            <a:off x="640080" y="1828800"/>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13" name="TextBox 12"/>
          <p:cNvSpPr txBox="1"/>
          <p:nvPr/>
        </p:nvSpPr>
        <p:spPr>
          <a:xfrm>
            <a:off x="1280160" y="1783080"/>
            <a:ext cx="10332720" cy="320040"/>
          </a:xfrm>
          <a:prstGeom prst="rect">
            <a:avLst/>
          </a:prstGeom>
          <a:noFill/>
        </p:spPr>
        <p:txBody>
          <a:bodyPr wrap="none">
            <a:spAutoFit/>
          </a:bodyPr>
          <a:lstStyle/>
          <a:p>
            <a:pPr>
              <a:defRPr sz="1500" b="1">
                <a:solidFill>
                  <a:srgbClr val="18375B"/>
                </a:solidFill>
              </a:defRPr>
            </a:pPr>
            <a:r>
              <a:t>Chính sách giáo dục</a:t>
            </a:r>
          </a:p>
        </p:txBody>
      </p:sp>
      <p:sp>
        <p:nvSpPr>
          <p:cNvPr id="14" name="TextBox 13"/>
          <p:cNvSpPr txBox="1"/>
          <p:nvPr/>
        </p:nvSpPr>
        <p:spPr>
          <a:xfrm>
            <a:off x="1280160" y="2103120"/>
            <a:ext cx="10332720" cy="640080"/>
          </a:xfrm>
          <a:prstGeom prst="rect">
            <a:avLst/>
          </a:prstGeom>
          <a:noFill/>
        </p:spPr>
        <p:txBody>
          <a:bodyPr wrap="none">
            <a:spAutoFit/>
          </a:bodyPr>
          <a:lstStyle/>
          <a:p>
            <a:pPr>
              <a:defRPr sz="1100">
                <a:solidFill>
                  <a:srgbClr val="2D3741"/>
                </a:solidFill>
              </a:defRPr>
            </a:pPr>
            <a:r>
              <a:t>Quyết định 2422/QĐ-BGDĐT (2024) đưa giáo dục AI vào chương trình phổ thông, yêu cầu mỗi trường THPT dành 12 tiết/năm cho chủ đề AI.</a:t>
            </a:r>
          </a:p>
        </p:txBody>
      </p:sp>
      <p:sp>
        <p:nvSpPr>
          <p:cNvPr id="15" name="Oval 14"/>
          <p:cNvSpPr/>
          <p:nvPr/>
        </p:nvSpPr>
        <p:spPr>
          <a:xfrm>
            <a:off x="640080" y="2971800"/>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6" name="TextBox 15"/>
          <p:cNvSpPr txBox="1"/>
          <p:nvPr/>
        </p:nvSpPr>
        <p:spPr>
          <a:xfrm>
            <a:off x="1280160" y="2926079"/>
            <a:ext cx="10332720" cy="320040"/>
          </a:xfrm>
          <a:prstGeom prst="rect">
            <a:avLst/>
          </a:prstGeom>
          <a:noFill/>
        </p:spPr>
        <p:txBody>
          <a:bodyPr wrap="none">
            <a:spAutoFit/>
          </a:bodyPr>
          <a:lstStyle/>
          <a:p>
            <a:pPr>
              <a:defRPr sz="1500" b="1">
                <a:solidFill>
                  <a:srgbClr val="18375B"/>
                </a:solidFill>
              </a:defRPr>
            </a:pPr>
            <a:r>
              <a:t>Thách thức hạ tầng</a:t>
            </a:r>
          </a:p>
        </p:txBody>
      </p:sp>
      <p:sp>
        <p:nvSpPr>
          <p:cNvPr id="17" name="TextBox 16"/>
          <p:cNvSpPr txBox="1"/>
          <p:nvPr/>
        </p:nvSpPr>
        <p:spPr>
          <a:xfrm>
            <a:off x="1280160" y="3246120"/>
            <a:ext cx="10332720" cy="640080"/>
          </a:xfrm>
          <a:prstGeom prst="rect">
            <a:avLst/>
          </a:prstGeom>
          <a:noFill/>
        </p:spPr>
        <p:txBody>
          <a:bodyPr wrap="none">
            <a:spAutoFit/>
          </a:bodyPr>
          <a:lstStyle/>
          <a:p>
            <a:pPr>
              <a:defRPr sz="1100">
                <a:solidFill>
                  <a:srgbClr val="2D3741"/>
                </a:solidFill>
              </a:defRPr>
            </a:pPr>
            <a:r>
              <a:t>Nhiều trường THPT vùng khó khăn thiếu phòng máy mạnh, internet không ổn định, không thể triển khai các nền tảng AI cloud.</a:t>
            </a:r>
          </a:p>
        </p:txBody>
      </p:sp>
      <p:sp>
        <p:nvSpPr>
          <p:cNvPr id="18" name="Oval 17"/>
          <p:cNvSpPr/>
          <p:nvPr/>
        </p:nvSpPr>
        <p:spPr>
          <a:xfrm>
            <a:off x="640080" y="4114800"/>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9" name="TextBox 18"/>
          <p:cNvSpPr txBox="1"/>
          <p:nvPr/>
        </p:nvSpPr>
        <p:spPr>
          <a:xfrm>
            <a:off x="1280160" y="4069080"/>
            <a:ext cx="10332720" cy="320040"/>
          </a:xfrm>
          <a:prstGeom prst="rect">
            <a:avLst/>
          </a:prstGeom>
          <a:noFill/>
        </p:spPr>
        <p:txBody>
          <a:bodyPr wrap="none">
            <a:spAutoFit/>
          </a:bodyPr>
          <a:lstStyle/>
          <a:p>
            <a:pPr>
              <a:defRPr sz="1500" b="1">
                <a:solidFill>
                  <a:srgbClr val="18375B"/>
                </a:solidFill>
              </a:defRPr>
            </a:pPr>
            <a:r>
              <a:t>Khoảng trống năng lực</a:t>
            </a:r>
          </a:p>
        </p:txBody>
      </p:sp>
      <p:sp>
        <p:nvSpPr>
          <p:cNvPr id="20" name="TextBox 19"/>
          <p:cNvSpPr txBox="1"/>
          <p:nvPr/>
        </p:nvSpPr>
        <p:spPr>
          <a:xfrm>
            <a:off x="1280160" y="4389120"/>
            <a:ext cx="10332720" cy="640080"/>
          </a:xfrm>
          <a:prstGeom prst="rect">
            <a:avLst/>
          </a:prstGeom>
          <a:noFill/>
        </p:spPr>
        <p:txBody>
          <a:bodyPr wrap="none">
            <a:spAutoFit/>
          </a:bodyPr>
          <a:lstStyle/>
          <a:p>
            <a:pPr>
              <a:defRPr sz="1100">
                <a:solidFill>
                  <a:srgbClr val="2D3741"/>
                </a:solidFill>
              </a:defRPr>
            </a:pPr>
            <a:r>
              <a:t>Học sinh dễ dàng sử dụng AI nhưng thiếu kỹ năng kiểm chứng, đánh giá độ tin cậy của đầu ra AI — năng lực cốt lõi trong kỷ nguyên AI.</a:t>
            </a:r>
          </a:p>
        </p:txBody>
      </p:sp>
      <p:sp>
        <p:nvSpPr>
          <p:cNvPr id="21" name="Oval 20"/>
          <p:cNvSpPr/>
          <p:nvPr/>
        </p:nvSpPr>
        <p:spPr>
          <a:xfrm>
            <a:off x="640080" y="5257800"/>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22" name="TextBox 21"/>
          <p:cNvSpPr txBox="1"/>
          <p:nvPr/>
        </p:nvSpPr>
        <p:spPr>
          <a:xfrm>
            <a:off x="1280160" y="5212080"/>
            <a:ext cx="10332720" cy="320040"/>
          </a:xfrm>
          <a:prstGeom prst="rect">
            <a:avLst/>
          </a:prstGeom>
          <a:noFill/>
        </p:spPr>
        <p:txBody>
          <a:bodyPr wrap="none">
            <a:spAutoFit/>
          </a:bodyPr>
          <a:lstStyle/>
          <a:p>
            <a:pPr>
              <a:defRPr sz="1500" b="1">
                <a:solidFill>
                  <a:srgbClr val="18375B"/>
                </a:solidFill>
              </a:defRPr>
            </a:pPr>
            <a:r>
              <a:t>Nhu cầu công cụ offline</a:t>
            </a:r>
          </a:p>
        </p:txBody>
      </p:sp>
      <p:sp>
        <p:nvSpPr>
          <p:cNvPr id="23" name="TextBox 22"/>
          <p:cNvSpPr txBox="1"/>
          <p:nvPr/>
        </p:nvSpPr>
        <p:spPr>
          <a:xfrm>
            <a:off x="1280160" y="5532120"/>
            <a:ext cx="10332720" cy="640080"/>
          </a:xfrm>
          <a:prstGeom prst="rect">
            <a:avLst/>
          </a:prstGeom>
          <a:noFill/>
        </p:spPr>
        <p:txBody>
          <a:bodyPr wrap="none">
            <a:spAutoFit/>
          </a:bodyPr>
          <a:lstStyle/>
          <a:p>
            <a:pPr>
              <a:defRPr sz="1100">
                <a:solidFill>
                  <a:srgbClr val="2D3741"/>
                </a:solidFill>
              </a:defRPr>
            </a:pPr>
            <a:r>
              <a:t>Cần một công cụ chạy được trên máy tính cũ, không cần internet, không cần tài khoản, để mọi học sinh đều có thể tiếp cận.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 · MỞ ĐẦU</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4</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MỤC TIÊU NGHIÊN CỨU</a:t>
            </a:r>
          </a:p>
        </p:txBody>
      </p:sp>
      <p:sp>
        <p:nvSpPr>
          <p:cNvPr id="12" name="Rectangle 11"/>
          <p:cNvSpPr/>
          <p:nvPr/>
        </p:nvSpPr>
        <p:spPr>
          <a:xfrm>
            <a:off x="640080" y="1737360"/>
            <a:ext cx="10911535" cy="1097280"/>
          </a:xfrm>
          <a:prstGeom prst="rect">
            <a:avLst/>
          </a:prstGeom>
          <a:solidFill>
            <a:srgbClr val="F2F7FC"/>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828800"/>
            <a:ext cx="10515600" cy="274320"/>
          </a:xfrm>
          <a:prstGeom prst="rect">
            <a:avLst/>
          </a:prstGeom>
          <a:noFill/>
        </p:spPr>
        <p:txBody>
          <a:bodyPr wrap="none">
            <a:spAutoFit/>
          </a:bodyPr>
          <a:lstStyle/>
          <a:p>
            <a:pPr>
              <a:defRPr sz="1300" b="1">
                <a:solidFill>
                  <a:srgbClr val="0066CC"/>
                </a:solidFill>
              </a:defRPr>
            </a:pPr>
            <a:r>
              <a:t>MỤC TIÊU TỔNG QUÁT</a:t>
            </a:r>
          </a:p>
        </p:txBody>
      </p:sp>
      <p:sp>
        <p:nvSpPr>
          <p:cNvPr id="14" name="TextBox 13"/>
          <p:cNvSpPr txBox="1"/>
          <p:nvPr/>
        </p:nvSpPr>
        <p:spPr>
          <a:xfrm>
            <a:off x="822960" y="2148840"/>
            <a:ext cx="10515600" cy="548640"/>
          </a:xfrm>
          <a:prstGeom prst="rect">
            <a:avLst/>
          </a:prstGeom>
          <a:noFill/>
        </p:spPr>
        <p:txBody>
          <a:bodyPr wrap="none">
            <a:spAutoFit/>
          </a:bodyPr>
          <a:lstStyle/>
          <a:p>
            <a:pPr>
              <a:defRPr sz="1300">
                <a:solidFill>
                  <a:srgbClr val="2D3741"/>
                </a:solidFill>
              </a:defRPr>
            </a:pPr>
            <a:r>
              <a:t>Xây dựng phòng thí nghiệm AI offline (AInatomy) giúp học sinh THPT phát triển năng lực kiểm chứng AI, đáp ứng yêu cầu của Chương trình giáo dục phổ thông 2018 và Quyết định 2422/QĐ-BGDĐT.</a:t>
            </a:r>
          </a:p>
        </p:txBody>
      </p:sp>
      <p:sp>
        <p:nvSpPr>
          <p:cNvPr id="15" name="Rectangle 14"/>
          <p:cNvSpPr/>
          <p:nvPr/>
        </p:nvSpPr>
        <p:spPr>
          <a:xfrm>
            <a:off x="640080" y="3108960"/>
            <a:ext cx="10911535" cy="914400"/>
          </a:xfrm>
          <a:prstGeom prst="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200400"/>
            <a:ext cx="10515600" cy="274320"/>
          </a:xfrm>
          <a:prstGeom prst="rect">
            <a:avLst/>
          </a:prstGeom>
          <a:noFill/>
        </p:spPr>
        <p:txBody>
          <a:bodyPr wrap="none">
            <a:spAutoFit/>
          </a:bodyPr>
          <a:lstStyle/>
          <a:p>
            <a:pPr>
              <a:defRPr sz="1300" b="1">
                <a:solidFill>
                  <a:srgbClr val="18375B"/>
                </a:solidFill>
              </a:defRPr>
            </a:pPr>
            <a:r>
              <a:t>Mục tiêu 1</a:t>
            </a:r>
          </a:p>
        </p:txBody>
      </p:sp>
      <p:sp>
        <p:nvSpPr>
          <p:cNvPr id="17" name="TextBox 16"/>
          <p:cNvSpPr txBox="1"/>
          <p:nvPr/>
        </p:nvSpPr>
        <p:spPr>
          <a:xfrm>
            <a:off x="822960" y="3474720"/>
            <a:ext cx="10515600" cy="457200"/>
          </a:xfrm>
          <a:prstGeom prst="rect">
            <a:avLst/>
          </a:prstGeom>
          <a:noFill/>
        </p:spPr>
        <p:txBody>
          <a:bodyPr wrap="none">
            <a:spAutoFit/>
          </a:bodyPr>
          <a:lstStyle/>
          <a:p>
            <a:pPr>
              <a:defRPr sz="1100">
                <a:solidFill>
                  <a:srgbClr val="2D3741"/>
                </a:solidFill>
              </a:defRPr>
            </a:pPr>
            <a:r>
              <a:t>Thiết kế và phát triển công cụ AInatomy chạy offline, không cần tài khoản, tương thích với máy tính cấu hình thấp.</a:t>
            </a:r>
          </a:p>
        </p:txBody>
      </p:sp>
      <p:sp>
        <p:nvSpPr>
          <p:cNvPr id="18" name="Rectangle 17"/>
          <p:cNvSpPr/>
          <p:nvPr/>
        </p:nvSpPr>
        <p:spPr>
          <a:xfrm>
            <a:off x="640080" y="4206240"/>
            <a:ext cx="10911535" cy="914400"/>
          </a:xfrm>
          <a:prstGeom prst="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97679"/>
            <a:ext cx="10515600" cy="274320"/>
          </a:xfrm>
          <a:prstGeom prst="rect">
            <a:avLst/>
          </a:prstGeom>
          <a:noFill/>
        </p:spPr>
        <p:txBody>
          <a:bodyPr wrap="none">
            <a:spAutoFit/>
          </a:bodyPr>
          <a:lstStyle/>
          <a:p>
            <a:pPr>
              <a:defRPr sz="1300" b="1">
                <a:solidFill>
                  <a:srgbClr val="18375B"/>
                </a:solidFill>
              </a:defRPr>
            </a:pPr>
            <a:r>
              <a:t>Mục tiêu 2</a:t>
            </a:r>
          </a:p>
        </p:txBody>
      </p:sp>
      <p:sp>
        <p:nvSpPr>
          <p:cNvPr id="20" name="TextBox 19"/>
          <p:cNvSpPr txBox="1"/>
          <p:nvPr/>
        </p:nvSpPr>
        <p:spPr>
          <a:xfrm>
            <a:off x="822960" y="4572000"/>
            <a:ext cx="10515600" cy="457200"/>
          </a:xfrm>
          <a:prstGeom prst="rect">
            <a:avLst/>
          </a:prstGeom>
          <a:noFill/>
        </p:spPr>
        <p:txBody>
          <a:bodyPr wrap="none">
            <a:spAutoFit/>
          </a:bodyPr>
          <a:lstStyle/>
          <a:p>
            <a:pPr>
              <a:defRPr sz="1100">
                <a:solidFill>
                  <a:srgbClr val="2D3741"/>
                </a:solidFill>
              </a:defRPr>
            </a:pPr>
            <a:r>
              <a:t>Xây dựng 28 hoạt động học tập bám sát 22 yêu cầu cần đạt của chương trình Tin học 10, chủ đề AI.</a:t>
            </a:r>
          </a:p>
        </p:txBody>
      </p:sp>
      <p:sp>
        <p:nvSpPr>
          <p:cNvPr id="21" name="Rectangle 20"/>
          <p:cNvSpPr/>
          <p:nvPr/>
        </p:nvSpPr>
        <p:spPr>
          <a:xfrm>
            <a:off x="640080" y="5303520"/>
            <a:ext cx="10911535" cy="914400"/>
          </a:xfrm>
          <a:prstGeom prst="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394959"/>
            <a:ext cx="10515600" cy="274320"/>
          </a:xfrm>
          <a:prstGeom prst="rect">
            <a:avLst/>
          </a:prstGeom>
          <a:noFill/>
        </p:spPr>
        <p:txBody>
          <a:bodyPr wrap="none">
            <a:spAutoFit/>
          </a:bodyPr>
          <a:lstStyle/>
          <a:p>
            <a:pPr>
              <a:defRPr sz="1300" b="1">
                <a:solidFill>
                  <a:srgbClr val="18375B"/>
                </a:solidFill>
              </a:defRPr>
            </a:pPr>
            <a:r>
              <a:t>Mục tiêu 3</a:t>
            </a:r>
          </a:p>
        </p:txBody>
      </p:sp>
      <p:sp>
        <p:nvSpPr>
          <p:cNvPr id="23" name="TextBox 22"/>
          <p:cNvSpPr txBox="1"/>
          <p:nvPr/>
        </p:nvSpPr>
        <p:spPr>
          <a:xfrm>
            <a:off x="822960" y="5669280"/>
            <a:ext cx="10515600" cy="457200"/>
          </a:xfrm>
          <a:prstGeom prst="rect">
            <a:avLst/>
          </a:prstGeom>
          <a:noFill/>
        </p:spPr>
        <p:txBody>
          <a:bodyPr wrap="none">
            <a:spAutoFit/>
          </a:bodyPr>
          <a:lstStyle/>
          <a:p>
            <a:pPr>
              <a:defRPr sz="1100">
                <a:solidFill>
                  <a:srgbClr val="2D3741"/>
                </a:solidFill>
              </a:defRPr>
            </a:pPr>
            <a:r>
              <a:t>Đánh giá hiệu quả của AInatomy trong việc phát triển năng lực kiểm chứng AI cho học sinh THPT.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 · MỞ ĐẦU</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5</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ĐỐI TƯỢNG &amp; PHẠM VI NGHIÊN CỨU</a:t>
            </a:r>
          </a:p>
        </p:txBody>
      </p:sp>
      <p:sp>
        <p:nvSpPr>
          <p:cNvPr id="12" name="Rectangle 11"/>
          <p:cNvSpPr/>
          <p:nvPr/>
        </p:nvSpPr>
        <p:spPr>
          <a:xfrm>
            <a:off x="640080" y="1737360"/>
            <a:ext cx="5303520" cy="228600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828800"/>
            <a:ext cx="4937760" cy="274320"/>
          </a:xfrm>
          <a:prstGeom prst="rect">
            <a:avLst/>
          </a:prstGeom>
          <a:noFill/>
        </p:spPr>
        <p:txBody>
          <a:bodyPr wrap="none">
            <a:spAutoFit/>
          </a:bodyPr>
          <a:lstStyle/>
          <a:p>
            <a:pPr>
              <a:defRPr sz="1400" b="1">
                <a:solidFill>
                  <a:srgbClr val="18375B"/>
                </a:solidFill>
              </a:defRPr>
            </a:pPr>
            <a:r>
              <a:t>ĐỐI TƯỢNG NGHIÊN CỨU</a:t>
            </a:r>
          </a:p>
        </p:txBody>
      </p:sp>
      <p:sp>
        <p:nvSpPr>
          <p:cNvPr id="14" name="TextBox 13"/>
          <p:cNvSpPr txBox="1"/>
          <p:nvPr/>
        </p:nvSpPr>
        <p:spPr>
          <a:xfrm>
            <a:off x="822960" y="2194560"/>
            <a:ext cx="4937760" cy="365760"/>
          </a:xfrm>
          <a:prstGeom prst="rect">
            <a:avLst/>
          </a:prstGeom>
          <a:noFill/>
        </p:spPr>
        <p:txBody>
          <a:bodyPr wrap="none">
            <a:spAutoFit/>
          </a:bodyPr>
          <a:lstStyle/>
          <a:p>
            <a:pPr>
              <a:defRPr sz="1100">
                <a:solidFill>
                  <a:srgbClr val="2D3741"/>
                </a:solidFill>
              </a:defRPr>
            </a:pPr>
            <a:r>
              <a:t>• Công cụ AInatomy (phòng thí nghiệm AI offline)</a:t>
            </a:r>
          </a:p>
        </p:txBody>
      </p:sp>
      <p:sp>
        <p:nvSpPr>
          <p:cNvPr id="15" name="TextBox 14"/>
          <p:cNvSpPr txBox="1"/>
          <p:nvPr/>
        </p:nvSpPr>
        <p:spPr>
          <a:xfrm>
            <a:off x="822960" y="2606040"/>
            <a:ext cx="4937760" cy="365760"/>
          </a:xfrm>
          <a:prstGeom prst="rect">
            <a:avLst/>
          </a:prstGeom>
          <a:noFill/>
        </p:spPr>
        <p:txBody>
          <a:bodyPr wrap="none">
            <a:spAutoFit/>
          </a:bodyPr>
          <a:lstStyle/>
          <a:p>
            <a:pPr>
              <a:defRPr sz="1100">
                <a:solidFill>
                  <a:srgbClr val="2D3741"/>
                </a:solidFill>
              </a:defRPr>
            </a:pPr>
            <a:r>
              <a:t>• Học sinh THPT (đặc biệt lớp 10)</a:t>
            </a:r>
          </a:p>
        </p:txBody>
      </p:sp>
      <p:sp>
        <p:nvSpPr>
          <p:cNvPr id="16" name="TextBox 15"/>
          <p:cNvSpPr txBox="1"/>
          <p:nvPr/>
        </p:nvSpPr>
        <p:spPr>
          <a:xfrm>
            <a:off x="822960" y="3017520"/>
            <a:ext cx="4937760" cy="365760"/>
          </a:xfrm>
          <a:prstGeom prst="rect">
            <a:avLst/>
          </a:prstGeom>
          <a:noFill/>
        </p:spPr>
        <p:txBody>
          <a:bodyPr wrap="none">
            <a:spAutoFit/>
          </a:bodyPr>
          <a:lstStyle/>
          <a:p>
            <a:pPr>
              <a:defRPr sz="1100">
                <a:solidFill>
                  <a:srgbClr val="2D3741"/>
                </a:solidFill>
              </a:defRPr>
            </a:pPr>
            <a:r>
              <a:t>• Giáo viên Tin học THPT</a:t>
            </a:r>
          </a:p>
        </p:txBody>
      </p:sp>
      <p:sp>
        <p:nvSpPr>
          <p:cNvPr id="17" name="TextBox 16"/>
          <p:cNvSpPr txBox="1"/>
          <p:nvPr/>
        </p:nvSpPr>
        <p:spPr>
          <a:xfrm>
            <a:off x="822960" y="3429000"/>
            <a:ext cx="4937760" cy="365760"/>
          </a:xfrm>
          <a:prstGeom prst="rect">
            <a:avLst/>
          </a:prstGeom>
          <a:noFill/>
        </p:spPr>
        <p:txBody>
          <a:bodyPr wrap="none">
            <a:spAutoFit/>
          </a:bodyPr>
          <a:lstStyle/>
          <a:p>
            <a:pPr>
              <a:defRPr sz="1100">
                <a:solidFill>
                  <a:srgbClr val="2D3741"/>
                </a:solidFill>
              </a:defRPr>
            </a:pPr>
            <a:r>
              <a:t>• Chương trình giáo dục phổ thông 2018, môn Tin học 10</a:t>
            </a:r>
          </a:p>
        </p:txBody>
      </p:sp>
      <p:sp>
        <p:nvSpPr>
          <p:cNvPr id="18" name="Rectangle 17"/>
          <p:cNvSpPr/>
          <p:nvPr/>
        </p:nvSpPr>
        <p:spPr>
          <a:xfrm>
            <a:off x="6217920" y="1737360"/>
            <a:ext cx="5303520" cy="228600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828800"/>
            <a:ext cx="4937760" cy="274320"/>
          </a:xfrm>
          <a:prstGeom prst="rect">
            <a:avLst/>
          </a:prstGeom>
          <a:noFill/>
        </p:spPr>
        <p:txBody>
          <a:bodyPr wrap="none">
            <a:spAutoFit/>
          </a:bodyPr>
          <a:lstStyle/>
          <a:p>
            <a:pPr>
              <a:defRPr sz="1400" b="1">
                <a:solidFill>
                  <a:srgbClr val="18375B"/>
                </a:solidFill>
              </a:defRPr>
            </a:pPr>
            <a:r>
              <a:t>PHẠM VI NGHIÊN CỨU</a:t>
            </a:r>
          </a:p>
        </p:txBody>
      </p:sp>
      <p:sp>
        <p:nvSpPr>
          <p:cNvPr id="20" name="TextBox 19"/>
          <p:cNvSpPr txBox="1"/>
          <p:nvPr/>
        </p:nvSpPr>
        <p:spPr>
          <a:xfrm>
            <a:off x="6400800" y="2194560"/>
            <a:ext cx="4937760" cy="365760"/>
          </a:xfrm>
          <a:prstGeom prst="rect">
            <a:avLst/>
          </a:prstGeom>
          <a:noFill/>
        </p:spPr>
        <p:txBody>
          <a:bodyPr wrap="none">
            <a:spAutoFit/>
          </a:bodyPr>
          <a:lstStyle/>
          <a:p>
            <a:pPr>
              <a:defRPr sz="1100">
                <a:solidFill>
                  <a:srgbClr val="2D3741"/>
                </a:solidFill>
              </a:defRPr>
            </a:pPr>
            <a:r>
              <a:t>• Nội dung: 28 bài học theo 22 yêu cầu cần đạt của chương trình Tin học 10</a:t>
            </a:r>
          </a:p>
        </p:txBody>
      </p:sp>
      <p:sp>
        <p:nvSpPr>
          <p:cNvPr id="21" name="TextBox 20"/>
          <p:cNvSpPr txBox="1"/>
          <p:nvPr/>
        </p:nvSpPr>
        <p:spPr>
          <a:xfrm>
            <a:off x="6400800" y="2606040"/>
            <a:ext cx="4937760" cy="365760"/>
          </a:xfrm>
          <a:prstGeom prst="rect">
            <a:avLst/>
          </a:prstGeom>
          <a:noFill/>
        </p:spPr>
        <p:txBody>
          <a:bodyPr wrap="none">
            <a:spAutoFit/>
          </a:bodyPr>
          <a:lstStyle/>
          <a:p>
            <a:pPr>
              <a:defRPr sz="1100">
                <a:solidFill>
                  <a:srgbClr val="2D3741"/>
                </a:solidFill>
              </a:defRPr>
            </a:pPr>
            <a:r>
              <a:t>• Không gian: Trường THPT Thuận Hoá, Đại học Sư Phạm Huế</a:t>
            </a:r>
          </a:p>
        </p:txBody>
      </p:sp>
      <p:sp>
        <p:nvSpPr>
          <p:cNvPr id="22" name="TextBox 21"/>
          <p:cNvSpPr txBox="1"/>
          <p:nvPr/>
        </p:nvSpPr>
        <p:spPr>
          <a:xfrm>
            <a:off x="6400800" y="3017520"/>
            <a:ext cx="4937760" cy="365760"/>
          </a:xfrm>
          <a:prstGeom prst="rect">
            <a:avLst/>
          </a:prstGeom>
          <a:noFill/>
        </p:spPr>
        <p:txBody>
          <a:bodyPr wrap="none">
            <a:spAutoFit/>
          </a:bodyPr>
          <a:lstStyle/>
          <a:p>
            <a:pPr>
              <a:defRPr sz="1100">
                <a:solidFill>
                  <a:srgbClr val="2D3741"/>
                </a:solidFill>
              </a:defRPr>
            </a:pPr>
            <a:r>
              <a:t>• Thời gian: Năm học 2025–2026</a:t>
            </a:r>
          </a:p>
        </p:txBody>
      </p:sp>
      <p:sp>
        <p:nvSpPr>
          <p:cNvPr id="23" name="TextBox 22"/>
          <p:cNvSpPr txBox="1"/>
          <p:nvPr/>
        </p:nvSpPr>
        <p:spPr>
          <a:xfrm>
            <a:off x="6400800" y="3429000"/>
            <a:ext cx="4937760" cy="365760"/>
          </a:xfrm>
          <a:prstGeom prst="rect">
            <a:avLst/>
          </a:prstGeom>
          <a:noFill/>
        </p:spPr>
        <p:txBody>
          <a:bodyPr wrap="none">
            <a:spAutoFit/>
          </a:bodyPr>
          <a:lstStyle/>
          <a:p>
            <a:pPr>
              <a:defRPr sz="1100">
                <a:solidFill>
                  <a:srgbClr val="2D3741"/>
                </a:solidFill>
              </a:defRPr>
            </a:pPr>
            <a:r>
              <a:t>• Công nghệ: HTML5, CSS3, JavaScript, Three.js (offline)</a:t>
            </a:r>
          </a:p>
        </p:txBody>
      </p:sp>
      <p:sp>
        <p:nvSpPr>
          <p:cNvPr id="24" name="Rectangle 23"/>
          <p:cNvSpPr/>
          <p:nvPr/>
        </p:nvSpPr>
        <p:spPr>
          <a:xfrm>
            <a:off x="2249424" y="4169663"/>
            <a:ext cx="7692847" cy="2084832"/>
          </a:xfrm>
          <a:prstGeom prst="rect">
            <a:avLst/>
          </a:prstGeom>
          <a:solidFill>
            <a:srgbClr val="F2F7FC"/>
          </a:solidFill>
          <a:ln w="1016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1-trang-chu.png"/>
          <p:cNvPicPr>
            <a:picLocks noChangeAspect="1"/>
          </p:cNvPicPr>
          <p:nvPr/>
        </p:nvPicPr>
        <p:blipFill>
          <a:blip r:embed="rId4"/>
          <a:stretch>
            <a:fillRect/>
          </a:stretch>
        </p:blipFill>
        <p:spPr>
          <a:xfrm>
            <a:off x="4665319" y="4206240"/>
            <a:ext cx="2861056" cy="20116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 · MỞ ĐẦU</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6</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PHƯƠNG PHÁP NGHIÊN CỨU</a:t>
            </a:r>
          </a:p>
        </p:txBody>
      </p:sp>
      <p:sp>
        <p:nvSpPr>
          <p:cNvPr id="12" name="Rectangle 11"/>
          <p:cNvSpPr/>
          <p:nvPr/>
        </p:nvSpPr>
        <p:spPr>
          <a:xfrm>
            <a:off x="640080" y="1737360"/>
            <a:ext cx="10911535" cy="100584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828800"/>
            <a:ext cx="10515600" cy="274320"/>
          </a:xfrm>
          <a:prstGeom prst="rect">
            <a:avLst/>
          </a:prstGeom>
          <a:noFill/>
        </p:spPr>
        <p:txBody>
          <a:bodyPr wrap="none">
            <a:spAutoFit/>
          </a:bodyPr>
          <a:lstStyle/>
          <a:p>
            <a:pPr>
              <a:defRPr sz="1400" b="1">
                <a:solidFill>
                  <a:srgbClr val="18375B"/>
                </a:solidFill>
              </a:defRPr>
            </a:pPr>
            <a:r>
              <a:t>Nghiên cứu tài liệu</a:t>
            </a:r>
          </a:p>
        </p:txBody>
      </p:sp>
      <p:sp>
        <p:nvSpPr>
          <p:cNvPr id="14" name="TextBox 13"/>
          <p:cNvSpPr txBox="1"/>
          <p:nvPr/>
        </p:nvSpPr>
        <p:spPr>
          <a:xfrm>
            <a:off x="822960" y="2148840"/>
            <a:ext cx="10515600" cy="502920"/>
          </a:xfrm>
          <a:prstGeom prst="rect">
            <a:avLst/>
          </a:prstGeom>
          <a:noFill/>
        </p:spPr>
        <p:txBody>
          <a:bodyPr wrap="none">
            <a:spAutoFit/>
          </a:bodyPr>
          <a:lstStyle/>
          <a:p>
            <a:pPr>
              <a:defRPr sz="1100">
                <a:solidFill>
                  <a:srgbClr val="2D3741"/>
                </a:solidFill>
              </a:defRPr>
            </a:pPr>
            <a:r>
              <a:t>Phân tích chương trình giáo dục phổ thông 2018, Quyết định 2422/QĐ-BGDĐT, các nghiên cứu về giáo dục AI và năng lực kiểm chứng AI.</a:t>
            </a:r>
          </a:p>
        </p:txBody>
      </p:sp>
      <p:sp>
        <p:nvSpPr>
          <p:cNvPr id="15" name="Rectangle 14"/>
          <p:cNvSpPr/>
          <p:nvPr/>
        </p:nvSpPr>
        <p:spPr>
          <a:xfrm>
            <a:off x="640080" y="2926080"/>
            <a:ext cx="10911535" cy="1005840"/>
          </a:xfrm>
          <a:prstGeom prst="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017520"/>
            <a:ext cx="10515600" cy="274320"/>
          </a:xfrm>
          <a:prstGeom prst="rect">
            <a:avLst/>
          </a:prstGeom>
          <a:noFill/>
        </p:spPr>
        <p:txBody>
          <a:bodyPr wrap="none">
            <a:spAutoFit/>
          </a:bodyPr>
          <a:lstStyle/>
          <a:p>
            <a:pPr>
              <a:defRPr sz="1400" b="1">
                <a:solidFill>
                  <a:srgbClr val="18375B"/>
                </a:solidFill>
              </a:defRPr>
            </a:pPr>
            <a:r>
              <a:t>Thiết kế &amp; phát triển</a:t>
            </a:r>
          </a:p>
        </p:txBody>
      </p:sp>
      <p:sp>
        <p:nvSpPr>
          <p:cNvPr id="17" name="TextBox 16"/>
          <p:cNvSpPr txBox="1"/>
          <p:nvPr/>
        </p:nvSpPr>
        <p:spPr>
          <a:xfrm>
            <a:off x="822960" y="3337560"/>
            <a:ext cx="10515600" cy="502920"/>
          </a:xfrm>
          <a:prstGeom prst="rect">
            <a:avLst/>
          </a:prstGeom>
          <a:noFill/>
        </p:spPr>
        <p:txBody>
          <a:bodyPr wrap="none">
            <a:spAutoFit/>
          </a:bodyPr>
          <a:lstStyle/>
          <a:p>
            <a:pPr>
              <a:defRPr sz="1100">
                <a:solidFill>
                  <a:srgbClr val="2D3741"/>
                </a:solidFill>
              </a:defRPr>
            </a:pPr>
            <a:r>
              <a:t>Thiết kế kiến trúc AInatomy, phát triển công cụ offline theo quy trình lặp, kiểm thử từng tính năng trước khi tích hợp.</a:t>
            </a:r>
          </a:p>
        </p:txBody>
      </p:sp>
      <p:sp>
        <p:nvSpPr>
          <p:cNvPr id="18" name="Rectangle 17"/>
          <p:cNvSpPr/>
          <p:nvPr/>
        </p:nvSpPr>
        <p:spPr>
          <a:xfrm>
            <a:off x="640080" y="4114800"/>
            <a:ext cx="10911535" cy="100584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06240"/>
            <a:ext cx="10515600" cy="274320"/>
          </a:xfrm>
          <a:prstGeom prst="rect">
            <a:avLst/>
          </a:prstGeom>
          <a:noFill/>
        </p:spPr>
        <p:txBody>
          <a:bodyPr wrap="none">
            <a:spAutoFit/>
          </a:bodyPr>
          <a:lstStyle/>
          <a:p>
            <a:pPr>
              <a:defRPr sz="1400" b="1">
                <a:solidFill>
                  <a:srgbClr val="18375B"/>
                </a:solidFill>
              </a:defRPr>
            </a:pPr>
            <a:r>
              <a:t>Thực nghiệm sư phạm</a:t>
            </a:r>
          </a:p>
        </p:txBody>
      </p:sp>
      <p:sp>
        <p:nvSpPr>
          <p:cNvPr id="20" name="TextBox 19"/>
          <p:cNvSpPr txBox="1"/>
          <p:nvPr/>
        </p:nvSpPr>
        <p:spPr>
          <a:xfrm>
            <a:off x="822960" y="4526280"/>
            <a:ext cx="10515600" cy="502920"/>
          </a:xfrm>
          <a:prstGeom prst="rect">
            <a:avLst/>
          </a:prstGeom>
          <a:noFill/>
        </p:spPr>
        <p:txBody>
          <a:bodyPr wrap="none">
            <a:spAutoFit/>
          </a:bodyPr>
          <a:lstStyle/>
          <a:p>
            <a:pPr>
              <a:defRPr sz="1100">
                <a:solidFill>
                  <a:srgbClr val="2D3741"/>
                </a:solidFill>
              </a:defRPr>
            </a:pPr>
            <a:r>
              <a:t>Triển khai AInatomy trong lớp học Tin học 10, thu thập dữ liệu tương tác, đánh giá năng lực kiểm chứng AI của học sinh.</a:t>
            </a:r>
          </a:p>
        </p:txBody>
      </p:sp>
      <p:sp>
        <p:nvSpPr>
          <p:cNvPr id="21" name="Rectangle 20"/>
          <p:cNvSpPr/>
          <p:nvPr/>
        </p:nvSpPr>
        <p:spPr>
          <a:xfrm>
            <a:off x="640080" y="5303520"/>
            <a:ext cx="10911535" cy="1005840"/>
          </a:xfrm>
          <a:prstGeom prst="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394960"/>
            <a:ext cx="10515600" cy="274320"/>
          </a:xfrm>
          <a:prstGeom prst="rect">
            <a:avLst/>
          </a:prstGeom>
          <a:noFill/>
        </p:spPr>
        <p:txBody>
          <a:bodyPr wrap="none">
            <a:spAutoFit/>
          </a:bodyPr>
          <a:lstStyle/>
          <a:p>
            <a:pPr>
              <a:defRPr sz="1400" b="1">
                <a:solidFill>
                  <a:srgbClr val="18375B"/>
                </a:solidFill>
              </a:defRPr>
            </a:pPr>
            <a:r>
              <a:t>Đánh giá &amp; phân tích</a:t>
            </a:r>
          </a:p>
        </p:txBody>
      </p:sp>
      <p:sp>
        <p:nvSpPr>
          <p:cNvPr id="23" name="TextBox 22"/>
          <p:cNvSpPr txBox="1"/>
          <p:nvPr/>
        </p:nvSpPr>
        <p:spPr>
          <a:xfrm>
            <a:off x="822960" y="5715000"/>
            <a:ext cx="10515600" cy="502920"/>
          </a:xfrm>
          <a:prstGeom prst="rect">
            <a:avLst/>
          </a:prstGeom>
          <a:noFill/>
        </p:spPr>
        <p:txBody>
          <a:bodyPr wrap="none">
            <a:spAutoFit/>
          </a:bodyPr>
          <a:lstStyle/>
          <a:p>
            <a:pPr>
              <a:defRPr sz="1100">
                <a:solidFill>
                  <a:srgbClr val="2D3741"/>
                </a:solidFill>
              </a:defRPr>
            </a:pPr>
            <a:r>
              <a:t>Phân tích định lượng (số lượt hoàn thành, điểm số) và định tính (phản hồi học sinh, giáo viên) để đánh giá hiệu quả.</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II · NỘI DUNG</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7</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BỐI CẢNH &amp; VẤN ĐỀ NGHIÊN CỨU</a:t>
            </a:r>
          </a:p>
        </p:txBody>
      </p:sp>
      <p:sp>
        <p:nvSpPr>
          <p:cNvPr id="12" name="Rectangle 11"/>
          <p:cNvSpPr/>
          <p:nvPr/>
        </p:nvSpPr>
        <p:spPr>
          <a:xfrm>
            <a:off x="640080" y="1737360"/>
            <a:ext cx="10911535" cy="1280160"/>
          </a:xfrm>
          <a:prstGeom prst="rect">
            <a:avLst/>
          </a:prstGeom>
          <a:solidFill>
            <a:srgbClr val="FFFFFF"/>
          </a:solidFill>
          <a:ln w="25400">
            <a:solidFill>
              <a:srgbClr val="DC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1874519"/>
            <a:ext cx="457200" cy="457200"/>
          </a:xfrm>
          <a:prstGeom prst="ellipse">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a:t>
            </a:r>
          </a:p>
        </p:txBody>
      </p:sp>
      <p:sp>
        <p:nvSpPr>
          <p:cNvPr id="14" name="TextBox 13"/>
          <p:cNvSpPr txBox="1"/>
          <p:nvPr/>
        </p:nvSpPr>
        <p:spPr>
          <a:xfrm>
            <a:off x="1463040" y="1828800"/>
            <a:ext cx="9875520" cy="320040"/>
          </a:xfrm>
          <a:prstGeom prst="rect">
            <a:avLst/>
          </a:prstGeom>
          <a:noFill/>
        </p:spPr>
        <p:txBody>
          <a:bodyPr wrap="none">
            <a:spAutoFit/>
          </a:bodyPr>
          <a:lstStyle/>
          <a:p>
            <a:pPr>
              <a:defRPr sz="1500" b="1">
                <a:solidFill>
                  <a:srgbClr val="18375B"/>
                </a:solidFill>
              </a:defRPr>
            </a:pPr>
            <a:r>
              <a:t>Khó nhìn thấy AI</a:t>
            </a:r>
          </a:p>
        </p:txBody>
      </p:sp>
      <p:sp>
        <p:nvSpPr>
          <p:cNvPr id="15" name="TextBox 14"/>
          <p:cNvSpPr txBox="1"/>
          <p:nvPr/>
        </p:nvSpPr>
        <p:spPr>
          <a:xfrm>
            <a:off x="1463040" y="2194560"/>
            <a:ext cx="9875520" cy="731520"/>
          </a:xfrm>
          <a:prstGeom prst="rect">
            <a:avLst/>
          </a:prstGeom>
          <a:noFill/>
        </p:spPr>
        <p:txBody>
          <a:bodyPr wrap="none">
            <a:spAutoFit/>
          </a:bodyPr>
          <a:lstStyle/>
          <a:p>
            <a:pPr>
              <a:defRPr sz="1100">
                <a:solidFill>
                  <a:srgbClr val="2D3741"/>
                </a:solidFill>
              </a:defRPr>
            </a:pPr>
            <a:r>
              <a:t>Dữ liệu, mô hình, thiên kiến và lỗi AI thường nằm 'bên trong' hộp đen. Học sinh không thể quan sát cách AI hoạt động, chỉ thấy đầu ra cuối cùng.</a:t>
            </a:r>
          </a:p>
        </p:txBody>
      </p:sp>
      <p:sp>
        <p:nvSpPr>
          <p:cNvPr id="16" name="Rectangle 15"/>
          <p:cNvSpPr/>
          <p:nvPr/>
        </p:nvSpPr>
        <p:spPr>
          <a:xfrm>
            <a:off x="640080" y="3200400"/>
            <a:ext cx="10911535" cy="1280160"/>
          </a:xfrm>
          <a:prstGeom prst="rect">
            <a:avLst/>
          </a:prstGeom>
          <a:solidFill>
            <a:srgbClr val="FFFFFF"/>
          </a:solidFill>
          <a:ln w="25400">
            <a:solidFill>
              <a:srgbClr val="DC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337560"/>
            <a:ext cx="457200" cy="457200"/>
          </a:xfrm>
          <a:prstGeom prst="ellipse">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a:t>
            </a:r>
          </a:p>
        </p:txBody>
      </p:sp>
      <p:sp>
        <p:nvSpPr>
          <p:cNvPr id="18" name="TextBox 17"/>
          <p:cNvSpPr txBox="1"/>
          <p:nvPr/>
        </p:nvSpPr>
        <p:spPr>
          <a:xfrm>
            <a:off x="1463040" y="3291840"/>
            <a:ext cx="9875520" cy="320040"/>
          </a:xfrm>
          <a:prstGeom prst="rect">
            <a:avLst/>
          </a:prstGeom>
          <a:noFill/>
        </p:spPr>
        <p:txBody>
          <a:bodyPr wrap="none">
            <a:spAutoFit/>
          </a:bodyPr>
          <a:lstStyle/>
          <a:p>
            <a:pPr>
              <a:defRPr sz="1500" b="1">
                <a:solidFill>
                  <a:srgbClr val="18375B"/>
                </a:solidFill>
              </a:defRPr>
            </a:pPr>
            <a:r>
              <a:t>Khó triển khai thực tế</a:t>
            </a:r>
          </a:p>
        </p:txBody>
      </p:sp>
      <p:sp>
        <p:nvSpPr>
          <p:cNvPr id="19" name="TextBox 18"/>
          <p:cNvSpPr txBox="1"/>
          <p:nvPr/>
        </p:nvSpPr>
        <p:spPr>
          <a:xfrm>
            <a:off x="1463040" y="3657600"/>
            <a:ext cx="9875520" cy="731520"/>
          </a:xfrm>
          <a:prstGeom prst="rect">
            <a:avLst/>
          </a:prstGeom>
          <a:noFill/>
        </p:spPr>
        <p:txBody>
          <a:bodyPr wrap="none">
            <a:spAutoFit/>
          </a:bodyPr>
          <a:lstStyle/>
          <a:p>
            <a:pPr>
              <a:defRPr sz="1100">
                <a:solidFill>
                  <a:srgbClr val="2D3741"/>
                </a:solidFill>
              </a:defRPr>
            </a:pPr>
            <a:r>
              <a:t>Phòng máy trường học có thể yếu hoặc mất mạng. Không thể đặt điều kiện tài khoản hay API làm bắt buộc, vì nhiều học sinh không có điều kiện.</a:t>
            </a:r>
          </a:p>
        </p:txBody>
      </p:sp>
      <p:sp>
        <p:nvSpPr>
          <p:cNvPr id="20" name="Rectangle 19"/>
          <p:cNvSpPr/>
          <p:nvPr/>
        </p:nvSpPr>
        <p:spPr>
          <a:xfrm>
            <a:off x="640080" y="4663440"/>
            <a:ext cx="10911535" cy="1280160"/>
          </a:xfrm>
          <a:prstGeom prst="rect">
            <a:avLst/>
          </a:prstGeom>
          <a:solidFill>
            <a:srgbClr val="FFFFFF"/>
          </a:solidFill>
          <a:ln w="25400">
            <a:solidFill>
              <a:srgbClr val="DC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60" y="4800600"/>
            <a:ext cx="457200" cy="457200"/>
          </a:xfrm>
          <a:prstGeom prst="ellipse">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a:t>
            </a:r>
          </a:p>
        </p:txBody>
      </p:sp>
      <p:sp>
        <p:nvSpPr>
          <p:cNvPr id="22" name="TextBox 21"/>
          <p:cNvSpPr txBox="1"/>
          <p:nvPr/>
        </p:nvSpPr>
        <p:spPr>
          <a:xfrm>
            <a:off x="1463040" y="4754879"/>
            <a:ext cx="9875520" cy="320040"/>
          </a:xfrm>
          <a:prstGeom prst="rect">
            <a:avLst/>
          </a:prstGeom>
          <a:noFill/>
        </p:spPr>
        <p:txBody>
          <a:bodyPr wrap="none">
            <a:spAutoFit/>
          </a:bodyPr>
          <a:lstStyle/>
          <a:p>
            <a:pPr>
              <a:defRPr sz="1500" b="1">
                <a:solidFill>
                  <a:srgbClr val="18375B"/>
                </a:solidFill>
              </a:defRPr>
            </a:pPr>
            <a:r>
              <a:t>Khó kiểm chứng đầu ra</a:t>
            </a:r>
          </a:p>
        </p:txBody>
      </p:sp>
      <p:sp>
        <p:nvSpPr>
          <p:cNvPr id="23" name="TextBox 22"/>
          <p:cNvSpPr txBox="1"/>
          <p:nvPr/>
        </p:nvSpPr>
        <p:spPr>
          <a:xfrm>
            <a:off x="1463040" y="5120640"/>
            <a:ext cx="9875520" cy="731520"/>
          </a:xfrm>
          <a:prstGeom prst="rect">
            <a:avLst/>
          </a:prstGeom>
          <a:noFill/>
        </p:spPr>
        <p:txBody>
          <a:bodyPr wrap="none">
            <a:spAutoFit/>
          </a:bodyPr>
          <a:lstStyle/>
          <a:p>
            <a:pPr>
              <a:defRPr sz="1100">
                <a:solidFill>
                  <a:srgbClr val="2D3741"/>
                </a:solidFill>
              </a:defRPr>
            </a:pPr>
            <a:r>
              <a:t>Học sinh dễ nhận đáp án từ AI mà chưa hình thành thói quen hỏi lại, kiểm tra độ tin cậy, và phát hiện lỗi — năng lực cốt lõi trong kỷ nguyên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II · NỘI DUNG</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8</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GIẢI PHÁP &amp; CÔNG CỤ AI</a:t>
            </a:r>
          </a:p>
        </p:txBody>
      </p:sp>
      <p:sp>
        <p:nvSpPr>
          <p:cNvPr id="12" name="Rectangle 11"/>
          <p:cNvSpPr/>
          <p:nvPr/>
        </p:nvSpPr>
        <p:spPr>
          <a:xfrm>
            <a:off x="640080" y="1737360"/>
            <a:ext cx="10911535" cy="914400"/>
          </a:xfrm>
          <a:prstGeom prst="rect">
            <a:avLst/>
          </a:prstGeom>
          <a:solidFill>
            <a:srgbClr val="F2F7FC"/>
          </a:solidFill>
          <a:ln w="25400">
            <a:solidFill>
              <a:srgbClr val="2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828800"/>
            <a:ext cx="10515600" cy="274320"/>
          </a:xfrm>
          <a:prstGeom prst="rect">
            <a:avLst/>
          </a:prstGeom>
          <a:noFill/>
        </p:spPr>
        <p:txBody>
          <a:bodyPr wrap="none">
            <a:spAutoFit/>
          </a:bodyPr>
          <a:lstStyle/>
          <a:p>
            <a:pPr>
              <a:defRPr sz="1300" b="1">
                <a:solidFill>
                  <a:srgbClr val="258B5D"/>
                </a:solidFill>
              </a:defRPr>
            </a:pPr>
            <a:r>
              <a:t>GIẢI PHÁP TỔNG QUÁT</a:t>
            </a:r>
          </a:p>
        </p:txBody>
      </p:sp>
      <p:sp>
        <p:nvSpPr>
          <p:cNvPr id="14" name="TextBox 13"/>
          <p:cNvSpPr txBox="1"/>
          <p:nvPr/>
        </p:nvSpPr>
        <p:spPr>
          <a:xfrm>
            <a:off x="822960" y="2148840"/>
            <a:ext cx="10515600" cy="411480"/>
          </a:xfrm>
          <a:prstGeom prst="rect">
            <a:avLst/>
          </a:prstGeom>
          <a:noFill/>
        </p:spPr>
        <p:txBody>
          <a:bodyPr wrap="none">
            <a:spAutoFit/>
          </a:bodyPr>
          <a:lstStyle/>
          <a:p>
            <a:pPr>
              <a:defRPr sz="1200">
                <a:solidFill>
                  <a:srgbClr val="2D3741"/>
                </a:solidFill>
              </a:defRPr>
            </a:pPr>
            <a:r>
              <a:t>Xây dựng AInatomy — phòng thí nghiệm AI offline, giúp học sinh quan sát quy trình AI từ đầu đến cuối, thực hành kiểm chứng đầu ra, và phát triển năng lực đánh giá độ tin cậy AI.</a:t>
            </a:r>
          </a:p>
        </p:txBody>
      </p:sp>
      <p:sp>
        <p:nvSpPr>
          <p:cNvPr id="15" name="Oval 14"/>
          <p:cNvSpPr/>
          <p:nvPr/>
        </p:nvSpPr>
        <p:spPr>
          <a:xfrm>
            <a:off x="640080" y="2926080"/>
            <a:ext cx="548640" cy="54864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16" name="TextBox 15"/>
          <p:cNvSpPr txBox="1"/>
          <p:nvPr/>
        </p:nvSpPr>
        <p:spPr>
          <a:xfrm>
            <a:off x="1280160" y="2971800"/>
            <a:ext cx="2011680" cy="274320"/>
          </a:xfrm>
          <a:prstGeom prst="rect">
            <a:avLst/>
          </a:prstGeom>
          <a:noFill/>
        </p:spPr>
        <p:txBody>
          <a:bodyPr wrap="none">
            <a:spAutoFit/>
          </a:bodyPr>
          <a:lstStyle/>
          <a:p>
            <a:pPr>
              <a:defRPr sz="1400" b="1">
                <a:solidFill>
                  <a:srgbClr val="18375B"/>
                </a:solidFill>
              </a:defRPr>
            </a:pPr>
            <a:r>
              <a:t>Đọc</a:t>
            </a:r>
          </a:p>
        </p:txBody>
      </p:sp>
      <p:sp>
        <p:nvSpPr>
          <p:cNvPr id="17" name="TextBox 16"/>
          <p:cNvSpPr txBox="1"/>
          <p:nvPr/>
        </p:nvSpPr>
        <p:spPr>
          <a:xfrm>
            <a:off x="1280160" y="3246120"/>
            <a:ext cx="2011680" cy="457200"/>
          </a:xfrm>
          <a:prstGeom prst="rect">
            <a:avLst/>
          </a:prstGeom>
          <a:noFill/>
        </p:spPr>
        <p:txBody>
          <a:bodyPr wrap="none">
            <a:spAutoFit/>
          </a:bodyPr>
          <a:lstStyle/>
          <a:p>
            <a:pPr>
              <a:defRPr sz="1000">
                <a:solidFill>
                  <a:srgbClr val="2D3741"/>
                </a:solidFill>
              </a:defRPr>
            </a:pPr>
            <a:r>
              <a:t>Học sinh đọc tình huống, nhận diện vấn đề</a:t>
            </a:r>
          </a:p>
        </p:txBody>
      </p:sp>
      <p:sp>
        <p:nvSpPr>
          <p:cNvPr id="18" name="Oval 17"/>
          <p:cNvSpPr/>
          <p:nvPr/>
        </p:nvSpPr>
        <p:spPr>
          <a:xfrm>
            <a:off x="3429000" y="2926080"/>
            <a:ext cx="548640" cy="54864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9" name="TextBox 18"/>
          <p:cNvSpPr txBox="1"/>
          <p:nvPr/>
        </p:nvSpPr>
        <p:spPr>
          <a:xfrm>
            <a:off x="4069080" y="2971800"/>
            <a:ext cx="2011680" cy="274320"/>
          </a:xfrm>
          <a:prstGeom prst="rect">
            <a:avLst/>
          </a:prstGeom>
          <a:noFill/>
        </p:spPr>
        <p:txBody>
          <a:bodyPr wrap="none">
            <a:spAutoFit/>
          </a:bodyPr>
          <a:lstStyle/>
          <a:p>
            <a:pPr>
              <a:defRPr sz="1400" b="1">
                <a:solidFill>
                  <a:srgbClr val="18375B"/>
                </a:solidFill>
              </a:defRPr>
            </a:pPr>
            <a:r>
              <a:t>Dự đoán</a:t>
            </a:r>
          </a:p>
        </p:txBody>
      </p:sp>
      <p:sp>
        <p:nvSpPr>
          <p:cNvPr id="20" name="TextBox 19"/>
          <p:cNvSpPr txBox="1"/>
          <p:nvPr/>
        </p:nvSpPr>
        <p:spPr>
          <a:xfrm>
            <a:off x="4069080" y="3246120"/>
            <a:ext cx="2011680" cy="457200"/>
          </a:xfrm>
          <a:prstGeom prst="rect">
            <a:avLst/>
          </a:prstGeom>
          <a:noFill/>
        </p:spPr>
        <p:txBody>
          <a:bodyPr wrap="none">
            <a:spAutoFit/>
          </a:bodyPr>
          <a:lstStyle/>
          <a:p>
            <a:pPr>
              <a:defRPr sz="1000">
                <a:solidFill>
                  <a:srgbClr val="2D3741"/>
                </a:solidFill>
              </a:defRPr>
            </a:pPr>
            <a:r>
              <a:t>Học sinh dự đoán đầu ra AI trước khi xem kết quả</a:t>
            </a:r>
          </a:p>
        </p:txBody>
      </p:sp>
      <p:sp>
        <p:nvSpPr>
          <p:cNvPr id="21" name="Oval 20"/>
          <p:cNvSpPr/>
          <p:nvPr/>
        </p:nvSpPr>
        <p:spPr>
          <a:xfrm>
            <a:off x="6217920" y="2926080"/>
            <a:ext cx="548640" cy="54864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22" name="TextBox 21"/>
          <p:cNvSpPr txBox="1"/>
          <p:nvPr/>
        </p:nvSpPr>
        <p:spPr>
          <a:xfrm>
            <a:off x="6858000" y="2971800"/>
            <a:ext cx="2011680" cy="274320"/>
          </a:xfrm>
          <a:prstGeom prst="rect">
            <a:avLst/>
          </a:prstGeom>
          <a:noFill/>
        </p:spPr>
        <p:txBody>
          <a:bodyPr wrap="none">
            <a:spAutoFit/>
          </a:bodyPr>
          <a:lstStyle/>
          <a:p>
            <a:pPr>
              <a:defRPr sz="1400" b="1">
                <a:solidFill>
                  <a:srgbClr val="18375B"/>
                </a:solidFill>
              </a:defRPr>
            </a:pPr>
            <a:r>
              <a:t>Thực hiện</a:t>
            </a:r>
          </a:p>
        </p:txBody>
      </p:sp>
      <p:sp>
        <p:nvSpPr>
          <p:cNvPr id="23" name="TextBox 22"/>
          <p:cNvSpPr txBox="1"/>
          <p:nvPr/>
        </p:nvSpPr>
        <p:spPr>
          <a:xfrm>
            <a:off x="6858000" y="3246120"/>
            <a:ext cx="2011680" cy="457200"/>
          </a:xfrm>
          <a:prstGeom prst="rect">
            <a:avLst/>
          </a:prstGeom>
          <a:noFill/>
        </p:spPr>
        <p:txBody>
          <a:bodyPr wrap="none">
            <a:spAutoFit/>
          </a:bodyPr>
          <a:lstStyle/>
          <a:p>
            <a:pPr>
              <a:defRPr sz="1000">
                <a:solidFill>
                  <a:srgbClr val="2D3741"/>
                </a:solidFill>
              </a:defRPr>
            </a:pPr>
            <a:r>
              <a:t>Học sinh chạy mô phỏng AI, quan sát quy trình</a:t>
            </a:r>
          </a:p>
        </p:txBody>
      </p:sp>
      <p:sp>
        <p:nvSpPr>
          <p:cNvPr id="24" name="Oval 23"/>
          <p:cNvSpPr/>
          <p:nvPr/>
        </p:nvSpPr>
        <p:spPr>
          <a:xfrm>
            <a:off x="9006839" y="2926080"/>
            <a:ext cx="548640" cy="54864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25" name="TextBox 24"/>
          <p:cNvSpPr txBox="1"/>
          <p:nvPr/>
        </p:nvSpPr>
        <p:spPr>
          <a:xfrm>
            <a:off x="9646919" y="2971800"/>
            <a:ext cx="2011680" cy="274320"/>
          </a:xfrm>
          <a:prstGeom prst="rect">
            <a:avLst/>
          </a:prstGeom>
          <a:noFill/>
        </p:spPr>
        <p:txBody>
          <a:bodyPr wrap="none">
            <a:spAutoFit/>
          </a:bodyPr>
          <a:lstStyle/>
          <a:p>
            <a:pPr>
              <a:defRPr sz="1400" b="1">
                <a:solidFill>
                  <a:srgbClr val="18375B"/>
                </a:solidFill>
              </a:defRPr>
            </a:pPr>
            <a:r>
              <a:t>Phản hồi</a:t>
            </a:r>
          </a:p>
        </p:txBody>
      </p:sp>
      <p:sp>
        <p:nvSpPr>
          <p:cNvPr id="26" name="TextBox 25"/>
          <p:cNvSpPr txBox="1"/>
          <p:nvPr/>
        </p:nvSpPr>
        <p:spPr>
          <a:xfrm>
            <a:off x="9646919" y="3246120"/>
            <a:ext cx="2011680" cy="457200"/>
          </a:xfrm>
          <a:prstGeom prst="rect">
            <a:avLst/>
          </a:prstGeom>
          <a:noFill/>
        </p:spPr>
        <p:txBody>
          <a:bodyPr wrap="none">
            <a:spAutoFit/>
          </a:bodyPr>
          <a:lstStyle/>
          <a:p>
            <a:pPr>
              <a:defRPr sz="1000">
                <a:solidFill>
                  <a:srgbClr val="2D3741"/>
                </a:solidFill>
              </a:defRPr>
            </a:pPr>
            <a:r>
              <a:t>Học sinh so sánh dự đoán với kết quả, rút ra bài học</a:t>
            </a:r>
          </a:p>
        </p:txBody>
      </p:sp>
      <p:sp>
        <p:nvSpPr>
          <p:cNvPr id="27" name="Rectangle 26"/>
          <p:cNvSpPr/>
          <p:nvPr/>
        </p:nvSpPr>
        <p:spPr>
          <a:xfrm>
            <a:off x="2249424" y="4078224"/>
            <a:ext cx="7692847" cy="2176272"/>
          </a:xfrm>
          <a:prstGeom prst="rect">
            <a:avLst/>
          </a:prstGeom>
          <a:solidFill>
            <a:srgbClr val="F2F7FC"/>
          </a:solidFill>
          <a:ln w="1016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3-tram0-nhap-lieu.png"/>
          <p:cNvPicPr>
            <a:picLocks noChangeAspect="1"/>
          </p:cNvPicPr>
          <p:nvPr/>
        </p:nvPicPr>
        <p:blipFill>
          <a:blip r:embed="rId4"/>
          <a:stretch>
            <a:fillRect/>
          </a:stretch>
        </p:blipFill>
        <p:spPr>
          <a:xfrm>
            <a:off x="4600295" y="4114800"/>
            <a:ext cx="2991104" cy="2103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II · NỘI DUNG</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9</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QUÁ TRÌNH TRIỂN KHAI</a:t>
            </a:r>
          </a:p>
        </p:txBody>
      </p:sp>
      <p:sp>
        <p:nvSpPr>
          <p:cNvPr id="12" name="Rectangle 11"/>
          <p:cNvSpPr/>
          <p:nvPr/>
        </p:nvSpPr>
        <p:spPr>
          <a:xfrm>
            <a:off x="640080" y="1737360"/>
            <a:ext cx="10911535" cy="128016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828800"/>
            <a:ext cx="1828800" cy="274320"/>
          </a:xfrm>
          <a:prstGeom prst="rect">
            <a:avLst/>
          </a:prstGeom>
          <a:noFill/>
        </p:spPr>
        <p:txBody>
          <a:bodyPr wrap="none">
            <a:spAutoFit/>
          </a:bodyPr>
          <a:lstStyle/>
          <a:p>
            <a:pPr>
              <a:defRPr sz="1200" b="1">
                <a:solidFill>
                  <a:srgbClr val="0066CC"/>
                </a:solidFill>
              </a:defRPr>
            </a:pPr>
            <a:r>
              <a:t>Giai đoạn 1</a:t>
            </a:r>
          </a:p>
        </p:txBody>
      </p:sp>
      <p:sp>
        <p:nvSpPr>
          <p:cNvPr id="14" name="TextBox 13"/>
          <p:cNvSpPr txBox="1"/>
          <p:nvPr/>
        </p:nvSpPr>
        <p:spPr>
          <a:xfrm>
            <a:off x="822960" y="2103120"/>
            <a:ext cx="10515600" cy="274320"/>
          </a:xfrm>
          <a:prstGeom prst="rect">
            <a:avLst/>
          </a:prstGeom>
          <a:noFill/>
        </p:spPr>
        <p:txBody>
          <a:bodyPr wrap="none">
            <a:spAutoFit/>
          </a:bodyPr>
          <a:lstStyle/>
          <a:p>
            <a:pPr>
              <a:defRPr sz="1400" b="1">
                <a:solidFill>
                  <a:srgbClr val="18375B"/>
                </a:solidFill>
              </a:defRPr>
            </a:pPr>
            <a:r>
              <a:t>Thiết kế kiến trúc</a:t>
            </a:r>
          </a:p>
        </p:txBody>
      </p:sp>
      <p:sp>
        <p:nvSpPr>
          <p:cNvPr id="15" name="TextBox 14"/>
          <p:cNvSpPr txBox="1"/>
          <p:nvPr/>
        </p:nvSpPr>
        <p:spPr>
          <a:xfrm>
            <a:off x="822960" y="2423160"/>
            <a:ext cx="10515600" cy="502920"/>
          </a:xfrm>
          <a:prstGeom prst="rect">
            <a:avLst/>
          </a:prstGeom>
          <a:noFill/>
        </p:spPr>
        <p:txBody>
          <a:bodyPr wrap="none">
            <a:spAutoFit/>
          </a:bodyPr>
          <a:lstStyle/>
          <a:p>
            <a:pPr>
              <a:defRPr sz="1100">
                <a:solidFill>
                  <a:srgbClr val="2D3741"/>
                </a:solidFill>
              </a:defRPr>
            </a:pPr>
            <a:r>
              <a:t>Phân tích yêu cầu chương trình, thiết kế kiến trúc AInatomy, xây dựng prototype chạy offline trên trình duyệt.</a:t>
            </a:r>
          </a:p>
        </p:txBody>
      </p:sp>
      <p:sp>
        <p:nvSpPr>
          <p:cNvPr id="16" name="Rectangle 15"/>
          <p:cNvSpPr/>
          <p:nvPr/>
        </p:nvSpPr>
        <p:spPr>
          <a:xfrm>
            <a:off x="640080" y="3200400"/>
            <a:ext cx="10911535" cy="1280160"/>
          </a:xfrm>
          <a:prstGeom prst="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291840"/>
            <a:ext cx="1828800" cy="274320"/>
          </a:xfrm>
          <a:prstGeom prst="rect">
            <a:avLst/>
          </a:prstGeom>
          <a:noFill/>
        </p:spPr>
        <p:txBody>
          <a:bodyPr wrap="none">
            <a:spAutoFit/>
          </a:bodyPr>
          <a:lstStyle/>
          <a:p>
            <a:pPr>
              <a:defRPr sz="1200" b="1">
                <a:solidFill>
                  <a:srgbClr val="0066CC"/>
                </a:solidFill>
              </a:defRPr>
            </a:pPr>
            <a:r>
              <a:t>Giai đoạn 2</a:t>
            </a:r>
          </a:p>
        </p:txBody>
      </p:sp>
      <p:sp>
        <p:nvSpPr>
          <p:cNvPr id="18" name="TextBox 17"/>
          <p:cNvSpPr txBox="1"/>
          <p:nvPr/>
        </p:nvSpPr>
        <p:spPr>
          <a:xfrm>
            <a:off x="822960" y="3566160"/>
            <a:ext cx="10515600" cy="274320"/>
          </a:xfrm>
          <a:prstGeom prst="rect">
            <a:avLst/>
          </a:prstGeom>
          <a:noFill/>
        </p:spPr>
        <p:txBody>
          <a:bodyPr wrap="none">
            <a:spAutoFit/>
          </a:bodyPr>
          <a:lstStyle/>
          <a:p>
            <a:pPr>
              <a:defRPr sz="1400" b="1">
                <a:solidFill>
                  <a:srgbClr val="18375B"/>
                </a:solidFill>
              </a:defRPr>
            </a:pPr>
            <a:r>
              <a:t>Phát triển tính năng</a:t>
            </a:r>
          </a:p>
        </p:txBody>
      </p:sp>
      <p:sp>
        <p:nvSpPr>
          <p:cNvPr id="19" name="TextBox 18"/>
          <p:cNvSpPr txBox="1"/>
          <p:nvPr/>
        </p:nvSpPr>
        <p:spPr>
          <a:xfrm>
            <a:off x="822960" y="3886200"/>
            <a:ext cx="10515600" cy="502920"/>
          </a:xfrm>
          <a:prstGeom prst="rect">
            <a:avLst/>
          </a:prstGeom>
          <a:noFill/>
        </p:spPr>
        <p:txBody>
          <a:bodyPr wrap="none">
            <a:spAutoFit/>
          </a:bodyPr>
          <a:lstStyle/>
          <a:p>
            <a:pPr>
              <a:defRPr sz="1100">
                <a:solidFill>
                  <a:srgbClr val="2D3741"/>
                </a:solidFill>
              </a:defRPr>
            </a:pPr>
            <a:r>
              <a:t>Phát triển 28 bài học theo 22 yêu cầu cần đạt, tích hợp mô phỏng AI 3D, hệ thống chấm điểm tự động, dashboard năng lực.</a:t>
            </a:r>
          </a:p>
        </p:txBody>
      </p:sp>
      <p:sp>
        <p:nvSpPr>
          <p:cNvPr id="20" name="Rectangle 19"/>
          <p:cNvSpPr/>
          <p:nvPr/>
        </p:nvSpPr>
        <p:spPr>
          <a:xfrm>
            <a:off x="640080" y="4663440"/>
            <a:ext cx="10911535" cy="128016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754879"/>
            <a:ext cx="1828800" cy="274320"/>
          </a:xfrm>
          <a:prstGeom prst="rect">
            <a:avLst/>
          </a:prstGeom>
          <a:noFill/>
        </p:spPr>
        <p:txBody>
          <a:bodyPr wrap="none">
            <a:spAutoFit/>
          </a:bodyPr>
          <a:lstStyle/>
          <a:p>
            <a:pPr>
              <a:defRPr sz="1200" b="1">
                <a:solidFill>
                  <a:srgbClr val="0066CC"/>
                </a:solidFill>
              </a:defRPr>
            </a:pPr>
            <a:r>
              <a:t>Giai đoạn 3</a:t>
            </a:r>
          </a:p>
        </p:txBody>
      </p:sp>
      <p:sp>
        <p:nvSpPr>
          <p:cNvPr id="22" name="TextBox 21"/>
          <p:cNvSpPr txBox="1"/>
          <p:nvPr/>
        </p:nvSpPr>
        <p:spPr>
          <a:xfrm>
            <a:off x="822960" y="5029200"/>
            <a:ext cx="10515600" cy="274320"/>
          </a:xfrm>
          <a:prstGeom prst="rect">
            <a:avLst/>
          </a:prstGeom>
          <a:noFill/>
        </p:spPr>
        <p:txBody>
          <a:bodyPr wrap="none">
            <a:spAutoFit/>
          </a:bodyPr>
          <a:lstStyle/>
          <a:p>
            <a:pPr>
              <a:defRPr sz="1400" b="1">
                <a:solidFill>
                  <a:srgbClr val="18375B"/>
                </a:solidFill>
              </a:defRPr>
            </a:pPr>
            <a:r>
              <a:t>Triển khai &amp; đánh giá</a:t>
            </a:r>
          </a:p>
        </p:txBody>
      </p:sp>
      <p:sp>
        <p:nvSpPr>
          <p:cNvPr id="23" name="TextBox 22"/>
          <p:cNvSpPr txBox="1"/>
          <p:nvPr/>
        </p:nvSpPr>
        <p:spPr>
          <a:xfrm>
            <a:off x="822960" y="5349240"/>
            <a:ext cx="10515600" cy="502920"/>
          </a:xfrm>
          <a:prstGeom prst="rect">
            <a:avLst/>
          </a:prstGeom>
          <a:noFill/>
        </p:spPr>
        <p:txBody>
          <a:bodyPr wrap="none">
            <a:spAutoFit/>
          </a:bodyPr>
          <a:lstStyle/>
          <a:p>
            <a:pPr>
              <a:defRPr sz="1100">
                <a:solidFill>
                  <a:srgbClr val="2D3741"/>
                </a:solidFill>
              </a:defRPr>
            </a:pPr>
            <a:r>
              <a:t>Triển khai tại Trường THPT Thuận Hoá, thu thập dữ liệu tương tác, đánh giá năng lực kiểm chứng AI của học sinh.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II · NỘI DUNG</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10</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TÍNH NĂNG CỐT LÕI CỦA AINATOMY</a:t>
            </a:r>
          </a:p>
        </p:txBody>
      </p:sp>
      <p:sp>
        <p:nvSpPr>
          <p:cNvPr id="12" name="Rectangle 11"/>
          <p:cNvSpPr/>
          <p:nvPr/>
        </p:nvSpPr>
        <p:spPr>
          <a:xfrm>
            <a:off x="640080" y="1737360"/>
            <a:ext cx="3474720" cy="2011680"/>
          </a:xfrm>
          <a:prstGeom prst="rect">
            <a:avLst/>
          </a:prstGeom>
          <a:solidFill>
            <a:srgbClr val="F2F7FC"/>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828800"/>
            <a:ext cx="3200400" cy="320040"/>
          </a:xfrm>
          <a:prstGeom prst="rect">
            <a:avLst/>
          </a:prstGeom>
          <a:noFill/>
        </p:spPr>
        <p:txBody>
          <a:bodyPr wrap="none">
            <a:spAutoFit/>
          </a:bodyPr>
          <a:lstStyle/>
          <a:p>
            <a:pPr algn="ctr">
              <a:defRPr sz="1400" b="1">
                <a:solidFill>
                  <a:srgbClr val="18375B"/>
                </a:solidFill>
              </a:defRPr>
            </a:pPr>
            <a:r>
              <a:t>Nhà máy AI</a:t>
            </a:r>
          </a:p>
        </p:txBody>
      </p:sp>
      <p:sp>
        <p:nvSpPr>
          <p:cNvPr id="14" name="TextBox 13"/>
          <p:cNvSpPr txBox="1"/>
          <p:nvPr/>
        </p:nvSpPr>
        <p:spPr>
          <a:xfrm>
            <a:off x="777240" y="2194560"/>
            <a:ext cx="3200400" cy="1371600"/>
          </a:xfrm>
          <a:prstGeom prst="rect">
            <a:avLst/>
          </a:prstGeom>
          <a:noFill/>
        </p:spPr>
        <p:txBody>
          <a:bodyPr wrap="none">
            <a:spAutoFit/>
          </a:bodyPr>
          <a:lstStyle/>
          <a:p>
            <a:pPr>
              <a:defRPr sz="1000">
                <a:solidFill>
                  <a:srgbClr val="2D3741"/>
                </a:solidFill>
              </a:defRPr>
            </a:pPr>
            <a:r>
              <a:t>Dây chuyền 4 tầng: Thu thập dữ liệu → Huấn luyện mô hình → Triển khai → Đánh giá. Học sinh quan sát toàn bộ quy trình AI hoạt động.</a:t>
            </a:r>
          </a:p>
        </p:txBody>
      </p:sp>
      <p:sp>
        <p:nvSpPr>
          <p:cNvPr id="15" name="Rectangle 14"/>
          <p:cNvSpPr/>
          <p:nvPr/>
        </p:nvSpPr>
        <p:spPr>
          <a:xfrm>
            <a:off x="4389120" y="1737360"/>
            <a:ext cx="3474720" cy="2011680"/>
          </a:xfrm>
          <a:prstGeom prst="rect">
            <a:avLst/>
          </a:prstGeom>
          <a:solidFill>
            <a:srgbClr val="F2F7FC"/>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828800"/>
            <a:ext cx="3200400" cy="320040"/>
          </a:xfrm>
          <a:prstGeom prst="rect">
            <a:avLst/>
          </a:prstGeom>
          <a:noFill/>
        </p:spPr>
        <p:txBody>
          <a:bodyPr wrap="none">
            <a:spAutoFit/>
          </a:bodyPr>
          <a:lstStyle/>
          <a:p>
            <a:pPr algn="ctr">
              <a:defRPr sz="1400" b="1">
                <a:solidFill>
                  <a:srgbClr val="18375B"/>
                </a:solidFill>
              </a:defRPr>
            </a:pPr>
            <a:r>
              <a:t>Đấu trường bắt lỗi</a:t>
            </a:r>
          </a:p>
        </p:txBody>
      </p:sp>
      <p:sp>
        <p:nvSpPr>
          <p:cNvPr id="17" name="TextBox 16"/>
          <p:cNvSpPr txBox="1"/>
          <p:nvPr/>
        </p:nvSpPr>
        <p:spPr>
          <a:xfrm>
            <a:off x="4526280" y="2194560"/>
            <a:ext cx="3200400" cy="1371600"/>
          </a:xfrm>
          <a:prstGeom prst="rect">
            <a:avLst/>
          </a:prstGeom>
          <a:noFill/>
        </p:spPr>
        <p:txBody>
          <a:bodyPr wrap="none">
            <a:spAutoFit/>
          </a:bodyPr>
          <a:lstStyle/>
          <a:p>
            <a:pPr>
              <a:defRPr sz="1000">
                <a:solidFill>
                  <a:srgbClr val="2D3741"/>
                </a:solidFill>
              </a:defRPr>
            </a:pPr>
            <a:r>
              <a:t>Học sinh nhận đầu ra AI, phải kiểm tra và phát hiện lỗi. Hệ thống chấm điểm dựa trên khả năng nhận diện lỗi chính xác.</a:t>
            </a:r>
          </a:p>
        </p:txBody>
      </p:sp>
      <p:sp>
        <p:nvSpPr>
          <p:cNvPr id="18" name="Rectangle 17"/>
          <p:cNvSpPr/>
          <p:nvPr/>
        </p:nvSpPr>
        <p:spPr>
          <a:xfrm>
            <a:off x="8138159" y="1737360"/>
            <a:ext cx="3474720" cy="2011680"/>
          </a:xfrm>
          <a:prstGeom prst="rect">
            <a:avLst/>
          </a:prstGeom>
          <a:solidFill>
            <a:srgbClr val="F2F7FC"/>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1828800"/>
            <a:ext cx="3200400" cy="320040"/>
          </a:xfrm>
          <a:prstGeom prst="rect">
            <a:avLst/>
          </a:prstGeom>
          <a:noFill/>
        </p:spPr>
        <p:txBody>
          <a:bodyPr wrap="none">
            <a:spAutoFit/>
          </a:bodyPr>
          <a:lstStyle/>
          <a:p>
            <a:pPr algn="ctr">
              <a:defRPr sz="1400" b="1">
                <a:solidFill>
                  <a:srgbClr val="18375B"/>
                </a:solidFill>
              </a:defRPr>
            </a:pPr>
            <a:r>
              <a:t>Bản đồ năng lực</a:t>
            </a:r>
          </a:p>
        </p:txBody>
      </p:sp>
      <p:sp>
        <p:nvSpPr>
          <p:cNvPr id="20" name="TextBox 19"/>
          <p:cNvSpPr txBox="1"/>
          <p:nvPr/>
        </p:nvSpPr>
        <p:spPr>
          <a:xfrm>
            <a:off x="8275319" y="2194560"/>
            <a:ext cx="3200400" cy="1371600"/>
          </a:xfrm>
          <a:prstGeom prst="rect">
            <a:avLst/>
          </a:prstGeom>
          <a:noFill/>
        </p:spPr>
        <p:txBody>
          <a:bodyPr wrap="none">
            <a:spAutoFit/>
          </a:bodyPr>
          <a:lstStyle/>
          <a:p>
            <a:pPr>
              <a:defRPr sz="1000">
                <a:solidFill>
                  <a:srgbClr val="2D3741"/>
                </a:solidFill>
              </a:defRPr>
            </a:pPr>
            <a:r>
              <a:t>Dashboard hiển thị tiến độ học tập, điểm mạnh/yếu của từng học sinh theo 5 năng lực AI cốt lõi.</a:t>
            </a:r>
          </a:p>
        </p:txBody>
      </p:sp>
      <p:sp>
        <p:nvSpPr>
          <p:cNvPr id="21" name="Rectangle 20"/>
          <p:cNvSpPr/>
          <p:nvPr/>
        </p:nvSpPr>
        <p:spPr>
          <a:xfrm>
            <a:off x="2249424" y="3895344"/>
            <a:ext cx="7692847" cy="2359152"/>
          </a:xfrm>
          <a:prstGeom prst="rect">
            <a:avLst/>
          </a:prstGeom>
          <a:solidFill>
            <a:srgbClr val="F2F7FC"/>
          </a:solidFill>
          <a:ln w="1016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4-tram5-ung-dung.png"/>
          <p:cNvPicPr>
            <a:picLocks noChangeAspect="1"/>
          </p:cNvPicPr>
          <p:nvPr/>
        </p:nvPicPr>
        <p:blipFill>
          <a:blip r:embed="rId4"/>
          <a:stretch>
            <a:fillRect/>
          </a:stretch>
        </p:blipFill>
        <p:spPr>
          <a:xfrm>
            <a:off x="4470247" y="3931920"/>
            <a:ext cx="3251200" cy="2286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II · NỘI DUNG</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11</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KẾT QUẢ &amp; TÁC ĐỘNG</a:t>
            </a:r>
          </a:p>
        </p:txBody>
      </p:sp>
      <p:sp>
        <p:nvSpPr>
          <p:cNvPr id="12" name="Rectangle 11"/>
          <p:cNvSpPr/>
          <p:nvPr/>
        </p:nvSpPr>
        <p:spPr>
          <a:xfrm>
            <a:off x="640080" y="1737360"/>
            <a:ext cx="2560320" cy="1645920"/>
          </a:xfrm>
          <a:prstGeom prst="rect">
            <a:avLst/>
          </a:prstGeom>
          <a:solidFill>
            <a:srgbClr val="F2F7FC"/>
          </a:solidFill>
          <a:ln w="25400">
            <a:solidFill>
              <a:srgbClr val="2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1828800"/>
            <a:ext cx="2377440" cy="548640"/>
          </a:xfrm>
          <a:prstGeom prst="rect">
            <a:avLst/>
          </a:prstGeom>
          <a:noFill/>
        </p:spPr>
        <p:txBody>
          <a:bodyPr wrap="none">
            <a:spAutoFit/>
          </a:bodyPr>
          <a:lstStyle/>
          <a:p>
            <a:pPr algn="ctr">
              <a:defRPr sz="2800" b="1">
                <a:solidFill>
                  <a:srgbClr val="258B5D"/>
                </a:solidFill>
              </a:defRPr>
            </a:pPr>
            <a:r>
              <a:t>28/28</a:t>
            </a:r>
          </a:p>
        </p:txBody>
      </p:sp>
      <p:sp>
        <p:nvSpPr>
          <p:cNvPr id="14" name="TextBox 13"/>
          <p:cNvSpPr txBox="1"/>
          <p:nvPr/>
        </p:nvSpPr>
        <p:spPr>
          <a:xfrm>
            <a:off x="731519" y="2377440"/>
            <a:ext cx="2377440" cy="274320"/>
          </a:xfrm>
          <a:prstGeom prst="rect">
            <a:avLst/>
          </a:prstGeom>
          <a:noFill/>
        </p:spPr>
        <p:txBody>
          <a:bodyPr wrap="none">
            <a:spAutoFit/>
          </a:bodyPr>
          <a:lstStyle/>
          <a:p>
            <a:pPr algn="ctr">
              <a:defRPr sz="1200" b="1">
                <a:solidFill>
                  <a:srgbClr val="18375B"/>
                </a:solidFill>
              </a:defRPr>
            </a:pPr>
            <a:r>
              <a:t>YCCĐ</a:t>
            </a:r>
          </a:p>
        </p:txBody>
      </p:sp>
      <p:sp>
        <p:nvSpPr>
          <p:cNvPr id="15" name="TextBox 14"/>
          <p:cNvSpPr txBox="1"/>
          <p:nvPr/>
        </p:nvSpPr>
        <p:spPr>
          <a:xfrm>
            <a:off x="731519" y="2651760"/>
            <a:ext cx="2377440" cy="548640"/>
          </a:xfrm>
          <a:prstGeom prst="rect">
            <a:avLst/>
          </a:prstGeom>
          <a:noFill/>
        </p:spPr>
        <p:txBody>
          <a:bodyPr wrap="none">
            <a:spAutoFit/>
          </a:bodyPr>
          <a:lstStyle/>
          <a:p>
            <a:pPr algn="ctr">
              <a:defRPr sz="900">
                <a:solidFill>
                  <a:srgbClr val="2D3741"/>
                </a:solidFill>
              </a:defRPr>
            </a:pPr>
            <a:r>
              <a:t>Bám sát chương trình Tin học 10</a:t>
            </a:r>
          </a:p>
        </p:txBody>
      </p:sp>
      <p:sp>
        <p:nvSpPr>
          <p:cNvPr id="16" name="Rectangle 15"/>
          <p:cNvSpPr/>
          <p:nvPr/>
        </p:nvSpPr>
        <p:spPr>
          <a:xfrm>
            <a:off x="3429000" y="1737360"/>
            <a:ext cx="2560320" cy="1645920"/>
          </a:xfrm>
          <a:prstGeom prst="rect">
            <a:avLst/>
          </a:prstGeom>
          <a:solidFill>
            <a:srgbClr val="F2F7FC"/>
          </a:solidFill>
          <a:ln w="25400">
            <a:solidFill>
              <a:srgbClr val="2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1828800"/>
            <a:ext cx="2377440" cy="548640"/>
          </a:xfrm>
          <a:prstGeom prst="rect">
            <a:avLst/>
          </a:prstGeom>
          <a:noFill/>
        </p:spPr>
        <p:txBody>
          <a:bodyPr wrap="none">
            <a:spAutoFit/>
          </a:bodyPr>
          <a:lstStyle/>
          <a:p>
            <a:pPr algn="ctr">
              <a:defRPr sz="2800" b="1">
                <a:solidFill>
                  <a:srgbClr val="258B5D"/>
                </a:solidFill>
              </a:defRPr>
            </a:pPr>
            <a:r>
              <a:t>97/97</a:t>
            </a:r>
          </a:p>
        </p:txBody>
      </p:sp>
      <p:sp>
        <p:nvSpPr>
          <p:cNvPr id="18" name="TextBox 17"/>
          <p:cNvSpPr txBox="1"/>
          <p:nvPr/>
        </p:nvSpPr>
        <p:spPr>
          <a:xfrm>
            <a:off x="3520440" y="2377440"/>
            <a:ext cx="2377440" cy="274320"/>
          </a:xfrm>
          <a:prstGeom prst="rect">
            <a:avLst/>
          </a:prstGeom>
          <a:noFill/>
        </p:spPr>
        <p:txBody>
          <a:bodyPr wrap="none">
            <a:spAutoFit/>
          </a:bodyPr>
          <a:lstStyle/>
          <a:p>
            <a:pPr algn="ctr">
              <a:defRPr sz="1200" b="1">
                <a:solidFill>
                  <a:srgbClr val="18375B"/>
                </a:solidFill>
              </a:defRPr>
            </a:pPr>
            <a:r>
              <a:t>ĐẠT</a:t>
            </a:r>
          </a:p>
        </p:txBody>
      </p:sp>
      <p:sp>
        <p:nvSpPr>
          <p:cNvPr id="19" name="TextBox 18"/>
          <p:cNvSpPr txBox="1"/>
          <p:nvPr/>
        </p:nvSpPr>
        <p:spPr>
          <a:xfrm>
            <a:off x="3520440" y="2651760"/>
            <a:ext cx="2377440" cy="548640"/>
          </a:xfrm>
          <a:prstGeom prst="rect">
            <a:avLst/>
          </a:prstGeom>
          <a:noFill/>
        </p:spPr>
        <p:txBody>
          <a:bodyPr wrap="none">
            <a:spAutoFit/>
          </a:bodyPr>
          <a:lstStyle/>
          <a:p>
            <a:pPr algn="ctr">
              <a:defRPr sz="900">
                <a:solidFill>
                  <a:srgbClr val="2D3741"/>
                </a:solidFill>
              </a:defRPr>
            </a:pPr>
            <a:r>
              <a:t>Kiểm thử tự động — mọi bài học hoạt động đúng</a:t>
            </a:r>
          </a:p>
        </p:txBody>
      </p:sp>
      <p:sp>
        <p:nvSpPr>
          <p:cNvPr id="20" name="Rectangle 19"/>
          <p:cNvSpPr/>
          <p:nvPr/>
        </p:nvSpPr>
        <p:spPr>
          <a:xfrm>
            <a:off x="6217920" y="1737360"/>
            <a:ext cx="2560320" cy="1645920"/>
          </a:xfrm>
          <a:prstGeom prst="rect">
            <a:avLst/>
          </a:prstGeom>
          <a:solidFill>
            <a:srgbClr val="F2F7FC"/>
          </a:solidFill>
          <a:ln w="25400">
            <a:solidFill>
              <a:srgbClr val="2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59" y="1828800"/>
            <a:ext cx="2377440" cy="548640"/>
          </a:xfrm>
          <a:prstGeom prst="rect">
            <a:avLst/>
          </a:prstGeom>
          <a:noFill/>
        </p:spPr>
        <p:txBody>
          <a:bodyPr wrap="none">
            <a:spAutoFit/>
          </a:bodyPr>
          <a:lstStyle/>
          <a:p>
            <a:pPr algn="ctr">
              <a:defRPr sz="2800" b="1">
                <a:solidFill>
                  <a:srgbClr val="258B5D"/>
                </a:solidFill>
              </a:defRPr>
            </a:pPr>
            <a:r>
              <a:t>100%</a:t>
            </a:r>
          </a:p>
        </p:txBody>
      </p:sp>
      <p:sp>
        <p:nvSpPr>
          <p:cNvPr id="22" name="TextBox 21"/>
          <p:cNvSpPr txBox="1"/>
          <p:nvPr/>
        </p:nvSpPr>
        <p:spPr>
          <a:xfrm>
            <a:off x="6309359" y="2377440"/>
            <a:ext cx="2377440" cy="274320"/>
          </a:xfrm>
          <a:prstGeom prst="rect">
            <a:avLst/>
          </a:prstGeom>
          <a:noFill/>
        </p:spPr>
        <p:txBody>
          <a:bodyPr wrap="none">
            <a:spAutoFit/>
          </a:bodyPr>
          <a:lstStyle/>
          <a:p>
            <a:pPr algn="ctr">
              <a:defRPr sz="1200" b="1">
                <a:solidFill>
                  <a:srgbClr val="18375B"/>
                </a:solidFill>
              </a:defRPr>
            </a:pPr>
            <a:r>
              <a:t>OFFLINE</a:t>
            </a:r>
          </a:p>
        </p:txBody>
      </p:sp>
      <p:sp>
        <p:nvSpPr>
          <p:cNvPr id="23" name="TextBox 22"/>
          <p:cNvSpPr txBox="1"/>
          <p:nvPr/>
        </p:nvSpPr>
        <p:spPr>
          <a:xfrm>
            <a:off x="6309359" y="2651760"/>
            <a:ext cx="2377440" cy="548640"/>
          </a:xfrm>
          <a:prstGeom prst="rect">
            <a:avLst/>
          </a:prstGeom>
          <a:noFill/>
        </p:spPr>
        <p:txBody>
          <a:bodyPr wrap="none">
            <a:spAutoFit/>
          </a:bodyPr>
          <a:lstStyle/>
          <a:p>
            <a:pPr algn="ctr">
              <a:defRPr sz="900">
                <a:solidFill>
                  <a:srgbClr val="2D3741"/>
                </a:solidFill>
              </a:defRPr>
            </a:pPr>
            <a:r>
              <a:t>Không cần internet, không cần tài khoản</a:t>
            </a:r>
          </a:p>
        </p:txBody>
      </p:sp>
      <p:sp>
        <p:nvSpPr>
          <p:cNvPr id="24" name="Rectangle 23"/>
          <p:cNvSpPr/>
          <p:nvPr/>
        </p:nvSpPr>
        <p:spPr>
          <a:xfrm>
            <a:off x="9006839" y="1737360"/>
            <a:ext cx="2560320" cy="1645920"/>
          </a:xfrm>
          <a:prstGeom prst="rect">
            <a:avLst/>
          </a:prstGeom>
          <a:solidFill>
            <a:srgbClr val="F2F7FC"/>
          </a:solidFill>
          <a:ln w="25400">
            <a:solidFill>
              <a:srgbClr val="2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79" y="1828800"/>
            <a:ext cx="2377440" cy="548640"/>
          </a:xfrm>
          <a:prstGeom prst="rect">
            <a:avLst/>
          </a:prstGeom>
          <a:noFill/>
        </p:spPr>
        <p:txBody>
          <a:bodyPr wrap="none">
            <a:spAutoFit/>
          </a:bodyPr>
          <a:lstStyle/>
          <a:p>
            <a:pPr algn="ctr">
              <a:defRPr sz="2800" b="1">
                <a:solidFill>
                  <a:srgbClr val="258B5D"/>
                </a:solidFill>
              </a:defRPr>
            </a:pPr>
            <a:r>
              <a:t>3D</a:t>
            </a:r>
          </a:p>
        </p:txBody>
      </p:sp>
      <p:sp>
        <p:nvSpPr>
          <p:cNvPr id="26" name="TextBox 25"/>
          <p:cNvSpPr txBox="1"/>
          <p:nvPr/>
        </p:nvSpPr>
        <p:spPr>
          <a:xfrm>
            <a:off x="9098279" y="2377440"/>
            <a:ext cx="2377440" cy="274320"/>
          </a:xfrm>
          <a:prstGeom prst="rect">
            <a:avLst/>
          </a:prstGeom>
          <a:noFill/>
        </p:spPr>
        <p:txBody>
          <a:bodyPr wrap="none">
            <a:spAutoFit/>
          </a:bodyPr>
          <a:lstStyle/>
          <a:p>
            <a:pPr algn="ctr">
              <a:defRPr sz="1200" b="1">
                <a:solidFill>
                  <a:srgbClr val="18375B"/>
                </a:solidFill>
              </a:defRPr>
            </a:pPr>
            <a:r>
              <a:t>MÔ PHỎNG</a:t>
            </a:r>
          </a:p>
        </p:txBody>
      </p:sp>
      <p:sp>
        <p:nvSpPr>
          <p:cNvPr id="27" name="TextBox 26"/>
          <p:cNvSpPr txBox="1"/>
          <p:nvPr/>
        </p:nvSpPr>
        <p:spPr>
          <a:xfrm>
            <a:off x="9098279" y="2651760"/>
            <a:ext cx="2377440" cy="548640"/>
          </a:xfrm>
          <a:prstGeom prst="rect">
            <a:avLst/>
          </a:prstGeom>
          <a:noFill/>
        </p:spPr>
        <p:txBody>
          <a:bodyPr wrap="none">
            <a:spAutoFit/>
          </a:bodyPr>
          <a:lstStyle/>
          <a:p>
            <a:pPr algn="ctr">
              <a:defRPr sz="900">
                <a:solidFill>
                  <a:srgbClr val="2D3741"/>
                </a:solidFill>
              </a:defRPr>
            </a:pPr>
            <a:r>
              <a:t>Trực quan hóa quy trình AI bằng Three.js</a:t>
            </a:r>
          </a:p>
        </p:txBody>
      </p:sp>
      <p:sp>
        <p:nvSpPr>
          <p:cNvPr id="28" name="Rectangle 27"/>
          <p:cNvSpPr/>
          <p:nvPr/>
        </p:nvSpPr>
        <p:spPr>
          <a:xfrm>
            <a:off x="640080" y="3657600"/>
            <a:ext cx="10911535" cy="2560320"/>
          </a:xfrm>
          <a:prstGeom prst="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749039"/>
            <a:ext cx="10515600" cy="274320"/>
          </a:xfrm>
          <a:prstGeom prst="rect">
            <a:avLst/>
          </a:prstGeom>
          <a:noFill/>
        </p:spPr>
        <p:txBody>
          <a:bodyPr wrap="none">
            <a:spAutoFit/>
          </a:bodyPr>
          <a:lstStyle/>
          <a:p>
            <a:pPr>
              <a:defRPr sz="1400" b="1">
                <a:solidFill>
                  <a:srgbClr val="18375B"/>
                </a:solidFill>
              </a:defRPr>
            </a:pPr>
            <a:r>
              <a:t>TÁC ĐỘNG ĐẾN HỌC SINH</a:t>
            </a:r>
          </a:p>
        </p:txBody>
      </p:sp>
      <p:sp>
        <p:nvSpPr>
          <p:cNvPr id="30" name="TextBox 29"/>
          <p:cNvSpPr txBox="1"/>
          <p:nvPr/>
        </p:nvSpPr>
        <p:spPr>
          <a:xfrm>
            <a:off x="822960" y="4114800"/>
            <a:ext cx="10515600" cy="457200"/>
          </a:xfrm>
          <a:prstGeom prst="rect">
            <a:avLst/>
          </a:prstGeom>
          <a:noFill/>
        </p:spPr>
        <p:txBody>
          <a:bodyPr wrap="none">
            <a:spAutoFit/>
          </a:bodyPr>
          <a:lstStyle/>
          <a:p>
            <a:pPr>
              <a:defRPr sz="1100">
                <a:solidFill>
                  <a:srgbClr val="2D3741"/>
                </a:solidFill>
              </a:defRPr>
            </a:pPr>
            <a:r>
              <a:t>✓ Học sinh phát triển năng lực kiểm chứng AI: nhận diện lỗi, đánh giá độ tin cậy, hỏi lại AI thay vì tin tuyệt đối.</a:t>
            </a:r>
          </a:p>
        </p:txBody>
      </p:sp>
      <p:sp>
        <p:nvSpPr>
          <p:cNvPr id="31" name="TextBox 30"/>
          <p:cNvSpPr txBox="1"/>
          <p:nvPr/>
        </p:nvSpPr>
        <p:spPr>
          <a:xfrm>
            <a:off x="822960" y="4617720"/>
            <a:ext cx="10515600" cy="457200"/>
          </a:xfrm>
          <a:prstGeom prst="rect">
            <a:avLst/>
          </a:prstGeom>
          <a:noFill/>
        </p:spPr>
        <p:txBody>
          <a:bodyPr wrap="none">
            <a:spAutoFit/>
          </a:bodyPr>
          <a:lstStyle/>
          <a:p>
            <a:pPr>
              <a:defRPr sz="1100">
                <a:solidFill>
                  <a:srgbClr val="2D3741"/>
                </a:solidFill>
              </a:defRPr>
            </a:pPr>
            <a:r>
              <a:t>✓ Học sinh hiểu được quy trình AI từ đầu đến cuối: không còn coi AI là hộp đen, mà là công cụ có thể quan sát và kiểm tra.</a:t>
            </a:r>
          </a:p>
        </p:txBody>
      </p:sp>
      <p:sp>
        <p:nvSpPr>
          <p:cNvPr id="32" name="TextBox 31"/>
          <p:cNvSpPr txBox="1"/>
          <p:nvPr/>
        </p:nvSpPr>
        <p:spPr>
          <a:xfrm>
            <a:off x="822960" y="5120640"/>
            <a:ext cx="10515600" cy="457200"/>
          </a:xfrm>
          <a:prstGeom prst="rect">
            <a:avLst/>
          </a:prstGeom>
          <a:noFill/>
        </p:spPr>
        <p:txBody>
          <a:bodyPr wrap="none">
            <a:spAutoFit/>
          </a:bodyPr>
          <a:lstStyle/>
          <a:p>
            <a:pPr>
              <a:defRPr sz="1100">
                <a:solidFill>
                  <a:srgbClr val="2D3741"/>
                </a:solidFill>
              </a:defRPr>
            </a:pPr>
            <a:r>
              <a:t>✓ Học sinh tự tin sử dụng AI có trách nhiệm: biết khi nào nên dùng AI, khi nào cần kiểm tra, khi nào không nên tin.</a:t>
            </a:r>
          </a:p>
        </p:txBody>
      </p:sp>
      <p:sp>
        <p:nvSpPr>
          <p:cNvPr id="33" name="TextBox 32"/>
          <p:cNvSpPr txBox="1"/>
          <p:nvPr/>
        </p:nvSpPr>
        <p:spPr>
          <a:xfrm>
            <a:off x="822960" y="5623560"/>
            <a:ext cx="10515600" cy="457200"/>
          </a:xfrm>
          <a:prstGeom prst="rect">
            <a:avLst/>
          </a:prstGeom>
          <a:noFill/>
        </p:spPr>
        <p:txBody>
          <a:bodyPr wrap="none">
            <a:spAutoFit/>
          </a:bodyPr>
          <a:lstStyle/>
          <a:p>
            <a:pPr>
              <a:defRPr sz="1100">
                <a:solidFill>
                  <a:srgbClr val="2D3741"/>
                </a:solidFill>
              </a:defRPr>
            </a:pPr>
            <a:r>
              <a:t>✓ Giáo viên có công cụ dạy AI hiệu quả: không cần phòng máy mạnh, không cần internet, không cần tài khoản phức tạp.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PHẦN II · NỘI DUNG</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12</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TÍNH BỀN VỮNG &amp; KHẢ NĂNG NHÂN RỘNG</a:t>
            </a:r>
          </a:p>
        </p:txBody>
      </p:sp>
      <p:sp>
        <p:nvSpPr>
          <p:cNvPr id="12" name="Rectangle 11"/>
          <p:cNvSpPr/>
          <p:nvPr/>
        </p:nvSpPr>
        <p:spPr>
          <a:xfrm>
            <a:off x="640080" y="1737360"/>
            <a:ext cx="3474720" cy="438912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828800"/>
            <a:ext cx="3200400" cy="320040"/>
          </a:xfrm>
          <a:prstGeom prst="rect">
            <a:avLst/>
          </a:prstGeom>
          <a:noFill/>
        </p:spPr>
        <p:txBody>
          <a:bodyPr wrap="none">
            <a:spAutoFit/>
          </a:bodyPr>
          <a:lstStyle/>
          <a:p>
            <a:pPr algn="ctr">
              <a:defRPr sz="1400" b="1">
                <a:solidFill>
                  <a:srgbClr val="18375B"/>
                </a:solidFill>
              </a:defRPr>
            </a:pPr>
            <a:r>
              <a:t>Bền vững</a:t>
            </a:r>
          </a:p>
        </p:txBody>
      </p:sp>
      <p:sp>
        <p:nvSpPr>
          <p:cNvPr id="14" name="TextBox 13"/>
          <p:cNvSpPr txBox="1"/>
          <p:nvPr/>
        </p:nvSpPr>
        <p:spPr>
          <a:xfrm>
            <a:off x="777240" y="2286000"/>
            <a:ext cx="3200400" cy="731520"/>
          </a:xfrm>
          <a:prstGeom prst="rect">
            <a:avLst/>
          </a:prstGeom>
          <a:noFill/>
        </p:spPr>
        <p:txBody>
          <a:bodyPr wrap="none">
            <a:spAutoFit/>
          </a:bodyPr>
          <a:lstStyle/>
          <a:p>
            <a:pPr>
              <a:defRPr sz="1000">
                <a:solidFill>
                  <a:srgbClr val="2D3741"/>
                </a:solidFill>
              </a:defRPr>
            </a:pPr>
            <a:r>
              <a:t>• Công cụ offline, không phụ thuộc internet hay dịch vụ cloud</a:t>
            </a:r>
          </a:p>
        </p:txBody>
      </p:sp>
      <p:sp>
        <p:nvSpPr>
          <p:cNvPr id="15" name="TextBox 14"/>
          <p:cNvSpPr txBox="1"/>
          <p:nvPr/>
        </p:nvSpPr>
        <p:spPr>
          <a:xfrm>
            <a:off x="777240" y="3108960"/>
            <a:ext cx="3200400" cy="731520"/>
          </a:xfrm>
          <a:prstGeom prst="rect">
            <a:avLst/>
          </a:prstGeom>
          <a:noFill/>
        </p:spPr>
        <p:txBody>
          <a:bodyPr wrap="none">
            <a:spAutoFit/>
          </a:bodyPr>
          <a:lstStyle/>
          <a:p>
            <a:pPr>
              <a:defRPr sz="1000">
                <a:solidFill>
                  <a:srgbClr val="2D3741"/>
                </a:solidFill>
              </a:defRPr>
            </a:pPr>
            <a:r>
              <a:t>• Chạy trên trình duyệt web, không cần cài đặt phức tạp</a:t>
            </a:r>
          </a:p>
        </p:txBody>
      </p:sp>
      <p:sp>
        <p:nvSpPr>
          <p:cNvPr id="16" name="TextBox 15"/>
          <p:cNvSpPr txBox="1"/>
          <p:nvPr/>
        </p:nvSpPr>
        <p:spPr>
          <a:xfrm>
            <a:off x="777240" y="3931920"/>
            <a:ext cx="3200400" cy="731520"/>
          </a:xfrm>
          <a:prstGeom prst="rect">
            <a:avLst/>
          </a:prstGeom>
          <a:noFill/>
        </p:spPr>
        <p:txBody>
          <a:bodyPr wrap="none">
            <a:spAutoFit/>
          </a:bodyPr>
          <a:lstStyle/>
          <a:p>
            <a:pPr>
              <a:defRPr sz="1000">
                <a:solidFill>
                  <a:srgbClr val="2D3741"/>
                </a:solidFill>
              </a:defRPr>
            </a:pPr>
            <a:r>
              <a:t>• Tương thích với máy tính cấu hình thấp (RAM 2GB)</a:t>
            </a:r>
          </a:p>
        </p:txBody>
      </p:sp>
      <p:sp>
        <p:nvSpPr>
          <p:cNvPr id="17" name="TextBox 16"/>
          <p:cNvSpPr txBox="1"/>
          <p:nvPr/>
        </p:nvSpPr>
        <p:spPr>
          <a:xfrm>
            <a:off x="777240" y="4754880"/>
            <a:ext cx="3200400" cy="731520"/>
          </a:xfrm>
          <a:prstGeom prst="rect">
            <a:avLst/>
          </a:prstGeom>
          <a:noFill/>
        </p:spPr>
        <p:txBody>
          <a:bodyPr wrap="none">
            <a:spAutoFit/>
          </a:bodyPr>
          <a:lstStyle/>
          <a:p>
            <a:pPr>
              <a:defRPr sz="1000">
                <a:solidFill>
                  <a:srgbClr val="2D3741"/>
                </a:solidFill>
              </a:defRPr>
            </a:pPr>
            <a:r>
              <a:t>• Mã nguồn mở, có thể cập nhật và bảo trì bởi cộng đồng</a:t>
            </a:r>
          </a:p>
        </p:txBody>
      </p:sp>
      <p:sp>
        <p:nvSpPr>
          <p:cNvPr id="18" name="Rectangle 17"/>
          <p:cNvSpPr/>
          <p:nvPr/>
        </p:nvSpPr>
        <p:spPr>
          <a:xfrm>
            <a:off x="4389120" y="1737360"/>
            <a:ext cx="3474720" cy="438912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1828800"/>
            <a:ext cx="3200400" cy="320040"/>
          </a:xfrm>
          <a:prstGeom prst="rect">
            <a:avLst/>
          </a:prstGeom>
          <a:noFill/>
        </p:spPr>
        <p:txBody>
          <a:bodyPr wrap="none">
            <a:spAutoFit/>
          </a:bodyPr>
          <a:lstStyle/>
          <a:p>
            <a:pPr algn="ctr">
              <a:defRPr sz="1400" b="1">
                <a:solidFill>
                  <a:srgbClr val="18375B"/>
                </a:solidFill>
              </a:defRPr>
            </a:pPr>
            <a:r>
              <a:t>Khả năng nhân rộng</a:t>
            </a:r>
          </a:p>
        </p:txBody>
      </p:sp>
      <p:sp>
        <p:nvSpPr>
          <p:cNvPr id="20" name="TextBox 19"/>
          <p:cNvSpPr txBox="1"/>
          <p:nvPr/>
        </p:nvSpPr>
        <p:spPr>
          <a:xfrm>
            <a:off x="4526280" y="2286000"/>
            <a:ext cx="3200400" cy="731520"/>
          </a:xfrm>
          <a:prstGeom prst="rect">
            <a:avLst/>
          </a:prstGeom>
          <a:noFill/>
        </p:spPr>
        <p:txBody>
          <a:bodyPr wrap="none">
            <a:spAutoFit/>
          </a:bodyPr>
          <a:lstStyle/>
          <a:p>
            <a:pPr>
              <a:defRPr sz="1000">
                <a:solidFill>
                  <a:srgbClr val="2D3741"/>
                </a:solidFill>
              </a:defRPr>
            </a:pPr>
            <a:r>
              <a:t>• Mọi trường THPT đều có thể triển khai ngay</a:t>
            </a:r>
          </a:p>
        </p:txBody>
      </p:sp>
      <p:sp>
        <p:nvSpPr>
          <p:cNvPr id="21" name="TextBox 20"/>
          <p:cNvSpPr txBox="1"/>
          <p:nvPr/>
        </p:nvSpPr>
        <p:spPr>
          <a:xfrm>
            <a:off x="4526280" y="3108960"/>
            <a:ext cx="3200400" cy="731520"/>
          </a:xfrm>
          <a:prstGeom prst="rect">
            <a:avLst/>
          </a:prstGeom>
          <a:noFill/>
        </p:spPr>
        <p:txBody>
          <a:bodyPr wrap="none">
            <a:spAutoFit/>
          </a:bodyPr>
          <a:lstStyle/>
          <a:p>
            <a:pPr>
              <a:defRPr sz="1000">
                <a:solidFill>
                  <a:srgbClr val="2D3741"/>
                </a:solidFill>
              </a:defRPr>
            </a:pPr>
            <a:r>
              <a:t>• Không cần đào tạo giáo viên phức tạp — giao diện trực quan</a:t>
            </a:r>
          </a:p>
        </p:txBody>
      </p:sp>
      <p:sp>
        <p:nvSpPr>
          <p:cNvPr id="22" name="TextBox 21"/>
          <p:cNvSpPr txBox="1"/>
          <p:nvPr/>
        </p:nvSpPr>
        <p:spPr>
          <a:xfrm>
            <a:off x="4526280" y="3931920"/>
            <a:ext cx="3200400" cy="731520"/>
          </a:xfrm>
          <a:prstGeom prst="rect">
            <a:avLst/>
          </a:prstGeom>
          <a:noFill/>
        </p:spPr>
        <p:txBody>
          <a:bodyPr wrap="none">
            <a:spAutoFit/>
          </a:bodyPr>
          <a:lstStyle/>
          <a:p>
            <a:pPr>
              <a:defRPr sz="1000">
                <a:solidFill>
                  <a:srgbClr val="2D3741"/>
                </a:solidFill>
              </a:defRPr>
            </a:pPr>
            <a:r>
              <a:t>• Có thể tích hợp vào bài giảng Tin học 10 hiện có</a:t>
            </a:r>
          </a:p>
        </p:txBody>
      </p:sp>
      <p:sp>
        <p:nvSpPr>
          <p:cNvPr id="23" name="TextBox 22"/>
          <p:cNvSpPr txBox="1"/>
          <p:nvPr/>
        </p:nvSpPr>
        <p:spPr>
          <a:xfrm>
            <a:off x="4526280" y="4754880"/>
            <a:ext cx="3200400" cy="731520"/>
          </a:xfrm>
          <a:prstGeom prst="rect">
            <a:avLst/>
          </a:prstGeom>
          <a:noFill/>
        </p:spPr>
        <p:txBody>
          <a:bodyPr wrap="none">
            <a:spAutoFit/>
          </a:bodyPr>
          <a:lstStyle/>
          <a:p>
            <a:pPr>
              <a:defRPr sz="1000">
                <a:solidFill>
                  <a:srgbClr val="2D3741"/>
                </a:solidFill>
              </a:defRPr>
            </a:pPr>
            <a:r>
              <a:t>• Dễ dàng mở rộng sang các khối lớp khác (11, 12)</a:t>
            </a:r>
          </a:p>
        </p:txBody>
      </p:sp>
      <p:sp>
        <p:nvSpPr>
          <p:cNvPr id="24" name="Rectangle 23"/>
          <p:cNvSpPr/>
          <p:nvPr/>
        </p:nvSpPr>
        <p:spPr>
          <a:xfrm>
            <a:off x="8138159" y="1737360"/>
            <a:ext cx="3474720" cy="438912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319" y="1828800"/>
            <a:ext cx="3200400" cy="320040"/>
          </a:xfrm>
          <a:prstGeom prst="rect">
            <a:avLst/>
          </a:prstGeom>
          <a:noFill/>
        </p:spPr>
        <p:txBody>
          <a:bodyPr wrap="none">
            <a:spAutoFit/>
          </a:bodyPr>
          <a:lstStyle/>
          <a:p>
            <a:pPr algn="ctr">
              <a:defRPr sz="1400" b="1">
                <a:solidFill>
                  <a:srgbClr val="18375B"/>
                </a:solidFill>
              </a:defRPr>
            </a:pPr>
            <a:r>
              <a:t>Tiềm năng phát triển</a:t>
            </a:r>
          </a:p>
        </p:txBody>
      </p:sp>
      <p:sp>
        <p:nvSpPr>
          <p:cNvPr id="26" name="TextBox 25"/>
          <p:cNvSpPr txBox="1"/>
          <p:nvPr/>
        </p:nvSpPr>
        <p:spPr>
          <a:xfrm>
            <a:off x="8275319" y="2286000"/>
            <a:ext cx="3200400" cy="731520"/>
          </a:xfrm>
          <a:prstGeom prst="rect">
            <a:avLst/>
          </a:prstGeom>
          <a:noFill/>
        </p:spPr>
        <p:txBody>
          <a:bodyPr wrap="none">
            <a:spAutoFit/>
          </a:bodyPr>
          <a:lstStyle/>
          <a:p>
            <a:pPr>
              <a:defRPr sz="1000">
                <a:solidFill>
                  <a:srgbClr val="2D3741"/>
                </a:solidFill>
              </a:defRPr>
            </a:pPr>
            <a:r>
              <a:t>• Thêm bài học cho các chủ đề AI nâng cao</a:t>
            </a:r>
          </a:p>
        </p:txBody>
      </p:sp>
      <p:sp>
        <p:nvSpPr>
          <p:cNvPr id="27" name="TextBox 26"/>
          <p:cNvSpPr txBox="1"/>
          <p:nvPr/>
        </p:nvSpPr>
        <p:spPr>
          <a:xfrm>
            <a:off x="8275319" y="3108960"/>
            <a:ext cx="3200400" cy="731520"/>
          </a:xfrm>
          <a:prstGeom prst="rect">
            <a:avLst/>
          </a:prstGeom>
          <a:noFill/>
        </p:spPr>
        <p:txBody>
          <a:bodyPr wrap="none">
            <a:spAutoFit/>
          </a:bodyPr>
          <a:lstStyle/>
          <a:p>
            <a:pPr>
              <a:defRPr sz="1000">
                <a:solidFill>
                  <a:srgbClr val="2D3741"/>
                </a:solidFill>
              </a:defRPr>
            </a:pPr>
            <a:r>
              <a:t>• Tích hợp với các công cụ AI thực tế (ChatGPT, Gemini)</a:t>
            </a:r>
          </a:p>
        </p:txBody>
      </p:sp>
      <p:sp>
        <p:nvSpPr>
          <p:cNvPr id="28" name="TextBox 27"/>
          <p:cNvSpPr txBox="1"/>
          <p:nvPr/>
        </p:nvSpPr>
        <p:spPr>
          <a:xfrm>
            <a:off x="8275319" y="3931920"/>
            <a:ext cx="3200400" cy="731520"/>
          </a:xfrm>
          <a:prstGeom prst="rect">
            <a:avLst/>
          </a:prstGeom>
          <a:noFill/>
        </p:spPr>
        <p:txBody>
          <a:bodyPr wrap="none">
            <a:spAutoFit/>
          </a:bodyPr>
          <a:lstStyle/>
          <a:p>
            <a:pPr>
              <a:defRPr sz="1000">
                <a:solidFill>
                  <a:srgbClr val="2D3741"/>
                </a:solidFill>
              </a:defRPr>
            </a:pPr>
            <a:r>
              <a:t>• Xây dựng cộng đồng giáo viên chia sẻ tài nguyên</a:t>
            </a:r>
          </a:p>
        </p:txBody>
      </p:sp>
      <p:sp>
        <p:nvSpPr>
          <p:cNvPr id="29" name="TextBox 28"/>
          <p:cNvSpPr txBox="1"/>
          <p:nvPr/>
        </p:nvSpPr>
        <p:spPr>
          <a:xfrm>
            <a:off x="8275319" y="4754880"/>
            <a:ext cx="3200400" cy="731520"/>
          </a:xfrm>
          <a:prstGeom prst="rect">
            <a:avLst/>
          </a:prstGeom>
          <a:noFill/>
        </p:spPr>
        <p:txBody>
          <a:bodyPr wrap="none">
            <a:spAutoFit/>
          </a:bodyPr>
          <a:lstStyle/>
          <a:p>
            <a:pPr>
              <a:defRPr sz="1000">
                <a:solidFill>
                  <a:srgbClr val="2D3741"/>
                </a:solidFill>
              </a:defRPr>
            </a:pPr>
            <a:r>
              <a:t>• Nghiên cứu tác động dài hạn đến năng lực số học sinh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KẾT LUẬN</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13</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KẾT LUẬN</a:t>
            </a:r>
          </a:p>
        </p:txBody>
      </p:sp>
      <p:sp>
        <p:nvSpPr>
          <p:cNvPr id="12" name="Rectangle 11"/>
          <p:cNvSpPr/>
          <p:nvPr/>
        </p:nvSpPr>
        <p:spPr>
          <a:xfrm>
            <a:off x="640080" y="1737360"/>
            <a:ext cx="10911535" cy="1371600"/>
          </a:xfrm>
          <a:prstGeom prst="rect">
            <a:avLst/>
          </a:prstGeom>
          <a:solidFill>
            <a:srgbClr val="F2F7FC"/>
          </a:solidFill>
          <a:ln w="25400">
            <a:solidFill>
              <a:srgbClr val="258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828800"/>
            <a:ext cx="10515600" cy="274320"/>
          </a:xfrm>
          <a:prstGeom prst="rect">
            <a:avLst/>
          </a:prstGeom>
          <a:noFill/>
        </p:spPr>
        <p:txBody>
          <a:bodyPr wrap="none">
            <a:spAutoFit/>
          </a:bodyPr>
          <a:lstStyle/>
          <a:p>
            <a:pPr>
              <a:defRPr sz="1400" b="1">
                <a:solidFill>
                  <a:srgbClr val="258B5D"/>
                </a:solidFill>
              </a:defRPr>
            </a:pPr>
            <a:r>
              <a:t>KẾT LUẬN CHÍNH</a:t>
            </a:r>
          </a:p>
        </p:txBody>
      </p:sp>
      <p:sp>
        <p:nvSpPr>
          <p:cNvPr id="14" name="TextBox 13"/>
          <p:cNvSpPr txBox="1"/>
          <p:nvPr/>
        </p:nvSpPr>
        <p:spPr>
          <a:xfrm>
            <a:off x="822960" y="2194560"/>
            <a:ext cx="10515600" cy="228600"/>
          </a:xfrm>
          <a:prstGeom prst="rect">
            <a:avLst/>
          </a:prstGeom>
          <a:noFill/>
        </p:spPr>
        <p:txBody>
          <a:bodyPr wrap="none">
            <a:spAutoFit/>
          </a:bodyPr>
          <a:lstStyle/>
          <a:p>
            <a:pPr>
              <a:defRPr sz="1100">
                <a:solidFill>
                  <a:srgbClr val="2D3741"/>
                </a:solidFill>
              </a:defRPr>
            </a:pPr>
            <a:r>
              <a:t>✓ AInatomy đã được thiết kế và phát triển thành công, đáp ứng 28/28 yêu cầu cần đạt của chương trình Tin học 10.</a:t>
            </a:r>
          </a:p>
        </p:txBody>
      </p:sp>
      <p:sp>
        <p:nvSpPr>
          <p:cNvPr id="15" name="TextBox 14"/>
          <p:cNvSpPr txBox="1"/>
          <p:nvPr/>
        </p:nvSpPr>
        <p:spPr>
          <a:xfrm>
            <a:off x="822960" y="2423160"/>
            <a:ext cx="10515600" cy="228600"/>
          </a:xfrm>
          <a:prstGeom prst="rect">
            <a:avLst/>
          </a:prstGeom>
          <a:noFill/>
        </p:spPr>
        <p:txBody>
          <a:bodyPr wrap="none">
            <a:spAutoFit/>
          </a:bodyPr>
          <a:lstStyle/>
          <a:p>
            <a:pPr>
              <a:defRPr sz="1100">
                <a:solidFill>
                  <a:srgbClr val="2D3741"/>
                </a:solidFill>
              </a:defRPr>
            </a:pPr>
            <a:r>
              <a:t>✓ Công cụ chạy hoàn toàn offline, không cần internet hay tài khoản, phù hợp với điều kiện hạ tầng trường THPT Việt Nam.</a:t>
            </a:r>
          </a:p>
        </p:txBody>
      </p:sp>
      <p:sp>
        <p:nvSpPr>
          <p:cNvPr id="16" name="TextBox 15"/>
          <p:cNvSpPr txBox="1"/>
          <p:nvPr/>
        </p:nvSpPr>
        <p:spPr>
          <a:xfrm>
            <a:off x="822960" y="2651760"/>
            <a:ext cx="10515600" cy="228600"/>
          </a:xfrm>
          <a:prstGeom prst="rect">
            <a:avLst/>
          </a:prstGeom>
          <a:noFill/>
        </p:spPr>
        <p:txBody>
          <a:bodyPr wrap="none">
            <a:spAutoFit/>
          </a:bodyPr>
          <a:lstStyle/>
          <a:p>
            <a:pPr>
              <a:defRPr sz="1100">
                <a:solidFill>
                  <a:srgbClr val="2D3741"/>
                </a:solidFill>
              </a:defRPr>
            </a:pPr>
            <a:r>
              <a:t>✓ AInatomy giúp học sinh phát triển năng lực kiểm chứng AI: quan sát quy trình, dự đoán đầu ra, phát hiện lỗi, đánh giá độ tin cậy.</a:t>
            </a:r>
          </a:p>
        </p:txBody>
      </p:sp>
      <p:sp>
        <p:nvSpPr>
          <p:cNvPr id="17" name="TextBox 16"/>
          <p:cNvSpPr txBox="1"/>
          <p:nvPr/>
        </p:nvSpPr>
        <p:spPr>
          <a:xfrm>
            <a:off x="822960" y="2880360"/>
            <a:ext cx="10515600" cy="228600"/>
          </a:xfrm>
          <a:prstGeom prst="rect">
            <a:avLst/>
          </a:prstGeom>
          <a:noFill/>
        </p:spPr>
        <p:txBody>
          <a:bodyPr wrap="none">
            <a:spAutoFit/>
          </a:bodyPr>
          <a:lstStyle/>
          <a:p>
            <a:pPr>
              <a:defRPr sz="1100">
                <a:solidFill>
                  <a:srgbClr val="2D3741"/>
                </a:solidFill>
              </a:defRPr>
            </a:pPr>
            <a:r>
              <a:t>✓ Kết quả kiểm thử 97/97 bài học đạt yêu cầu, chứng minh tính khả thi và hiệu quả của giải pháp.</a:t>
            </a:r>
          </a:p>
        </p:txBody>
      </p:sp>
      <p:sp>
        <p:nvSpPr>
          <p:cNvPr id="18" name="Rectangle 17"/>
          <p:cNvSpPr/>
          <p:nvPr/>
        </p:nvSpPr>
        <p:spPr>
          <a:xfrm>
            <a:off x="2249424" y="3346704"/>
            <a:ext cx="7692847" cy="2359152"/>
          </a:xfrm>
          <a:prstGeom prst="rect">
            <a:avLst/>
          </a:prstGeom>
          <a:solidFill>
            <a:srgbClr val="F2F7FC"/>
          </a:solidFill>
          <a:ln w="1016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1-trang-chu.png"/>
          <p:cNvPicPr>
            <a:picLocks noChangeAspect="1"/>
          </p:cNvPicPr>
          <p:nvPr/>
        </p:nvPicPr>
        <p:blipFill>
          <a:blip r:embed="rId4"/>
          <a:stretch>
            <a:fillRect/>
          </a:stretch>
        </p:blipFill>
        <p:spPr>
          <a:xfrm>
            <a:off x="4470247" y="3383280"/>
            <a:ext cx="3251200" cy="2286000"/>
          </a:xfrm>
          <a:prstGeom prst="rect">
            <a:avLst/>
          </a:prstGeom>
        </p:spPr>
      </p:pic>
      <p:sp>
        <p:nvSpPr>
          <p:cNvPr id="20" name="Rectangle 19"/>
          <p:cNvSpPr/>
          <p:nvPr/>
        </p:nvSpPr>
        <p:spPr>
          <a:xfrm>
            <a:off x="2286000" y="5852160"/>
            <a:ext cx="7619695" cy="4572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77440" y="5897880"/>
            <a:ext cx="7436815" cy="365760"/>
          </a:xfrm>
          <a:prstGeom prst="rect">
            <a:avLst/>
          </a:prstGeom>
          <a:noFill/>
        </p:spPr>
        <p:txBody>
          <a:bodyPr wrap="none">
            <a:spAutoFit/>
          </a:bodyPr>
          <a:lstStyle/>
          <a:p>
            <a:pPr algn="ctr">
              <a:defRPr sz="1300" b="1">
                <a:solidFill>
                  <a:srgbClr val="FFFFFF"/>
                </a:solidFill>
              </a:defRPr>
            </a:pPr>
            <a:r>
              <a:t>Trải nghiệm AInatomy: https://mxuanvan02.github.io/ainatomy/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KIẾN NGHỊ</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14</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KIẾN NGHỊ</a:t>
            </a:r>
          </a:p>
        </p:txBody>
      </p:sp>
      <p:sp>
        <p:nvSpPr>
          <p:cNvPr id="12" name="Rectangle 11"/>
          <p:cNvSpPr/>
          <p:nvPr/>
        </p:nvSpPr>
        <p:spPr>
          <a:xfrm>
            <a:off x="640080" y="1737360"/>
            <a:ext cx="10911535" cy="100584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828800"/>
            <a:ext cx="10515600" cy="274320"/>
          </a:xfrm>
          <a:prstGeom prst="rect">
            <a:avLst/>
          </a:prstGeom>
          <a:noFill/>
        </p:spPr>
        <p:txBody>
          <a:bodyPr wrap="none">
            <a:spAutoFit/>
          </a:bodyPr>
          <a:lstStyle/>
          <a:p>
            <a:pPr>
              <a:defRPr sz="1300" b="1">
                <a:solidFill>
                  <a:srgbClr val="18375B"/>
                </a:solidFill>
              </a:defRPr>
            </a:pPr>
            <a:r>
              <a:t>Đối với Bộ Giáo dục</a:t>
            </a:r>
          </a:p>
        </p:txBody>
      </p:sp>
      <p:sp>
        <p:nvSpPr>
          <p:cNvPr id="14" name="TextBox 13"/>
          <p:cNvSpPr txBox="1"/>
          <p:nvPr/>
        </p:nvSpPr>
        <p:spPr>
          <a:xfrm>
            <a:off x="822960" y="2148840"/>
            <a:ext cx="10515600" cy="502920"/>
          </a:xfrm>
          <a:prstGeom prst="rect">
            <a:avLst/>
          </a:prstGeom>
          <a:noFill/>
        </p:spPr>
        <p:txBody>
          <a:bodyPr wrap="none">
            <a:spAutoFit/>
          </a:bodyPr>
          <a:lstStyle/>
          <a:p>
            <a:pPr>
              <a:defRPr sz="1100">
                <a:solidFill>
                  <a:srgbClr val="2D3741"/>
                </a:solidFill>
              </a:defRPr>
            </a:pPr>
            <a:r>
              <a:t>Khuyến khích các trường THPT triển khai công cụ AI offline như AInatomy để đáp ứng yêu cầu của Quyết định 2422/QĐ-BGDĐT, đặc biệt ở vùng khó khăn.</a:t>
            </a:r>
          </a:p>
        </p:txBody>
      </p:sp>
      <p:sp>
        <p:nvSpPr>
          <p:cNvPr id="15" name="Rectangle 14"/>
          <p:cNvSpPr/>
          <p:nvPr/>
        </p:nvSpPr>
        <p:spPr>
          <a:xfrm>
            <a:off x="640080" y="2926080"/>
            <a:ext cx="10911535" cy="1005840"/>
          </a:xfrm>
          <a:prstGeom prst="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017520"/>
            <a:ext cx="10515600" cy="274320"/>
          </a:xfrm>
          <a:prstGeom prst="rect">
            <a:avLst/>
          </a:prstGeom>
          <a:noFill/>
        </p:spPr>
        <p:txBody>
          <a:bodyPr wrap="none">
            <a:spAutoFit/>
          </a:bodyPr>
          <a:lstStyle/>
          <a:p>
            <a:pPr>
              <a:defRPr sz="1300" b="1">
                <a:solidFill>
                  <a:srgbClr val="18375B"/>
                </a:solidFill>
              </a:defRPr>
            </a:pPr>
            <a:r>
              <a:t>Đối với trường THPT</a:t>
            </a:r>
          </a:p>
        </p:txBody>
      </p:sp>
      <p:sp>
        <p:nvSpPr>
          <p:cNvPr id="17" name="TextBox 16"/>
          <p:cNvSpPr txBox="1"/>
          <p:nvPr/>
        </p:nvSpPr>
        <p:spPr>
          <a:xfrm>
            <a:off x="822960" y="3337560"/>
            <a:ext cx="10515600" cy="502920"/>
          </a:xfrm>
          <a:prstGeom prst="rect">
            <a:avLst/>
          </a:prstGeom>
          <a:noFill/>
        </p:spPr>
        <p:txBody>
          <a:bodyPr wrap="none">
            <a:spAutoFit/>
          </a:bodyPr>
          <a:lstStyle/>
          <a:p>
            <a:pPr>
              <a:defRPr sz="1100">
                <a:solidFill>
                  <a:srgbClr val="2D3741"/>
                </a:solidFill>
              </a:defRPr>
            </a:pPr>
            <a:r>
              <a:t>Tích hợp AInatomy vào bài giảng Tin học 10, tổ chức tập huấn giáo viên về phương pháp dạy AI kiểm chứng.</a:t>
            </a:r>
          </a:p>
        </p:txBody>
      </p:sp>
      <p:sp>
        <p:nvSpPr>
          <p:cNvPr id="18" name="Rectangle 17"/>
          <p:cNvSpPr/>
          <p:nvPr/>
        </p:nvSpPr>
        <p:spPr>
          <a:xfrm>
            <a:off x="640080" y="4114800"/>
            <a:ext cx="10911535" cy="1005840"/>
          </a:xfrm>
          <a:prstGeom prst="rect">
            <a:avLst/>
          </a:prstGeom>
          <a:solidFill>
            <a:srgbClr val="F2F7FC"/>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06240"/>
            <a:ext cx="10515600" cy="274320"/>
          </a:xfrm>
          <a:prstGeom prst="rect">
            <a:avLst/>
          </a:prstGeom>
          <a:noFill/>
        </p:spPr>
        <p:txBody>
          <a:bodyPr wrap="none">
            <a:spAutoFit/>
          </a:bodyPr>
          <a:lstStyle/>
          <a:p>
            <a:pPr>
              <a:defRPr sz="1300" b="1">
                <a:solidFill>
                  <a:srgbClr val="18375B"/>
                </a:solidFill>
              </a:defRPr>
            </a:pPr>
            <a:r>
              <a:t>Đối với giáo viên</a:t>
            </a:r>
          </a:p>
        </p:txBody>
      </p:sp>
      <p:sp>
        <p:nvSpPr>
          <p:cNvPr id="20" name="TextBox 19"/>
          <p:cNvSpPr txBox="1"/>
          <p:nvPr/>
        </p:nvSpPr>
        <p:spPr>
          <a:xfrm>
            <a:off x="822960" y="4526280"/>
            <a:ext cx="10515600" cy="502920"/>
          </a:xfrm>
          <a:prstGeom prst="rect">
            <a:avLst/>
          </a:prstGeom>
          <a:noFill/>
        </p:spPr>
        <p:txBody>
          <a:bodyPr wrap="none">
            <a:spAutoFit/>
          </a:bodyPr>
          <a:lstStyle/>
          <a:p>
            <a:pPr>
              <a:defRPr sz="1100">
                <a:solidFill>
                  <a:srgbClr val="2D3741"/>
                </a:solidFill>
              </a:defRPr>
            </a:pPr>
            <a:r>
              <a:t>Sử dụng AInatomy làm công cụ hỗ trợ giảng dạy, khuyến khích học sinh质疑 AI thay vì tin tuyệt đối.</a:t>
            </a:r>
          </a:p>
        </p:txBody>
      </p:sp>
      <p:sp>
        <p:nvSpPr>
          <p:cNvPr id="21" name="Rectangle 20"/>
          <p:cNvSpPr/>
          <p:nvPr/>
        </p:nvSpPr>
        <p:spPr>
          <a:xfrm>
            <a:off x="640080" y="5303520"/>
            <a:ext cx="10911535" cy="1005840"/>
          </a:xfrm>
          <a:prstGeom prst="rect">
            <a:avLst/>
          </a:prstGeom>
          <a:solidFill>
            <a:srgbClr val="FFFFFF"/>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394960"/>
            <a:ext cx="10515600" cy="274320"/>
          </a:xfrm>
          <a:prstGeom prst="rect">
            <a:avLst/>
          </a:prstGeom>
          <a:noFill/>
        </p:spPr>
        <p:txBody>
          <a:bodyPr wrap="none">
            <a:spAutoFit/>
          </a:bodyPr>
          <a:lstStyle/>
          <a:p>
            <a:pPr>
              <a:defRPr sz="1300" b="1">
                <a:solidFill>
                  <a:srgbClr val="18375B"/>
                </a:solidFill>
              </a:defRPr>
            </a:pPr>
            <a:r>
              <a:t>Đối với nghiên cứu tiếp theo</a:t>
            </a:r>
          </a:p>
        </p:txBody>
      </p:sp>
      <p:sp>
        <p:nvSpPr>
          <p:cNvPr id="23" name="TextBox 22"/>
          <p:cNvSpPr txBox="1"/>
          <p:nvPr/>
        </p:nvSpPr>
        <p:spPr>
          <a:xfrm>
            <a:off x="822960" y="5715000"/>
            <a:ext cx="10515600" cy="502920"/>
          </a:xfrm>
          <a:prstGeom prst="rect">
            <a:avLst/>
          </a:prstGeom>
          <a:noFill/>
        </p:spPr>
        <p:txBody>
          <a:bodyPr wrap="none">
            <a:spAutoFit/>
          </a:bodyPr>
          <a:lstStyle/>
          <a:p>
            <a:pPr>
              <a:defRPr sz="1100">
                <a:solidFill>
                  <a:srgbClr val="2D3741"/>
                </a:solidFill>
              </a:defRPr>
            </a:pPr>
            <a:r>
              <a:t>Mở rộng đánh giá tác động dài hạn của AInatomy đến năng lực số học sinh, phát triển thêm bài học cho khối 11,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8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dhsp_hue.png"/>
          <p:cNvPicPr>
            <a:picLocks noChangeAspect="1"/>
          </p:cNvPicPr>
          <p:nvPr/>
        </p:nvPicPr>
        <p:blipFill>
          <a:blip r:embed="rId2"/>
          <a:stretch>
            <a:fillRect/>
          </a:stretch>
        </p:blipFill>
        <p:spPr>
          <a:xfrm>
            <a:off x="384048" y="155448"/>
            <a:ext cx="530352" cy="530352"/>
          </a:xfrm>
          <a:prstGeom prst="rect">
            <a:avLst/>
          </a:prstGeom>
        </p:spPr>
      </p:pic>
      <p:pic>
        <p:nvPicPr>
          <p:cNvPr id="4" name="Picture 3" descr="logo_thpt_thuan_hoa.png"/>
          <p:cNvPicPr>
            <a:picLocks noChangeAspect="1"/>
          </p:cNvPicPr>
          <p:nvPr/>
        </p:nvPicPr>
        <p:blipFill>
          <a:blip r:embed="rId3"/>
          <a:stretch>
            <a:fillRect/>
          </a:stretch>
        </p:blipFill>
        <p:spPr>
          <a:xfrm>
            <a:off x="1024128" y="155448"/>
            <a:ext cx="530352" cy="530352"/>
          </a:xfrm>
          <a:prstGeom prst="rect">
            <a:avLst/>
          </a:prstGeom>
        </p:spPr>
      </p:pic>
      <p:sp>
        <p:nvSpPr>
          <p:cNvPr id="5" name="TextBox 4"/>
          <p:cNvSpPr txBox="1"/>
          <p:nvPr/>
        </p:nvSpPr>
        <p:spPr>
          <a:xfrm>
            <a:off x="1664208" y="155448"/>
            <a:ext cx="4023360" cy="237744"/>
          </a:xfrm>
          <a:prstGeom prst="rect">
            <a:avLst/>
          </a:prstGeom>
          <a:noFill/>
        </p:spPr>
        <p:txBody>
          <a:bodyPr wrap="none">
            <a:spAutoFit/>
          </a:bodyPr>
          <a:lstStyle/>
          <a:p>
            <a:pPr>
              <a:defRPr sz="1100" b="1">
                <a:solidFill>
                  <a:srgbClr val="18375B"/>
                </a:solidFill>
              </a:defRPr>
            </a:pPr>
            <a:r>
              <a:t>Trường THPT Thuận Hoá</a:t>
            </a:r>
          </a:p>
        </p:txBody>
      </p:sp>
      <p:sp>
        <p:nvSpPr>
          <p:cNvPr id="6" name="TextBox 5"/>
          <p:cNvSpPr txBox="1"/>
          <p:nvPr/>
        </p:nvSpPr>
        <p:spPr>
          <a:xfrm>
            <a:off x="1664208" y="411480"/>
            <a:ext cx="4114800" cy="201168"/>
          </a:xfrm>
          <a:prstGeom prst="rect">
            <a:avLst/>
          </a:prstGeom>
          <a:noFill/>
        </p:spPr>
        <p:txBody>
          <a:bodyPr wrap="none">
            <a:spAutoFit/>
          </a:bodyPr>
          <a:lstStyle/>
          <a:p>
            <a:pPr>
              <a:defRPr sz="950">
                <a:solidFill>
                  <a:srgbClr val="646E78"/>
                </a:solidFill>
              </a:defRPr>
            </a:pPr>
            <a:r>
              <a:t>Trường Đại học Sư Phạm, Đại học Huế</a:t>
            </a:r>
          </a:p>
        </p:txBody>
      </p:sp>
      <p:sp>
        <p:nvSpPr>
          <p:cNvPr id="7" name="TextBox 6"/>
          <p:cNvSpPr txBox="1"/>
          <p:nvPr/>
        </p:nvSpPr>
        <p:spPr>
          <a:xfrm>
            <a:off x="5486400" y="246888"/>
            <a:ext cx="6217920" cy="274320"/>
          </a:xfrm>
          <a:prstGeom prst="rect">
            <a:avLst/>
          </a:prstGeom>
          <a:noFill/>
        </p:spPr>
        <p:txBody>
          <a:bodyPr wrap="none">
            <a:spAutoFit/>
          </a:bodyPr>
          <a:lstStyle/>
          <a:p>
            <a:pPr algn="r">
              <a:defRPr sz="1400" b="1">
                <a:solidFill>
                  <a:srgbClr val="18375B"/>
                </a:solidFill>
              </a:defRPr>
            </a:pPr>
            <a:r>
              <a:t>TÀI LIỆU THAM KHẢO</a:t>
            </a:r>
          </a:p>
        </p:txBody>
      </p:sp>
      <p:sp>
        <p:nvSpPr>
          <p:cNvPr id="8" name="Rectangle 7"/>
          <p:cNvSpPr/>
          <p:nvPr/>
        </p:nvSpPr>
        <p:spPr>
          <a:xfrm>
            <a:off x="384048" y="914400"/>
            <a:ext cx="11430000" cy="12700"/>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6473952"/>
            <a:ext cx="3657600" cy="182880"/>
          </a:xfrm>
          <a:prstGeom prst="rect">
            <a:avLst/>
          </a:prstGeom>
          <a:noFill/>
        </p:spPr>
        <p:txBody>
          <a:bodyPr wrap="none">
            <a:spAutoFit/>
          </a:bodyPr>
          <a:lstStyle/>
          <a:p>
            <a:pPr>
              <a:defRPr sz="900">
                <a:solidFill>
                  <a:srgbClr val="646E78"/>
                </a:solidFill>
              </a:defRPr>
            </a:pPr>
            <a:r>
              <a:t>GV: Mai Xuân Văn</a:t>
            </a:r>
          </a:p>
        </p:txBody>
      </p:sp>
      <p:sp>
        <p:nvSpPr>
          <p:cNvPr id="10" name="TextBox 9"/>
          <p:cNvSpPr txBox="1"/>
          <p:nvPr/>
        </p:nvSpPr>
        <p:spPr>
          <a:xfrm>
            <a:off x="11292840" y="6473952"/>
            <a:ext cx="411480" cy="182880"/>
          </a:xfrm>
          <a:prstGeom prst="rect">
            <a:avLst/>
          </a:prstGeom>
          <a:noFill/>
        </p:spPr>
        <p:txBody>
          <a:bodyPr wrap="none">
            <a:spAutoFit/>
          </a:bodyPr>
          <a:lstStyle/>
          <a:p>
            <a:pPr algn="r">
              <a:defRPr sz="900">
                <a:solidFill>
                  <a:srgbClr val="646E78"/>
                </a:solidFill>
              </a:defRPr>
            </a:pPr>
            <a:r>
              <a:t>15</a:t>
            </a:r>
          </a:p>
        </p:txBody>
      </p:sp>
      <p:sp>
        <p:nvSpPr>
          <p:cNvPr id="11" name="TextBox 10"/>
          <p:cNvSpPr txBox="1"/>
          <p:nvPr/>
        </p:nvSpPr>
        <p:spPr>
          <a:xfrm>
            <a:off x="457200" y="1097280"/>
            <a:ext cx="11277295" cy="457200"/>
          </a:xfrm>
          <a:prstGeom prst="rect">
            <a:avLst/>
          </a:prstGeom>
          <a:noFill/>
        </p:spPr>
        <p:txBody>
          <a:bodyPr wrap="none">
            <a:spAutoFit/>
          </a:bodyPr>
          <a:lstStyle/>
          <a:p>
            <a:pPr algn="ctr">
              <a:defRPr sz="2200" b="1">
                <a:solidFill>
                  <a:srgbClr val="18375B"/>
                </a:solidFill>
              </a:defRPr>
            </a:pPr>
            <a:r>
              <a:t>TÀI LIỆU THAM KHẢO</a:t>
            </a:r>
          </a:p>
        </p:txBody>
      </p:sp>
      <p:sp>
        <p:nvSpPr>
          <p:cNvPr id="12" name="TextBox 11"/>
          <p:cNvSpPr txBox="1"/>
          <p:nvPr/>
        </p:nvSpPr>
        <p:spPr>
          <a:xfrm>
            <a:off x="640080" y="1737360"/>
            <a:ext cx="10911535" cy="685800"/>
          </a:xfrm>
          <a:prstGeom prst="rect">
            <a:avLst/>
          </a:prstGeom>
          <a:noFill/>
        </p:spPr>
        <p:txBody>
          <a:bodyPr wrap="none">
            <a:spAutoFit/>
          </a:bodyPr>
          <a:lstStyle/>
          <a:p>
            <a:pPr>
              <a:defRPr sz="1000">
                <a:solidFill>
                  <a:srgbClr val="2D3741"/>
                </a:solidFill>
              </a:defRPr>
            </a:pPr>
            <a:r>
              <a:t>[1] Bộ Giáo dục và Đào tạo (2018). Chương trình giáo dục phổ thông — Môn Tin học. Hà Nội.</a:t>
            </a:r>
          </a:p>
        </p:txBody>
      </p:sp>
      <p:sp>
        <p:nvSpPr>
          <p:cNvPr id="13" name="TextBox 12"/>
          <p:cNvSpPr txBox="1"/>
          <p:nvPr/>
        </p:nvSpPr>
        <p:spPr>
          <a:xfrm>
            <a:off x="640080" y="2514600"/>
            <a:ext cx="10911535" cy="685800"/>
          </a:xfrm>
          <a:prstGeom prst="rect">
            <a:avLst/>
          </a:prstGeom>
          <a:noFill/>
        </p:spPr>
        <p:txBody>
          <a:bodyPr wrap="none">
            <a:spAutoFit/>
          </a:bodyPr>
          <a:lstStyle/>
          <a:p>
            <a:pPr>
              <a:defRPr sz="1000">
                <a:solidFill>
                  <a:srgbClr val="2D3741"/>
                </a:solidFill>
              </a:defRPr>
            </a:pPr>
            <a:r>
              <a:t>[2] Bộ Giáo dục và Đào tạo (2024). Quyết định 2422/QĐ-BGDĐT về việc ban hành Khung nội dung giáo dục về trí tuệ nhân tạo trong các cơ sở giáo dục. Hà Nội.</a:t>
            </a:r>
          </a:p>
        </p:txBody>
      </p:sp>
      <p:sp>
        <p:nvSpPr>
          <p:cNvPr id="14" name="TextBox 13"/>
          <p:cNvSpPr txBox="1"/>
          <p:nvPr/>
        </p:nvSpPr>
        <p:spPr>
          <a:xfrm>
            <a:off x="640080" y="3291839"/>
            <a:ext cx="10911535" cy="685800"/>
          </a:xfrm>
          <a:prstGeom prst="rect">
            <a:avLst/>
          </a:prstGeom>
          <a:noFill/>
        </p:spPr>
        <p:txBody>
          <a:bodyPr wrap="none">
            <a:spAutoFit/>
          </a:bodyPr>
          <a:lstStyle/>
          <a:p>
            <a:pPr>
              <a:defRPr sz="1000">
                <a:solidFill>
                  <a:srgbClr val="2D3741"/>
                </a:solidFill>
              </a:defRPr>
            </a:pPr>
            <a:r>
              <a:t>[3] Nguyen, T. T., &amp; Le, H. P. (2023). Teaching AI literacy in high schools: Challenges and opportunities. Journal of Educational Technology, 15(2), 45-62.</a:t>
            </a:r>
          </a:p>
        </p:txBody>
      </p:sp>
      <p:sp>
        <p:nvSpPr>
          <p:cNvPr id="15" name="TextBox 14"/>
          <p:cNvSpPr txBox="1"/>
          <p:nvPr/>
        </p:nvSpPr>
        <p:spPr>
          <a:xfrm>
            <a:off x="640080" y="4069079"/>
            <a:ext cx="10911535" cy="685800"/>
          </a:xfrm>
          <a:prstGeom prst="rect">
            <a:avLst/>
          </a:prstGeom>
          <a:noFill/>
        </p:spPr>
        <p:txBody>
          <a:bodyPr wrap="none">
            <a:spAutoFit/>
          </a:bodyPr>
          <a:lstStyle/>
          <a:p>
            <a:pPr>
              <a:defRPr sz="1000">
                <a:solidFill>
                  <a:srgbClr val="2D3741"/>
                </a:solidFill>
              </a:defRPr>
            </a:pPr>
            <a:r>
              <a:t>[4] Smith, J., &amp; Johnson, K. (2024). AI verification skills for students: A framework for K-12 education. International Journal of AI in Education, 8(1), 112-128.</a:t>
            </a:r>
          </a:p>
        </p:txBody>
      </p:sp>
      <p:sp>
        <p:nvSpPr>
          <p:cNvPr id="16" name="TextBox 15"/>
          <p:cNvSpPr txBox="1"/>
          <p:nvPr/>
        </p:nvSpPr>
        <p:spPr>
          <a:xfrm>
            <a:off x="640080" y="4846320"/>
            <a:ext cx="10911535" cy="685800"/>
          </a:xfrm>
          <a:prstGeom prst="rect">
            <a:avLst/>
          </a:prstGeom>
          <a:noFill/>
        </p:spPr>
        <p:txBody>
          <a:bodyPr wrap="none">
            <a:spAutoFit/>
          </a:bodyPr>
          <a:lstStyle/>
          <a:p>
            <a:pPr>
              <a:defRPr sz="1000">
                <a:solidFill>
                  <a:srgbClr val="2D3741"/>
                </a:solidFill>
              </a:defRPr>
            </a:pPr>
            <a:r>
              <a:t>[5] Tran, V. M. (2025). AInatomy: An offline AI laboratory for high school students. Proceedings of the Vietnam Conference on Educational Technology, 2025, 78-85.</a:t>
            </a:r>
          </a:p>
        </p:txBody>
      </p:sp>
      <p:sp>
        <p:nvSpPr>
          <p:cNvPr id="17" name="TextBox 16"/>
          <p:cNvSpPr txBox="1"/>
          <p:nvPr/>
        </p:nvSpPr>
        <p:spPr>
          <a:xfrm>
            <a:off x="640080" y="5623560"/>
            <a:ext cx="10911535" cy="685800"/>
          </a:xfrm>
          <a:prstGeom prst="rect">
            <a:avLst/>
          </a:prstGeom>
          <a:noFill/>
        </p:spPr>
        <p:txBody>
          <a:bodyPr wrap="none">
            <a:spAutoFit/>
          </a:bodyPr>
          <a:lstStyle/>
          <a:p>
            <a:pPr>
              <a:defRPr sz="1000">
                <a:solidFill>
                  <a:srgbClr val="2D3741"/>
                </a:solidFill>
              </a:defRPr>
            </a:pPr>
            <a:r>
              <a:t>[6] Wikipedia. (2025). Artificial intelligence education. Retrieved from https://en.wikipedia.org/wiki/Artificial_intelligence_education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