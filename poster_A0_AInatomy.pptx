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720000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2160000" cy="2160000"/>
          </a:xfrm>
          <a:prstGeom prst="rect">
            <a:avLst/>
          </a:prstGeom>
        </p:spPr>
      </p:pic>
      <p:pic>
        <p:nvPicPr>
          <p:cNvPr id="4" name="Picture 3" descr="logo_thpt_thuan_ho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0" y="720000"/>
            <a:ext cx="2160000" cy="21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0000" y="720000"/>
            <a:ext cx="230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TRƯỜNG ĐẠI HỌC SƯ PHẠM, ĐẠI HỌC HUẾ — TRƯỜNG THPT THUẬN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240000"/>
            <a:ext cx="28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THUYẾT MINH ĐỀ CƯƠNG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680000"/>
            <a:ext cx="288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3992A"/>
                </a:solidFill>
              </a:defRPr>
            </a:pPr>
            <a:r>
              <a:t>XÂY DỰNG PHÒNG THÍ NGHIỆM AI OFFLINE (AINATOMY)</a:t>
            </a:r>
            <a:br/>
            <a:r>
              <a:t>NHẰM PHÁT TRIỂN NĂNG LỰC KIỂM CHỨNG AI CHO HỌC SINH THPT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6480000"/>
            <a:ext cx="28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GV thực hiện: Mai Xuân Văn    |    Năm học: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7920000"/>
            <a:ext cx="28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75B"/>
                </a:solidFill>
              </a:defRPr>
            </a:pPr>
            <a:r>
              <a:t>1. BỐI CẢNH &amp; VẤN ĐỀ NGHIÊN CỨU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9000000"/>
            <a:ext cx="28800000" cy="144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0000" y="9180000"/>
            <a:ext cx="1080000" cy="10800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9180000"/>
            <a:ext cx="26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B"/>
                </a:solidFill>
              </a:defRPr>
            </a:pPr>
            <a:r>
              <a:t>Chính sách giáo dục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9720000"/>
            <a:ext cx="26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1"/>
                </a:solidFill>
              </a:defRPr>
            </a:pPr>
            <a:r>
              <a:t>QĐ 2422/QĐ-BGDĐT yêu cầu 12 tiết/năm cho giáo dục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10620000"/>
            <a:ext cx="28800000" cy="144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0000" y="10800000"/>
            <a:ext cx="1080000" cy="10800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10800000"/>
            <a:ext cx="26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B"/>
                </a:solidFill>
              </a:defRPr>
            </a:pPr>
            <a:r>
              <a:t>Thách thức hạ tầng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0" y="11340000"/>
            <a:ext cx="26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1"/>
                </a:solidFill>
              </a:defRPr>
            </a:pPr>
            <a:r>
              <a:t>Phòng máy yếu, internet không ổn định ở vùng khó khăn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2240000"/>
            <a:ext cx="28800000" cy="144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0000" y="12420000"/>
            <a:ext cx="1080000" cy="10800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0000" y="12420000"/>
            <a:ext cx="26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B"/>
                </a:solidFill>
              </a:defRPr>
            </a:pPr>
            <a:r>
              <a:t>Khoảng trống năng lực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00" y="12960000"/>
            <a:ext cx="262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1"/>
                </a:solidFill>
              </a:defRPr>
            </a:pPr>
            <a:r>
              <a:t>Học sinh thiếu kỹ năng kiểm chứng đầu ra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15120000"/>
            <a:ext cx="28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75B"/>
                </a:solidFill>
              </a:defRPr>
            </a:pPr>
            <a:r>
              <a:t>2. GIẢI PHÁP: AINATOMY — PHÒNG THÍ NGHIỆM AI OFFLINE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" y="16092000"/>
            <a:ext cx="29015999" cy="5616000"/>
          </a:xfrm>
          <a:prstGeom prst="rect">
            <a:avLst/>
          </a:prstGeom>
          <a:solidFill>
            <a:srgbClr val="F2F7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-trang-c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0000" y="16200000"/>
            <a:ext cx="7680000" cy="5400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0000" y="21960000"/>
            <a:ext cx="9000000" cy="180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2214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B"/>
                </a:solidFill>
              </a:defRPr>
            </a:pPr>
            <a:r>
              <a:t>Nhà máy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" y="2286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741"/>
                </a:solidFill>
              </a:defRPr>
            </a:pPr>
            <a:r>
              <a:t>Dây chuyền 4 tầng: Thu thập → Huấn luyện → Triển khai → Đánh giá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40000" y="21960000"/>
            <a:ext cx="9000000" cy="180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20000" y="2214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B"/>
                </a:solidFill>
              </a:defRPr>
            </a:pPr>
            <a:r>
              <a:t>Đấu trường bắt lỗi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0000" y="2286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741"/>
                </a:solidFill>
              </a:defRPr>
            </a:pPr>
            <a:r>
              <a:t>Học sinh kiểm tra và phát hiện lỗi trong đầu ra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60000" y="21960000"/>
            <a:ext cx="9000000" cy="180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340000" y="2214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B"/>
                </a:solidFill>
              </a:defRPr>
            </a:pPr>
            <a:r>
              <a:t>Bản đồ năng lực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40000" y="2286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741"/>
                </a:solidFill>
              </a:defRPr>
            </a:pPr>
            <a:r>
              <a:t>Dashboard theo dõi tiến độ và điểm mạnh/yếu của học sinh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24120000"/>
            <a:ext cx="28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75B"/>
                </a:solidFill>
              </a:defRPr>
            </a:pPr>
            <a:r>
              <a:t>3. KẾT QUẢ &amp; TÁC ĐỘNG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25200000"/>
            <a:ext cx="6840000" cy="3600000"/>
          </a:xfrm>
          <a:prstGeom prst="rect">
            <a:avLst/>
          </a:prstGeom>
          <a:solidFill>
            <a:srgbClr val="F2F7FC"/>
          </a:solidFill>
          <a:ln w="381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" y="255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8B5D"/>
                </a:solidFill>
              </a:defRPr>
            </a:pPr>
            <a:r>
              <a:t>28/28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000" y="26640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375B"/>
                </a:solidFill>
              </a:defRPr>
            </a:pPr>
            <a:r>
              <a:t>YCCĐ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000" y="273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1"/>
                </a:solidFill>
              </a:defRPr>
            </a:pPr>
            <a:r>
              <a:t>Bám sát chương trình Tin học 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0000" y="25200000"/>
            <a:ext cx="6840000" cy="3600000"/>
          </a:xfrm>
          <a:prstGeom prst="rect">
            <a:avLst/>
          </a:prstGeom>
          <a:solidFill>
            <a:srgbClr val="F2F7FC"/>
          </a:solidFill>
          <a:ln w="381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0000" y="255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8B5D"/>
                </a:solidFill>
              </a:defRPr>
            </a:pPr>
            <a:r>
              <a:t>97/97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0" y="26640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375B"/>
                </a:solidFill>
              </a:defRPr>
            </a:pPr>
            <a:r>
              <a:t>ĐẠT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0000" y="273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1"/>
                </a:solidFill>
              </a:defRPr>
            </a:pPr>
            <a:r>
              <a:t>Kiểm thử tự động — mọi bài học hoạt động đúng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80000" y="25200000"/>
            <a:ext cx="6840000" cy="3600000"/>
          </a:xfrm>
          <a:prstGeom prst="rect">
            <a:avLst/>
          </a:prstGeom>
          <a:solidFill>
            <a:srgbClr val="F2F7FC"/>
          </a:solidFill>
          <a:ln w="381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660000" y="255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8B5D"/>
                </a:solidFill>
              </a:defRPr>
            </a:pPr>
            <a: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60000" y="26640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375B"/>
                </a:solidFill>
              </a:defRPr>
            </a:pPr>
            <a:r>
              <a:t>OFFLINE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60000" y="273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1"/>
                </a:solidFill>
              </a:defRPr>
            </a:pPr>
            <a:r>
              <a:t>Không cần internet, không cần tài khoản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0" y="25200000"/>
            <a:ext cx="6840000" cy="3600000"/>
          </a:xfrm>
          <a:prstGeom prst="rect">
            <a:avLst/>
          </a:prstGeom>
          <a:solidFill>
            <a:srgbClr val="F2F7FC"/>
          </a:solidFill>
          <a:ln w="3810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040000" y="255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8B5D"/>
                </a:solidFill>
              </a:defRPr>
            </a:pPr>
            <a:r>
              <a:t>3D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40000" y="26640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375B"/>
                </a:solidFill>
              </a:defRPr>
            </a:pPr>
            <a:r>
              <a:t>MÔ PHỎNG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040000" y="2736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1"/>
                </a:solidFill>
              </a:defRPr>
            </a:pPr>
            <a:r>
              <a:t>Trực quan hóa quy trình AI bằng Three.js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29160000"/>
            <a:ext cx="28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B"/>
                </a:solidFill>
              </a:defRPr>
            </a:pPr>
            <a:r>
              <a:t>TÁC ĐỘNG ĐẾN HỌC SINH: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000" y="29880000"/>
            <a:ext cx="28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1"/>
                </a:solidFill>
              </a:defRPr>
            </a:pPr>
            <a:r>
              <a:t>✓ Phát triển năng lực kiểm chứng AI: nhận diện lỗi, đánh giá độ tin cậy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000" y="30600000"/>
            <a:ext cx="28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1"/>
                </a:solidFill>
              </a:defRPr>
            </a:pPr>
            <a:r>
              <a:t>✓ Hiểu quy trình AI từ đầu đến cuối: không còn coi AI là hộp đen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000" y="31320000"/>
            <a:ext cx="28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1"/>
                </a:solidFill>
              </a:defRPr>
            </a:pPr>
            <a:r>
              <a:t>✓ Tự tin sử dụng AI có trách nhiệm: biết khi nào nên dùng, khi nào cần kiểm tra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00" y="33120000"/>
            <a:ext cx="28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75B"/>
                </a:solidFill>
              </a:defRPr>
            </a:pPr>
            <a:r>
              <a:t>4. TÍNH BỀN VỮNG &amp; KHẢ NĂNG NHÂN RỘNG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34200000"/>
            <a:ext cx="9000000" cy="360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000" y="3438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B"/>
                </a:solidFill>
              </a:defRPr>
            </a:pPr>
            <a:r>
              <a:t>Bền vững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000" y="3510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Chạy offline, không phụ thuộc internet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000" y="35892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Tương thích máy tính cấu hình thấp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000" y="36684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Mã nguồn mở, cộng đồng bảo trì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40000" y="34200000"/>
            <a:ext cx="9000000" cy="360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20000" y="3438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B"/>
                </a:solidFill>
              </a:defRPr>
            </a:pPr>
            <a:r>
              <a:t>Nhân rộng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20000" y="3510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Mọi trường THPT đều triển khai được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20000" y="35892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Không cần đào tạo phức tạp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20000" y="36684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Dễ dàng tích hợp vào bài giảng hiện có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60000" y="34200000"/>
            <a:ext cx="9000000" cy="3600000"/>
          </a:xfrm>
          <a:prstGeom prst="rect">
            <a:avLst/>
          </a:prstGeom>
          <a:solidFill>
            <a:srgbClr val="F2F7FC"/>
          </a:solidFill>
          <a:ln w="254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340000" y="3438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B"/>
                </a:solidFill>
              </a:defRPr>
            </a:pPr>
            <a:r>
              <a:t>Phát triển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340000" y="3510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Thêm bài học AI nâng cao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340000" y="35892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Tích hợp công cụ AI thực tế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340000" y="36684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• Nghiên cứu tác động dài hạn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38520000"/>
            <a:ext cx="30275999" cy="428400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0000" y="38880000"/>
            <a:ext cx="28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3992A"/>
                </a:solidFill>
              </a:defRPr>
            </a:pPr>
            <a:r>
              <a:t>TRẢI NGHIỆM AINATOMY: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0000" y="39780000"/>
            <a:ext cx="28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https://mxuanvan02.github.io/ainatomy/</a:t>
            </a:r>
          </a:p>
        </p:txBody>
      </p:sp>
      <p:pic>
        <p:nvPicPr>
          <p:cNvPr id="74" name="Picture 73" descr="qr_ainatom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0000" y="40680000"/>
            <a:ext cx="5040000" cy="5040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20000" y="41040000"/>
            <a:ext cx="28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GV: Mai Xuân Văn    |    Trường THPT Thuận Hoá, Đại học Sư Phạm Huế    |    Năm học: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