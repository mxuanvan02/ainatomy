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</p:sldIdLst>
  <p:sldSz cx="30276800" cy="42799000"/>
  <p:notesSz cx="6858000" cy="9144000"/>
  <p:embeddedFontLst>
    <p:embeddedFont>
      <p:font typeface="Aptos Bold" charset="1" panose="020B0004020202020204"/>
      <p:regular r:id="rId7"/>
    </p:embeddedFont>
    <p:embeddedFont>
      <p:font typeface="Aptos" charset="1" panose="020B0004020202020204"/>
      <p:regular r:id="rId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font" Target="fonts/font7.fntdata"/><Relationship Id="rId8" Type="http://schemas.openxmlformats.org/officeDocument/2006/relationships/font" Target="fonts/font8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792090" y="10112792"/>
            <a:ext cx="26764953" cy="31129009"/>
            <a:chOff x="0" y="0"/>
            <a:chExt cx="2395137" cy="278566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95137" cy="2785667"/>
            </a:xfrm>
            <a:custGeom>
              <a:avLst/>
              <a:gdLst/>
              <a:ahLst/>
              <a:cxnLst/>
              <a:rect r="r" b="b" t="t" l="l"/>
              <a:pathLst>
                <a:path h="2785667" w="2395137">
                  <a:moveTo>
                    <a:pt x="0" y="0"/>
                  </a:moveTo>
                  <a:lnTo>
                    <a:pt x="2395137" y="0"/>
                  </a:lnTo>
                  <a:lnTo>
                    <a:pt x="2395137" y="2785667"/>
                  </a:lnTo>
                  <a:lnTo>
                    <a:pt x="0" y="2785667"/>
                  </a:lnTo>
                  <a:close/>
                </a:path>
              </a:pathLst>
            </a:custGeom>
            <a:ln w="95250" cap="sq">
              <a:solidFill>
                <a:srgbClr val="D9D9D9"/>
              </a:solidFill>
              <a:prstDash val="sysDot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0"/>
              <a:ext cx="2395137" cy="278566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5860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3027600" y="11431442"/>
            <a:ext cx="22800184" cy="111578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5191"/>
              </a:lnSpc>
            </a:pPr>
          </a:p>
        </p:txBody>
      </p:sp>
      <p:sp>
        <p:nvSpPr>
          <p:cNvPr name="Freeform 6" id="6"/>
          <p:cNvSpPr/>
          <p:nvPr/>
        </p:nvSpPr>
        <p:spPr>
          <a:xfrm flipH="false" flipV="false" rot="0">
            <a:off x="0" y="0"/>
            <a:ext cx="30276000" cy="5506447"/>
          </a:xfrm>
          <a:custGeom>
            <a:avLst/>
            <a:gdLst/>
            <a:ahLst/>
            <a:cxnLst/>
            <a:rect r="r" b="b" t="t" l="l"/>
            <a:pathLst>
              <a:path h="5506447" w="30276000">
                <a:moveTo>
                  <a:pt x="0" y="0"/>
                </a:moveTo>
                <a:lnTo>
                  <a:pt x="30276000" y="0"/>
                </a:lnTo>
                <a:lnTo>
                  <a:pt x="30276000" y="5506447"/>
                </a:lnTo>
                <a:lnTo>
                  <a:pt x="0" y="550644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7" id="7"/>
          <p:cNvSpPr txBox="true"/>
          <p:nvPr/>
        </p:nvSpPr>
        <p:spPr>
          <a:xfrm rot="0">
            <a:off x="1744275" y="6325409"/>
            <a:ext cx="27886654" cy="12185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680"/>
              </a:lnSpc>
              <a:defRPr sz="8500" b="1">
                <a:solidFill>
                  <a:srgbClr val="18437A"/>
                </a:solidFill>
                <a:latin typeface="Arial"/>
              </a:defRPr>
            </a:pPr>
            <a:r>
              <a:t>AINATOMY — PHÒNG THÍ NGHIỆM AI OFFLINE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744275" y="7779557"/>
            <a:ext cx="27886654" cy="1365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45"/>
              </a:lnSpc>
              <a:defRPr sz="3600">
                <a:solidFill>
                  <a:srgbClr val="232D3A"/>
                </a:solidFill>
                <a:latin typeface="Arial"/>
              </a:defRPr>
            </a:pPr>
            <a:r>
              <a:t>Giáo viên thực hiện: Mai Xuân Văn</a:t>
            </a:r>
            <a:br/>
            <a:r>
              <a:t>Đơn vị công tác: Trường THPT Thuận Hoá, Đại học Sư Phạm, Đại học Huế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60000" y="11520000"/>
            <a:ext cx="13517999" cy="6480000"/>
          </a:xfrm>
          <a:prstGeom prst="roundRect">
            <a:avLst/>
          </a:prstGeom>
          <a:solidFill>
            <a:srgbClr val="F5F8FC"/>
          </a:solidFill>
          <a:ln w="19050">
            <a:solidFill>
              <a:srgbClr val="CD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60000" y="11520000"/>
            <a:ext cx="13517999" cy="540000"/>
          </a:xfrm>
          <a:prstGeom prst="rect">
            <a:avLst/>
          </a:prstGeom>
          <a:solidFill>
            <a:srgbClr val="18437A"/>
          </a:solidFill>
          <a:ln>
            <a:solidFill>
              <a:srgbClr val="1843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68000" y="11592000"/>
            <a:ext cx="13301999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Arial"/>
              </a:defRPr>
            </a:pPr>
            <a:r>
              <a:t>1. BỐI CẢNH &amp; VẤN ĐỀ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40000" y="12420000"/>
            <a:ext cx="13157999" cy="5400000"/>
          </a:xfrm>
          <a:prstGeom prst="rect">
            <a:avLst/>
          </a:prstGeom>
          <a:noFill/>
        </p:spPr>
        <p:txBody>
          <a:bodyPr wrap="square" lIns="108000" rIns="108000">
            <a:spAutoFit/>
          </a:bodyPr>
          <a:lstStyle/>
          <a:p>
            <a:pPr>
              <a:lnSpc>
                <a:spcPct val="140000"/>
              </a:lnSpc>
              <a:spcAft>
                <a:spcPts val="800"/>
              </a:spcAft>
              <a:defRPr sz="2800">
                <a:solidFill>
                  <a:srgbClr val="232D3A"/>
                </a:solidFill>
                <a:latin typeface="Arial"/>
              </a:defRPr>
            </a:pPr>
            <a:r>
              <a:t>• Quyết định 2422/QĐ-BGDĐT: 12 tiết/năm cho giáo dục AI</a:t>
            </a:r>
          </a:p>
          <a:p>
            <a:pPr>
              <a:lnSpc>
                <a:spcPct val="140000"/>
              </a:lnSpc>
              <a:spcAft>
                <a:spcPts val="800"/>
              </a:spcAft>
              <a:defRPr sz="2800">
                <a:solidFill>
                  <a:srgbClr val="232D3A"/>
                </a:solidFill>
                <a:latin typeface="Arial"/>
              </a:defRPr>
            </a:pPr>
            <a:r>
              <a:t>• Phòng máy yếu, internet không ổn định</a:t>
            </a:r>
          </a:p>
          <a:p>
            <a:pPr>
              <a:lnSpc>
                <a:spcPct val="140000"/>
              </a:lnSpc>
              <a:spcAft>
                <a:spcPts val="800"/>
              </a:spcAft>
              <a:defRPr sz="2800">
                <a:solidFill>
                  <a:srgbClr val="232D3A"/>
                </a:solidFill>
                <a:latin typeface="Arial"/>
              </a:defRPr>
            </a:pPr>
            <a:r>
              <a:t>• Học sinh dùng AI nhưng thiếu kỹ năng kiểm chứng</a:t>
            </a:r>
          </a:p>
          <a:p>
            <a:pPr>
              <a:lnSpc>
                <a:spcPct val="140000"/>
              </a:lnSpc>
              <a:spcAft>
                <a:spcPts val="800"/>
              </a:spcAft>
              <a:defRPr sz="2800">
                <a:solidFill>
                  <a:srgbClr val="232D3A"/>
                </a:solidFill>
                <a:latin typeface="Arial"/>
              </a:defRPr>
            </a:pPr>
            <a:r>
              <a:t>• Đối tượng: học sinh THPT và giáo viên Tin học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60000" y="18720000"/>
            <a:ext cx="13517999" cy="7920000"/>
          </a:xfrm>
          <a:prstGeom prst="roundRect">
            <a:avLst/>
          </a:prstGeom>
          <a:solidFill>
            <a:srgbClr val="F5F8FC"/>
          </a:solidFill>
          <a:ln w="19050">
            <a:solidFill>
              <a:srgbClr val="CD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60000" y="18720000"/>
            <a:ext cx="13517999" cy="540000"/>
          </a:xfrm>
          <a:prstGeom prst="rect">
            <a:avLst/>
          </a:prstGeom>
          <a:solidFill>
            <a:srgbClr val="1C92BE"/>
          </a:solidFill>
          <a:ln>
            <a:solidFill>
              <a:srgbClr val="1C92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68000" y="18792000"/>
            <a:ext cx="13301999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Arial"/>
              </a:defRPr>
            </a:pPr>
            <a:r>
              <a:t>2. GIẢI PHÁP &amp; CÔNG CỤ 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0000" y="19440000"/>
            <a:ext cx="13157999" cy="1080000"/>
          </a:xfrm>
          <a:prstGeom prst="rect">
            <a:avLst/>
          </a:prstGeom>
          <a:noFill/>
        </p:spPr>
        <p:txBody>
          <a:bodyPr wrap="square" lIns="108000" rIns="108000" tIns="72000" bIns="72000">
            <a:spAutoFit/>
          </a:bodyPr>
          <a:lstStyle/>
          <a:p>
            <a:pPr algn="l">
              <a:lnSpc>
                <a:spcPct val="130000"/>
              </a:lnSpc>
              <a:defRPr sz="2800" b="1">
                <a:solidFill>
                  <a:srgbClr val="232D3A"/>
                </a:solidFill>
                <a:latin typeface="Arial"/>
              </a:defRPr>
            </a:pPr>
            <a:r>
              <a:t>AInatomy là phòng thí nghiệm AI offline giúp học sinh: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40000" y="20700000"/>
            <a:ext cx="13157999" cy="3600000"/>
          </a:xfrm>
          <a:prstGeom prst="rect">
            <a:avLst/>
          </a:prstGeom>
          <a:noFill/>
        </p:spPr>
        <p:txBody>
          <a:bodyPr wrap="square" lIns="108000" rIns="108000">
            <a:spAutoFit/>
          </a:bodyPr>
          <a:lstStyle/>
          <a:p>
            <a:pPr>
              <a:lnSpc>
                <a:spcPct val="140000"/>
              </a:lnSpc>
              <a:spcAft>
                <a:spcPts val="800"/>
              </a:spcAft>
              <a:defRPr sz="2600">
                <a:solidFill>
                  <a:srgbClr val="232D3A"/>
                </a:solidFill>
                <a:latin typeface="Arial"/>
              </a:defRPr>
            </a:pPr>
            <a:r>
              <a:t>• Quan sát quy trình AI từ đầu đến cuối</a:t>
            </a:r>
          </a:p>
          <a:p>
            <a:pPr>
              <a:lnSpc>
                <a:spcPct val="140000"/>
              </a:lnSpc>
              <a:spcAft>
                <a:spcPts val="800"/>
              </a:spcAft>
              <a:defRPr sz="2600">
                <a:solidFill>
                  <a:srgbClr val="232D3A"/>
                </a:solidFill>
                <a:latin typeface="Arial"/>
              </a:defRPr>
            </a:pPr>
            <a:r>
              <a:t>• Dự đoán, kiểm tra và bắt lỗi đầu ra AI</a:t>
            </a:r>
          </a:p>
          <a:p>
            <a:pPr>
              <a:lnSpc>
                <a:spcPct val="140000"/>
              </a:lnSpc>
              <a:spcAft>
                <a:spcPts val="800"/>
              </a:spcAft>
              <a:defRPr sz="2600">
                <a:solidFill>
                  <a:srgbClr val="232D3A"/>
                </a:solidFill>
                <a:latin typeface="Arial"/>
              </a:defRPr>
            </a:pPr>
            <a:r>
              <a:t>• Học trên máy cấu hình thấp, không cần tài khoản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40000" y="24480000"/>
            <a:ext cx="13157999" cy="1080000"/>
          </a:xfrm>
          <a:prstGeom prst="rect">
            <a:avLst/>
          </a:prstGeom>
          <a:noFill/>
        </p:spPr>
        <p:txBody>
          <a:bodyPr wrap="square" lIns="108000" rIns="108000" tIns="72000" bIns="72000">
            <a:spAutoFit/>
          </a:bodyPr>
          <a:lstStyle/>
          <a:p>
            <a:pPr algn="l">
              <a:lnSpc>
                <a:spcPct val="130000"/>
              </a:lnSpc>
              <a:defRPr sz="2400" b="0">
                <a:solidFill>
                  <a:srgbClr val="5F6973"/>
                </a:solidFill>
                <a:latin typeface="Arial"/>
              </a:defRPr>
            </a:pPr>
            <a:r>
              <a:t>Công cụ: HTML5, CSS3, JavaScript, Three.js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260000" y="27360000"/>
            <a:ext cx="13517999" cy="7200000"/>
          </a:xfrm>
          <a:prstGeom prst="roundRect">
            <a:avLst/>
          </a:prstGeom>
          <a:solidFill>
            <a:srgbClr val="F5F8FC"/>
          </a:solidFill>
          <a:ln w="19050">
            <a:solidFill>
              <a:srgbClr val="CD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260000" y="27360000"/>
            <a:ext cx="13517999" cy="540000"/>
          </a:xfrm>
          <a:prstGeom prst="rect">
            <a:avLst/>
          </a:prstGeom>
          <a:solidFill>
            <a:srgbClr val="DBA023"/>
          </a:solidFill>
          <a:ln>
            <a:solidFill>
              <a:srgbClr val="DBA0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68000" y="27432000"/>
            <a:ext cx="13301999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Arial"/>
              </a:defRPr>
            </a:pPr>
            <a:r>
              <a:t>3. TRIỂN KHAI TRONG THỰC TẾ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40000" y="28260000"/>
            <a:ext cx="13157999" cy="6120000"/>
          </a:xfrm>
          <a:prstGeom prst="rect">
            <a:avLst/>
          </a:prstGeom>
          <a:noFill/>
        </p:spPr>
        <p:txBody>
          <a:bodyPr wrap="square" lIns="108000" rIns="108000">
            <a:spAutoFit/>
          </a:bodyPr>
          <a:lstStyle/>
          <a:p>
            <a:pPr>
              <a:lnSpc>
                <a:spcPct val="140000"/>
              </a:lnSpc>
              <a:spcAft>
                <a:spcPts val="800"/>
              </a:spcAft>
              <a:defRPr sz="2600">
                <a:solidFill>
                  <a:srgbClr val="232D3A"/>
                </a:solidFill>
                <a:latin typeface="Arial"/>
              </a:defRPr>
            </a:pPr>
            <a:r>
              <a:t>• Giai đoạn 1 — Thiết kế: phân tích CT GDPT 2018, xây dựng prototype</a:t>
            </a:r>
          </a:p>
          <a:p>
            <a:pPr>
              <a:lnSpc>
                <a:spcPct val="140000"/>
              </a:lnSpc>
              <a:spcAft>
                <a:spcPts val="800"/>
              </a:spcAft>
              <a:defRPr sz="2600">
                <a:solidFill>
                  <a:srgbClr val="232D3A"/>
                </a:solidFill>
                <a:latin typeface="Arial"/>
              </a:defRPr>
            </a:pPr>
            <a:r>
              <a:t>• Giai đoạn 2 — Phát triển: 28 bài học theo 22 YCCĐ, mô phỏng 3D, chấm điểm tự động</a:t>
            </a:r>
          </a:p>
          <a:p>
            <a:pPr>
              <a:lnSpc>
                <a:spcPct val="140000"/>
              </a:lnSpc>
              <a:spcAft>
                <a:spcPts val="800"/>
              </a:spcAft>
              <a:defRPr sz="2600">
                <a:solidFill>
                  <a:srgbClr val="232D3A"/>
                </a:solidFill>
                <a:latin typeface="Arial"/>
              </a:defRPr>
            </a:pPr>
            <a:r>
              <a:t>• Giai đoạn 3 — Đánh giá: triển khai tại THPT Thuận Hoá, thu thập dữ liệu tương tác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5497999" y="11520000"/>
            <a:ext cx="13517999" cy="5760000"/>
          </a:xfrm>
          <a:prstGeom prst="roundRect">
            <a:avLst/>
          </a:prstGeom>
          <a:solidFill>
            <a:srgbClr val="F5F8FC"/>
          </a:solidFill>
          <a:ln w="19050">
            <a:solidFill>
              <a:srgbClr val="CD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5497999" y="11520000"/>
            <a:ext cx="13517999" cy="540000"/>
          </a:xfrm>
          <a:prstGeom prst="rect">
            <a:avLst/>
          </a:prstGeom>
          <a:solidFill>
            <a:srgbClr val="258B5D"/>
          </a:solidFill>
          <a:ln>
            <a:solidFill>
              <a:srgbClr val="258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5605999" y="11592000"/>
            <a:ext cx="13301999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Arial"/>
              </a:defRPr>
            </a:pPr>
            <a:r>
              <a:t>4. MINH CHỨNG SẢN PHẨM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5677999" y="12420000"/>
            <a:ext cx="4326000" cy="432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D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1-trang-ch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77999" y="13059140"/>
            <a:ext cx="4326000" cy="3041718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20111999" y="12420000"/>
            <a:ext cx="4326000" cy="432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D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3-tram0-nhap-lie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1999" y="13059140"/>
            <a:ext cx="4326000" cy="3041718"/>
          </a:xfrm>
          <a:prstGeom prst="rect">
            <a:avLst/>
          </a:prstGeom>
        </p:spPr>
      </p:pic>
      <p:sp>
        <p:nvSpPr>
          <p:cNvPr id="30" name="Rounded Rectangle 29"/>
          <p:cNvSpPr/>
          <p:nvPr/>
        </p:nvSpPr>
        <p:spPr>
          <a:xfrm>
            <a:off x="24546000" y="12420000"/>
            <a:ext cx="4326000" cy="432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D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4-tram5-ung-du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546000" y="13059140"/>
            <a:ext cx="4326000" cy="3041718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15497999" y="18000000"/>
            <a:ext cx="13517999" cy="7920000"/>
          </a:xfrm>
          <a:prstGeom prst="roundRect">
            <a:avLst/>
          </a:prstGeom>
          <a:solidFill>
            <a:srgbClr val="F5F8FC"/>
          </a:solidFill>
          <a:ln w="19050">
            <a:solidFill>
              <a:srgbClr val="CD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5497999" y="18000000"/>
            <a:ext cx="13517999" cy="540000"/>
          </a:xfrm>
          <a:prstGeom prst="rect">
            <a:avLst/>
          </a:prstGeom>
          <a:solidFill>
            <a:srgbClr val="258B5D"/>
          </a:solidFill>
          <a:ln>
            <a:solidFill>
              <a:srgbClr val="258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5605999" y="18072000"/>
            <a:ext cx="13301999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Arial"/>
              </a:defRPr>
            </a:pPr>
            <a:r>
              <a:t>5. KẾT QUẢ &amp; TÁC ĐỘNG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5677999" y="18900000"/>
            <a:ext cx="6488999" cy="288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8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5677999" y="19080000"/>
            <a:ext cx="6488999" cy="900000"/>
          </a:xfrm>
          <a:prstGeom prst="rect">
            <a:avLst/>
          </a:prstGeom>
          <a:noFill/>
        </p:spPr>
        <p:txBody>
          <a:bodyPr wrap="square" lIns="108000" rIns="108000" tIns="72000" bIns="72000">
            <a:spAutoFit/>
          </a:bodyPr>
          <a:lstStyle/>
          <a:p>
            <a:pPr algn="ctr">
              <a:lnSpc>
                <a:spcPct val="130000"/>
              </a:lnSpc>
              <a:defRPr sz="7200" b="1">
                <a:solidFill>
                  <a:srgbClr val="258B5D"/>
                </a:solidFill>
                <a:latin typeface="Arial"/>
              </a:defRPr>
            </a:pPr>
            <a:r>
              <a:t>28/28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677999" y="20052000"/>
            <a:ext cx="6488999" cy="540000"/>
          </a:xfrm>
          <a:prstGeom prst="rect">
            <a:avLst/>
          </a:prstGeom>
          <a:noFill/>
        </p:spPr>
        <p:txBody>
          <a:bodyPr wrap="square" lIns="108000" rIns="108000" tIns="72000" bIns="72000">
            <a:spAutoFit/>
          </a:bodyPr>
          <a:lstStyle/>
          <a:p>
            <a:pPr algn="ctr">
              <a:lnSpc>
                <a:spcPct val="130000"/>
              </a:lnSpc>
              <a:defRPr sz="2400" b="1">
                <a:solidFill>
                  <a:srgbClr val="232D3A"/>
                </a:solidFill>
                <a:latin typeface="Arial"/>
              </a:defRPr>
            </a:pPr>
            <a:r>
              <a:t>YCCĐ Tin học 10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2347000" y="18900000"/>
            <a:ext cx="6488999" cy="288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8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2347000" y="19080000"/>
            <a:ext cx="6488999" cy="900000"/>
          </a:xfrm>
          <a:prstGeom prst="rect">
            <a:avLst/>
          </a:prstGeom>
          <a:noFill/>
        </p:spPr>
        <p:txBody>
          <a:bodyPr wrap="square" lIns="108000" rIns="108000" tIns="72000" bIns="72000">
            <a:spAutoFit/>
          </a:bodyPr>
          <a:lstStyle/>
          <a:p>
            <a:pPr algn="ctr">
              <a:lnSpc>
                <a:spcPct val="130000"/>
              </a:lnSpc>
              <a:defRPr sz="7200" b="1">
                <a:solidFill>
                  <a:srgbClr val="258B5D"/>
                </a:solidFill>
                <a:latin typeface="Arial"/>
              </a:defRPr>
            </a:pPr>
            <a:r>
              <a:t>97/97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2347000" y="20052000"/>
            <a:ext cx="6488999" cy="540000"/>
          </a:xfrm>
          <a:prstGeom prst="rect">
            <a:avLst/>
          </a:prstGeom>
          <a:noFill/>
        </p:spPr>
        <p:txBody>
          <a:bodyPr wrap="square" lIns="108000" rIns="108000" tIns="72000" bIns="72000">
            <a:spAutoFit/>
          </a:bodyPr>
          <a:lstStyle/>
          <a:p>
            <a:pPr algn="ctr">
              <a:lnSpc>
                <a:spcPct val="130000"/>
              </a:lnSpc>
              <a:defRPr sz="2400" b="1">
                <a:solidFill>
                  <a:srgbClr val="232D3A"/>
                </a:solidFill>
                <a:latin typeface="Arial"/>
              </a:defRPr>
            </a:pPr>
            <a:r>
              <a:t>Kiểm thử đạt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5677999" y="21960000"/>
            <a:ext cx="6488999" cy="288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C92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5677999" y="22140000"/>
            <a:ext cx="6488999" cy="900000"/>
          </a:xfrm>
          <a:prstGeom prst="rect">
            <a:avLst/>
          </a:prstGeom>
          <a:noFill/>
        </p:spPr>
        <p:txBody>
          <a:bodyPr wrap="square" lIns="108000" rIns="108000" tIns="72000" bIns="72000">
            <a:spAutoFit/>
          </a:bodyPr>
          <a:lstStyle/>
          <a:p>
            <a:pPr algn="ctr">
              <a:lnSpc>
                <a:spcPct val="130000"/>
              </a:lnSpc>
              <a:defRPr sz="7200" b="1">
                <a:solidFill>
                  <a:srgbClr val="1C92BE"/>
                </a:solidFill>
                <a:latin typeface="Arial"/>
              </a:defRPr>
            </a:pPr>
            <a:r>
              <a:t>100%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677999" y="23112000"/>
            <a:ext cx="6488999" cy="540000"/>
          </a:xfrm>
          <a:prstGeom prst="rect">
            <a:avLst/>
          </a:prstGeom>
          <a:noFill/>
        </p:spPr>
        <p:txBody>
          <a:bodyPr wrap="square" lIns="108000" rIns="108000" tIns="72000" bIns="72000">
            <a:spAutoFit/>
          </a:bodyPr>
          <a:lstStyle/>
          <a:p>
            <a:pPr algn="ctr">
              <a:lnSpc>
                <a:spcPct val="130000"/>
              </a:lnSpc>
              <a:defRPr sz="2400" b="1">
                <a:solidFill>
                  <a:srgbClr val="232D3A"/>
                </a:solidFill>
                <a:latin typeface="Arial"/>
              </a:defRPr>
            </a:pPr>
            <a:r>
              <a:t>Offline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2347000" y="21960000"/>
            <a:ext cx="6488999" cy="288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C92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2347000" y="22140000"/>
            <a:ext cx="6488999" cy="900000"/>
          </a:xfrm>
          <a:prstGeom prst="rect">
            <a:avLst/>
          </a:prstGeom>
          <a:noFill/>
        </p:spPr>
        <p:txBody>
          <a:bodyPr wrap="square" lIns="108000" rIns="108000" tIns="72000" bIns="72000">
            <a:spAutoFit/>
          </a:bodyPr>
          <a:lstStyle/>
          <a:p>
            <a:pPr algn="ctr">
              <a:lnSpc>
                <a:spcPct val="130000"/>
              </a:lnSpc>
              <a:defRPr sz="7200" b="1">
                <a:solidFill>
                  <a:srgbClr val="1C92BE"/>
                </a:solidFill>
                <a:latin typeface="Arial"/>
              </a:defRPr>
            </a:pPr>
            <a:r>
              <a:t>3D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2347000" y="23112000"/>
            <a:ext cx="6488999" cy="540000"/>
          </a:xfrm>
          <a:prstGeom prst="rect">
            <a:avLst/>
          </a:prstGeom>
          <a:noFill/>
        </p:spPr>
        <p:txBody>
          <a:bodyPr wrap="square" lIns="108000" rIns="108000" tIns="72000" bIns="72000">
            <a:spAutoFit/>
          </a:bodyPr>
          <a:lstStyle/>
          <a:p>
            <a:pPr algn="ctr">
              <a:lnSpc>
                <a:spcPct val="130000"/>
              </a:lnSpc>
              <a:defRPr sz="2400" b="1">
                <a:solidFill>
                  <a:srgbClr val="232D3A"/>
                </a:solidFill>
                <a:latin typeface="Arial"/>
              </a:defRPr>
            </a:pPr>
            <a:r>
              <a:t>Mô phỏng AI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5497999" y="26640000"/>
            <a:ext cx="13517999" cy="5760000"/>
          </a:xfrm>
          <a:prstGeom prst="roundRect">
            <a:avLst/>
          </a:prstGeom>
          <a:solidFill>
            <a:srgbClr val="F5F8FC"/>
          </a:solidFill>
          <a:ln w="19050">
            <a:solidFill>
              <a:srgbClr val="CD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5497999" y="26640000"/>
            <a:ext cx="13517999" cy="540000"/>
          </a:xfrm>
          <a:prstGeom prst="rect">
            <a:avLst/>
          </a:prstGeom>
          <a:solidFill>
            <a:srgbClr val="18437A"/>
          </a:solidFill>
          <a:ln>
            <a:solidFill>
              <a:srgbClr val="1843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5605999" y="26712000"/>
            <a:ext cx="13301999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Arial"/>
              </a:defRPr>
            </a:pPr>
            <a:r>
              <a:t>6. BỀN VỮNG &amp; KHẢ NĂNG MỞ RỘNG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5677999" y="27540000"/>
            <a:ext cx="13157999" cy="4680000"/>
          </a:xfrm>
          <a:prstGeom prst="rect">
            <a:avLst/>
          </a:prstGeom>
          <a:noFill/>
        </p:spPr>
        <p:txBody>
          <a:bodyPr wrap="square" lIns="108000" rIns="108000">
            <a:spAutoFit/>
          </a:bodyPr>
          <a:lstStyle/>
          <a:p>
            <a:pPr>
              <a:lnSpc>
                <a:spcPct val="140000"/>
              </a:lnSpc>
              <a:spcAft>
                <a:spcPts val="800"/>
              </a:spcAft>
              <a:defRPr sz="2600">
                <a:solidFill>
                  <a:srgbClr val="232D3A"/>
                </a:solidFill>
                <a:latin typeface="Arial"/>
              </a:defRPr>
            </a:pPr>
            <a:r>
              <a:t>• Chạy offline, không phụ thuộc internet hay cloud</a:t>
            </a:r>
          </a:p>
          <a:p>
            <a:pPr>
              <a:lnSpc>
                <a:spcPct val="140000"/>
              </a:lnSpc>
              <a:spcAft>
                <a:spcPts val="800"/>
              </a:spcAft>
              <a:defRPr sz="2600">
                <a:solidFill>
                  <a:srgbClr val="232D3A"/>
                </a:solidFill>
                <a:latin typeface="Arial"/>
              </a:defRPr>
            </a:pPr>
            <a:r>
              <a:t>• Mã nguồn mở, dễ bảo trì và cập nhật</a:t>
            </a:r>
          </a:p>
          <a:p>
            <a:pPr>
              <a:lnSpc>
                <a:spcPct val="140000"/>
              </a:lnSpc>
              <a:spcAft>
                <a:spcPts val="800"/>
              </a:spcAft>
              <a:defRPr sz="2600">
                <a:solidFill>
                  <a:srgbClr val="232D3A"/>
                </a:solidFill>
                <a:latin typeface="Arial"/>
              </a:defRPr>
            </a:pPr>
            <a:r>
              <a:t>• Mọi trường THPT có thể triển khai</a:t>
            </a:r>
          </a:p>
          <a:p>
            <a:pPr>
              <a:lnSpc>
                <a:spcPct val="140000"/>
              </a:lnSpc>
              <a:spcAft>
                <a:spcPts val="800"/>
              </a:spcAft>
              <a:defRPr sz="2600">
                <a:solidFill>
                  <a:srgbClr val="232D3A"/>
                </a:solidFill>
                <a:latin typeface="Arial"/>
              </a:defRPr>
            </a:pPr>
            <a:r>
              <a:t>• Có thể mở rộng sang khối 11, 12 và các chủ đề AI nâng cao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5677999" y="32760000"/>
            <a:ext cx="2160000" cy="216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D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qr_ainatom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677999" y="32760000"/>
            <a:ext cx="2160000" cy="216000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8018000" y="33120000"/>
            <a:ext cx="10637999" cy="1440000"/>
          </a:xfrm>
          <a:prstGeom prst="rect">
            <a:avLst/>
          </a:prstGeom>
          <a:noFill/>
        </p:spPr>
        <p:txBody>
          <a:bodyPr wrap="square" lIns="108000" rIns="108000" tIns="72000" bIns="72000">
            <a:spAutoFit/>
          </a:bodyPr>
          <a:lstStyle/>
          <a:p>
            <a:pPr algn="l">
              <a:lnSpc>
                <a:spcPct val="130000"/>
              </a:lnSpc>
              <a:defRPr sz="3200" b="1">
                <a:solidFill>
                  <a:srgbClr val="18437A"/>
                </a:solidFill>
                <a:latin typeface="Arial"/>
              </a:defRPr>
            </a:pPr>
            <a:r>
              <a:t>Trải nghiệm AInatomy</a:t>
            </a:r>
            <a:br/>
            <a:r>
              <a:t>mxuanvan02.github.io/ainatomy/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DAHW1Dh9jN8</dc:identifier>
  <dcterms:modified xsi:type="dcterms:W3CDTF">2011-08-01T06:04:30Z</dcterms:modified>
  <cp:revision>1</cp:revision>
  <dc:title>Mẫu Poster - Giải thưởng Tiên Phong Ứng dụng AI trong giáo dục Việt Nam 2026</dc:title>
</cp:coreProperties>
</file>