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0276800" cy="42799000"/>
  <p:notesSz cx="6858000" cy="9144000"/>
  <p:embeddedFontLst>
    <p:embeddedFont>
      <p:font typeface="Aptos Bold" charset="1" panose="020B0004020202020204"/>
      <p:regular r:id="rId7"/>
    </p:embeddedFont>
    <p:embeddedFont>
      <p:font typeface="Aptos" charset="1" panose="020B00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2090" y="10112792"/>
            <a:ext cx="26764953" cy="31129009"/>
            <a:chOff x="0" y="0"/>
            <a:chExt cx="2395137" cy="2785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5137" cy="2785667"/>
            </a:xfrm>
            <a:custGeom>
              <a:avLst/>
              <a:gdLst/>
              <a:ahLst/>
              <a:cxnLst/>
              <a:rect r="r" b="b" t="t" l="l"/>
              <a:pathLst>
                <a:path h="2785667" w="2395137">
                  <a:moveTo>
                    <a:pt x="0" y="0"/>
                  </a:moveTo>
                  <a:lnTo>
                    <a:pt x="2395137" y="0"/>
                  </a:lnTo>
                  <a:lnTo>
                    <a:pt x="2395137" y="2785667"/>
                  </a:lnTo>
                  <a:lnTo>
                    <a:pt x="0" y="2785667"/>
                  </a:lnTo>
                  <a:close/>
                </a:path>
              </a:pathLst>
            </a:custGeom>
            <a:ln w="95250" cap="sq">
              <a:solidFill>
                <a:srgbClr val="D9D9D9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95137" cy="2785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27600" y="11431442"/>
            <a:ext cx="22800184" cy="1115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30276000" cy="5506447"/>
          </a:xfrm>
          <a:custGeom>
            <a:avLst/>
            <a:gdLst/>
            <a:ahLst/>
            <a:cxnLst/>
            <a:rect r="r" b="b" t="t" l="l"/>
            <a:pathLst>
              <a:path h="5506447" w="30276000">
                <a:moveTo>
                  <a:pt x="0" y="0"/>
                </a:moveTo>
                <a:lnTo>
                  <a:pt x="30276000" y="0"/>
                </a:lnTo>
                <a:lnTo>
                  <a:pt x="30276000" y="5506447"/>
                </a:lnTo>
                <a:lnTo>
                  <a:pt x="0" y="550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744275" y="6325409"/>
            <a:ext cx="27886654" cy="121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0"/>
              </a:lnSpc>
              <a:defRPr sz="8500" b="1">
                <a:solidFill>
                  <a:srgbClr val="18437A"/>
                </a:solidFill>
                <a:latin typeface="Arial"/>
              </a:defRPr>
            </a:pPr>
            <a:r>
              <a:t>AINATOMY — PHÒNG THÍ NGHIỆM AI OFFLINE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4275" y="7779557"/>
            <a:ext cx="27886654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5"/>
              </a:lnSpc>
              <a:defRPr sz="3600">
                <a:solidFill>
                  <a:srgbClr val="232D3A"/>
                </a:solidFill>
                <a:latin typeface="Arial"/>
              </a:defRPr>
            </a:pPr>
            <a:r>
              <a:t>Giáo viên thực hiện: Mai Xuân Văn</a:t>
            </a:r>
            <a:br/>
            <a:r>
              <a:t>Đơn vị công tác: Trường THPT Thuận Hoá, Đại học Sư Phạm, Đại học Huế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0000" y="11520000"/>
            <a:ext cx="13517999" cy="648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0000" y="11520000"/>
            <a:ext cx="13517999" cy="540000"/>
          </a:xfrm>
          <a:prstGeom prst="rect">
            <a:avLst/>
          </a:prstGeom>
          <a:solidFill>
            <a:srgbClr val="18437A"/>
          </a:solidFill>
          <a:ln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8000" y="11592000"/>
            <a:ext cx="1330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1. BỐI CẢNH &amp;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12420000"/>
            <a:ext cx="13157999" cy="5400000"/>
          </a:xfrm>
          <a:prstGeom prst="rect">
            <a:avLst/>
          </a:prstGeom>
          <a:noFill/>
        </p:spPr>
        <p:txBody>
          <a:bodyPr wrap="square" lIns="108000" rIns="10800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3200">
                <a:solidFill>
                  <a:srgbClr val="232D3A"/>
                </a:solidFill>
                <a:latin typeface="Arial"/>
              </a:defRPr>
            </a:pPr>
            <a:r>
              <a:t>• Quyết định 2422/QĐ-BGDĐT: 12 tiết/năm cho giáo dục AI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200">
                <a:solidFill>
                  <a:srgbClr val="232D3A"/>
                </a:solidFill>
                <a:latin typeface="Arial"/>
              </a:defRPr>
            </a:pPr>
            <a:r>
              <a:t>• Phòng máy yếu, internet không ổn định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200">
                <a:solidFill>
                  <a:srgbClr val="232D3A"/>
                </a:solidFill>
                <a:latin typeface="Arial"/>
              </a:defRPr>
            </a:pPr>
            <a:r>
              <a:t>• Học sinh dùng AI nhưng thiếu kỹ năng kiểm chứng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200">
                <a:solidFill>
                  <a:srgbClr val="232D3A"/>
                </a:solidFill>
                <a:latin typeface="Arial"/>
              </a:defRPr>
            </a:pPr>
            <a:r>
              <a:t>• Đối tượng: học sinh THPT và giáo viên Tin học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0000" y="18720000"/>
            <a:ext cx="13517999" cy="792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60000" y="18720000"/>
            <a:ext cx="13517999" cy="540000"/>
          </a:xfrm>
          <a:prstGeom prst="rect">
            <a:avLst/>
          </a:prstGeom>
          <a:solidFill>
            <a:srgbClr val="1C92BE"/>
          </a:solidFill>
          <a:ln>
            <a:solidFill>
              <a:srgbClr val="1C9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8000" y="18792000"/>
            <a:ext cx="1330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2. GIẢI PHÁP &amp; CÔNG CỤ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19440000"/>
            <a:ext cx="13157999" cy="108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l">
              <a:lnSpc>
                <a:spcPct val="130000"/>
              </a:lnSpc>
              <a:defRPr sz="3200" b="1">
                <a:solidFill>
                  <a:srgbClr val="232D3A"/>
                </a:solidFill>
                <a:latin typeface="Arial"/>
              </a:defRPr>
            </a:pPr>
            <a:r>
              <a:t>AInatomy là phòng thí nghiệm AI offline giúp học sinh: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0700000"/>
            <a:ext cx="13157999" cy="3600000"/>
          </a:xfrm>
          <a:prstGeom prst="rect">
            <a:avLst/>
          </a:prstGeom>
          <a:noFill/>
        </p:spPr>
        <p:txBody>
          <a:bodyPr wrap="square" lIns="108000" rIns="10800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Quan sát quy trình AI từ đầu đến cuối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Dự đoán, kiểm tra và bắt lỗi đầu ra AI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Học trên máy cấu hình thấp, không cần tài khoản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24480000"/>
            <a:ext cx="13157999" cy="108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l">
              <a:lnSpc>
                <a:spcPct val="130000"/>
              </a:lnSpc>
              <a:defRPr sz="2800" b="0">
                <a:solidFill>
                  <a:srgbClr val="5F6973"/>
                </a:solidFill>
                <a:latin typeface="Arial"/>
              </a:defRPr>
            </a:pPr>
            <a:r>
              <a:t>Công cụ: HTML5, CSS3, JavaScript, Three.js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0000" y="27360000"/>
            <a:ext cx="13517999" cy="720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0000" y="27360000"/>
            <a:ext cx="13517999" cy="540000"/>
          </a:xfrm>
          <a:prstGeom prst="rect">
            <a:avLst/>
          </a:prstGeom>
          <a:solidFill>
            <a:srgbClr val="18437A"/>
          </a:solidFill>
          <a:ln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68000" y="27432000"/>
            <a:ext cx="1330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3. TRIỂN KHAI TRONG THỰC TẾ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0000" y="28260000"/>
            <a:ext cx="13157999" cy="6120000"/>
          </a:xfrm>
          <a:prstGeom prst="rect">
            <a:avLst/>
          </a:prstGeom>
          <a:noFill/>
        </p:spPr>
        <p:txBody>
          <a:bodyPr wrap="square" lIns="108000" rIns="10800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Giai đoạn 1 — Thiết kế: phân tích CT GDPT 2018, xây dựng prototype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Giai đoạn 2 — Phát triển: 28 bài học theo 22 YCCĐ, mô phỏng 3D, chấm điểm tự động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Giai đoạn 3 — Đánh giá: triển khai tại THPT Thuận Hoá, thu thập dữ liệu tương tác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97999" y="11520000"/>
            <a:ext cx="13517999" cy="576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497999" y="11520000"/>
            <a:ext cx="13517999" cy="540000"/>
          </a:xfrm>
          <a:prstGeom prst="rect">
            <a:avLst/>
          </a:prstGeom>
          <a:solidFill>
            <a:srgbClr val="258B5D"/>
          </a:solidFill>
          <a:ln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605999" y="11592000"/>
            <a:ext cx="1330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4. MINH CHỨNG SẢN PHẨM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677999" y="12420000"/>
            <a:ext cx="4326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-trang-c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7999" y="13059140"/>
            <a:ext cx="4326000" cy="304171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0111999" y="12420000"/>
            <a:ext cx="4326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3-tram0-nhap-lie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1999" y="13059140"/>
            <a:ext cx="4326000" cy="304171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4546000" y="12420000"/>
            <a:ext cx="4326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4-tram5-ung-du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6000" y="13059140"/>
            <a:ext cx="4326000" cy="304171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5497999" y="18000000"/>
            <a:ext cx="13517999" cy="792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497999" y="18000000"/>
            <a:ext cx="13517999" cy="540000"/>
          </a:xfrm>
          <a:prstGeom prst="rect">
            <a:avLst/>
          </a:prstGeom>
          <a:solidFill>
            <a:srgbClr val="258B5D"/>
          </a:solidFill>
          <a:ln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605999" y="18072000"/>
            <a:ext cx="1330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5. KẾT QUẢ &amp; TÁC ĐỘNG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677999" y="18900000"/>
            <a:ext cx="6488999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677999" y="19080000"/>
            <a:ext cx="6488999" cy="108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8500" b="1">
                <a:solidFill>
                  <a:srgbClr val="258B5D"/>
                </a:solidFill>
                <a:latin typeface="Arial"/>
              </a:defRPr>
            </a:pPr>
            <a:r>
              <a:t>28/28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77999" y="20268000"/>
            <a:ext cx="6488999" cy="54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232D3A"/>
                </a:solidFill>
                <a:latin typeface="Arial"/>
              </a:defRPr>
            </a:pPr>
            <a:r>
              <a:t>YCCĐ Tin học 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347000" y="18900000"/>
            <a:ext cx="6488999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8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347000" y="19080000"/>
            <a:ext cx="6488999" cy="108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8500" b="1">
                <a:solidFill>
                  <a:srgbClr val="258B5D"/>
                </a:solidFill>
                <a:latin typeface="Arial"/>
              </a:defRPr>
            </a:pPr>
            <a:r>
              <a:t>97/97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47000" y="20268000"/>
            <a:ext cx="6488999" cy="54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232D3A"/>
                </a:solidFill>
                <a:latin typeface="Arial"/>
              </a:defRPr>
            </a:pPr>
            <a:r>
              <a:t>Kiểm thử đạt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677999" y="22320000"/>
            <a:ext cx="6488999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677999" y="22500000"/>
            <a:ext cx="6488999" cy="108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8500" b="1">
                <a:solidFill>
                  <a:srgbClr val="18437A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677999" y="23688000"/>
            <a:ext cx="6488999" cy="54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232D3A"/>
                </a:solidFill>
                <a:latin typeface="Arial"/>
              </a:defRPr>
            </a:pPr>
            <a:r>
              <a:t>Offline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347000" y="22320000"/>
            <a:ext cx="6488999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347000" y="22500000"/>
            <a:ext cx="6488999" cy="108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8500" b="1">
                <a:solidFill>
                  <a:srgbClr val="18437A"/>
                </a:solidFill>
                <a:latin typeface="Arial"/>
              </a:defRPr>
            </a:pPr>
            <a:r>
              <a:t>3D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47000" y="23688000"/>
            <a:ext cx="6488999" cy="54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232D3A"/>
                </a:solidFill>
                <a:latin typeface="Arial"/>
              </a:defRPr>
            </a:pPr>
            <a:r>
              <a:t>Mô phỏng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97999" y="26640000"/>
            <a:ext cx="13517999" cy="5760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497999" y="26640000"/>
            <a:ext cx="13517999" cy="540000"/>
          </a:xfrm>
          <a:prstGeom prst="rect">
            <a:avLst/>
          </a:prstGeom>
          <a:solidFill>
            <a:srgbClr val="18437A"/>
          </a:solidFill>
          <a:ln>
            <a:solidFill>
              <a:srgbClr val="18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605999" y="26712000"/>
            <a:ext cx="1330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6. BỀN VỮNG &amp; KHẢ NĂNG MỞ RỘNG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77999" y="27540000"/>
            <a:ext cx="13157999" cy="4680000"/>
          </a:xfrm>
          <a:prstGeom prst="rect">
            <a:avLst/>
          </a:prstGeom>
          <a:noFill/>
        </p:spPr>
        <p:txBody>
          <a:bodyPr wrap="square" lIns="108000" rIns="108000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Chạy offline, không phụ thuộc internet hay cloud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Mã nguồn mở, dễ bảo trì và cập nhật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Mọi trường THPT có thể triển khai</a:t>
            </a:r>
          </a:p>
          <a:p>
            <a:pPr>
              <a:lnSpc>
                <a:spcPct val="140000"/>
              </a:lnSpc>
              <a:spcAft>
                <a:spcPts val="800"/>
              </a:spcAft>
              <a:defRPr sz="3000">
                <a:solidFill>
                  <a:srgbClr val="232D3A"/>
                </a:solidFill>
                <a:latin typeface="Arial"/>
              </a:defRPr>
            </a:pPr>
            <a:r>
              <a:t>• Có thể mở rộng sang khối 11, 12 và các chủ đề AI nâng cao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677999" y="32760000"/>
            <a:ext cx="2160000" cy="21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qr_ainato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7999" y="32760000"/>
            <a:ext cx="2160000" cy="2160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8018000" y="33120000"/>
            <a:ext cx="10637999" cy="1440000"/>
          </a:xfrm>
          <a:prstGeom prst="rect">
            <a:avLst/>
          </a:prstGeom>
          <a:noFill/>
        </p:spPr>
        <p:txBody>
          <a:bodyPr wrap="square" lIns="108000" rIns="108000" tIns="72000" bIns="72000">
            <a:spAutoFit/>
          </a:bodyPr>
          <a:lstStyle/>
          <a:p>
            <a:pPr algn="l">
              <a:lnSpc>
                <a:spcPct val="130000"/>
              </a:lnSpc>
              <a:defRPr sz="3200" b="1">
                <a:solidFill>
                  <a:srgbClr val="18437A"/>
                </a:solidFill>
                <a:latin typeface="Arial"/>
              </a:defRPr>
            </a:pPr>
            <a:r>
              <a:t>Trải nghiệm AInatomy</a:t>
            </a:r>
            <a:br/>
            <a:r>
              <a:t>mxuanvan02.github.io/ainatomy/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DAHW1Dh9jN8</dc:identifier>
  <dcterms:modified xsi:type="dcterms:W3CDTF">2011-08-01T06:04:30Z</dcterms:modified>
  <cp:revision>1</cp:revision>
  <dc:title>Mẫu Poster - Giải thưởng Tiên Phong Ứng dụng AI trong giáo dục Việt Nam 2026</dc:title>
</cp:coreProperties>
</file>